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bc20f7e9c14dcd" /><Relationship Type="http://schemas.openxmlformats.org/officeDocument/2006/relationships/extended-properties" Target="/docProps/app.xml" Id="Rd34ae7e3893e4295" /><Relationship Type="http://schemas.openxmlformats.org/officeDocument/2006/relationships/officeDocument" Target="/ppt/presentation.xml" Id="Rabd488405c0442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dd6019c1a54a75"/>
  </p:sldMasterIdLst>
  <p:notesMasterIdLst>
    <p:notesMasterId xmlns:r="http://schemas.openxmlformats.org/officeDocument/2006/relationships" r:id="R543d348a66d747e7"/>
  </p:notesMasterIdLst>
  <p:sldIdLst>
    <p:sldId xmlns:r="http://schemas.openxmlformats.org/officeDocument/2006/relationships" id="256" r:id="R92bbc1590cd24596"/>
    <p:sldId xmlns:r="http://schemas.openxmlformats.org/officeDocument/2006/relationships" id="257" r:id="R7b488a8dc1404ad5"/>
    <p:sldId xmlns:r="http://schemas.openxmlformats.org/officeDocument/2006/relationships" id="258" r:id="R8e4404e989404418"/>
    <p:sldId xmlns:r="http://schemas.openxmlformats.org/officeDocument/2006/relationships" id="259" r:id="R0978ee147eb14735"/>
    <p:sldId xmlns:r="http://schemas.openxmlformats.org/officeDocument/2006/relationships" id="260" r:id="R3aad700798ca4a08"/>
    <p:sldId xmlns:r="http://schemas.openxmlformats.org/officeDocument/2006/relationships" id="261" r:id="R890d1b9848ec4b24"/>
    <p:sldId xmlns:r="http://schemas.openxmlformats.org/officeDocument/2006/relationships" id="262" r:id="Re12ffbd8a14d4d7c"/>
    <p:sldId xmlns:r="http://schemas.openxmlformats.org/officeDocument/2006/relationships" id="263" r:id="R163bf11d9e644a22"/>
    <p:sldId xmlns:r="http://schemas.openxmlformats.org/officeDocument/2006/relationships" id="264" r:id="R2b5ea8c7066a4501"/>
    <p:sldId xmlns:r="http://schemas.openxmlformats.org/officeDocument/2006/relationships" id="265" r:id="R935c83ebe18242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fd06314eea4ef1" /><Relationship Type="http://schemas.openxmlformats.org/officeDocument/2006/relationships/slideMaster" Target="/ppt/slideMasters/slideMaster1.xml" Id="R10dd6019c1a54a75" /><Relationship Type="http://schemas.openxmlformats.org/officeDocument/2006/relationships/notesMaster" Target="/ppt/notesMasters/notesMaster1.xml" Id="R543d348a66d747e7" /><Relationship Type="http://schemas.openxmlformats.org/officeDocument/2006/relationships/presProps" Target="/ppt/presProps.xml" Id="Rcb5e768f63ec45fc" /><Relationship Type="http://schemas.openxmlformats.org/officeDocument/2006/relationships/tableStyles" Target="/ppt/tableStyles.xml" Id="Rcc14e50d511542d8" /><Relationship Type="http://schemas.openxmlformats.org/officeDocument/2006/relationships/slide" Target="/ppt/slides/slide1.xml" Id="R92bbc1590cd24596" /><Relationship Type="http://schemas.openxmlformats.org/officeDocument/2006/relationships/slide" Target="/ppt/slides/slide2.xml" Id="R7b488a8dc1404ad5" /><Relationship Type="http://schemas.openxmlformats.org/officeDocument/2006/relationships/slide" Target="/ppt/slides/slide3.xml" Id="R8e4404e989404418" /><Relationship Type="http://schemas.openxmlformats.org/officeDocument/2006/relationships/slide" Target="/ppt/slides/slide4.xml" Id="R0978ee147eb14735" /><Relationship Type="http://schemas.openxmlformats.org/officeDocument/2006/relationships/slide" Target="/ppt/slides/slide5.xml" Id="R3aad700798ca4a08" /><Relationship Type="http://schemas.openxmlformats.org/officeDocument/2006/relationships/slide" Target="/ppt/slides/slide6.xml" Id="R890d1b9848ec4b24" /><Relationship Type="http://schemas.openxmlformats.org/officeDocument/2006/relationships/slide" Target="/ppt/slides/slide7.xml" Id="Re12ffbd8a14d4d7c" /><Relationship Type="http://schemas.openxmlformats.org/officeDocument/2006/relationships/slide" Target="/ppt/slides/slide8.xml" Id="R163bf11d9e644a22" /><Relationship Type="http://schemas.openxmlformats.org/officeDocument/2006/relationships/slide" Target="/ppt/slides/slide9.xml" Id="R2b5ea8c7066a4501" /><Relationship Type="http://schemas.openxmlformats.org/officeDocument/2006/relationships/slide" Target="/ppt/slides/slide10.xml" Id="R935c83ebe18242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cec59192c045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a64dee92a549b9" /><Relationship Type="http://schemas.openxmlformats.org/officeDocument/2006/relationships/notesMaster" Target="/ppt/notesMasters/notesMaster1.xml" Id="R276e93d8478840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ac280df3ac4f82" /><Relationship Type="http://schemas.openxmlformats.org/officeDocument/2006/relationships/notesMaster" Target="/ppt/notesMasters/notesMaster1.xml" Id="R0a968a0261b74f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e0ce304fdb42c9" /><Relationship Type="http://schemas.openxmlformats.org/officeDocument/2006/relationships/notesMaster" Target="/ppt/notesMasters/notesMaster1.xml" Id="Rf4b25aebd29f4a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8c3a4ea9e74a9b" /><Relationship Type="http://schemas.openxmlformats.org/officeDocument/2006/relationships/notesMaster" Target="/ppt/notesMasters/notesMaster1.xml" Id="R14559b8ad30f4a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ed4871550a4593" /><Relationship Type="http://schemas.openxmlformats.org/officeDocument/2006/relationships/notesMaster" Target="/ppt/notesMasters/notesMaster1.xml" Id="Reeea2fa252ac4b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f19c2c7e6b45ba" /><Relationship Type="http://schemas.openxmlformats.org/officeDocument/2006/relationships/notesMaster" Target="/ppt/notesMasters/notesMaster1.xml" Id="R89d42effadc54b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7d76e3f3ce47b8" /><Relationship Type="http://schemas.openxmlformats.org/officeDocument/2006/relationships/notesMaster" Target="/ppt/notesMasters/notesMaster1.xml" Id="Rf32357be2a6944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69069b6a29480e" /><Relationship Type="http://schemas.openxmlformats.org/officeDocument/2006/relationships/notesMaster" Target="/ppt/notesMasters/notesMaster1.xml" Id="Rdb029228d82548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d4e1a6cddb494e" /><Relationship Type="http://schemas.openxmlformats.org/officeDocument/2006/relationships/notesMaster" Target="/ppt/notesMasters/notesMaster1.xml" Id="Rbcfac5e3835841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ee299f8ae940b2" /><Relationship Type="http://schemas.openxmlformats.org/officeDocument/2006/relationships/notesMaster" Target="/ppt/notesMasters/notesMaster1.xml" Id="R886667b418224b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 reproduced from the original website composition. Source: https://github.com/Biieru/GIUMS.Mediakit (index.html, css/style.css, js/brand.js, assets).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bd6209fddc444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c1b2fcdd544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2676e88e744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e0f8c811141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4db099d3f846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997c397dd4a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D7CC6E-B56D-48C0-8119-41063DB932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B42C473-9E6C-409B-BD1E-38F84BB5B4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B9ED9B9-DBB5-4D1B-A328-EDD8544593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BA27B5-34FE-4215-8944-3CEFEF2520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D6118D4-50FB-4BB0-8490-A9DA4AD231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AF59BE2-AED5-41E8-A799-A9D81637DA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07351BE-17D3-429D-8D64-10007327F4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98CF31-3C3B-41F0-B9A4-1CDFC3B321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9D35F6A-F2B5-427F-8222-3C090927A9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ECE92C-F2C9-4E5C-AAF5-805A9F7839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8567d0009342f2" /><Relationship Type="http://schemas.openxmlformats.org/officeDocument/2006/relationships/slideLayout" Target="/ppt/slideLayouts/slideLayout1.xml" Id="Rb625ced5555d4b9f" /><Relationship Type="http://schemas.openxmlformats.org/officeDocument/2006/relationships/slideLayout" Target="/ppt/slideLayouts/slideLayout2.xml" Id="R451a2ae056e947f2" /><Relationship Type="http://schemas.openxmlformats.org/officeDocument/2006/relationships/slideLayout" Target="/ppt/slideLayouts/slideLayout3.xml" Id="R1db7398b20254526" /><Relationship Type="http://schemas.openxmlformats.org/officeDocument/2006/relationships/slideLayout" Target="/ppt/slideLayouts/slideLayout4.xml" Id="R532169a538f54e69" /><Relationship Type="http://schemas.openxmlformats.org/officeDocument/2006/relationships/slideLayout" Target="/ppt/slideLayouts/slideLayout5.xml" Id="R656ea340b58e4ffa" /><Relationship Type="http://schemas.openxmlformats.org/officeDocument/2006/relationships/slideLayout" Target="/ppt/slideLayouts/slideLayout6.xml" Id="Rdd59f93ce91b4e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25ced5555d4b9f"/>
    <p:sldLayoutId xmlns:r="http://schemas.openxmlformats.org/officeDocument/2006/relationships" id="2147483650" r:id="R451a2ae056e947f2"/>
    <p:sldLayoutId xmlns:r="http://schemas.openxmlformats.org/officeDocument/2006/relationships" id="2147483651" r:id="R1db7398b20254526"/>
    <p:sldLayoutId xmlns:r="http://schemas.openxmlformats.org/officeDocument/2006/relationships" id="2147483652" r:id="R532169a538f54e69"/>
    <p:sldLayoutId xmlns:r="http://schemas.openxmlformats.org/officeDocument/2006/relationships" id="2147483653" r:id="R656ea340b58e4ffa"/>
    <p:sldLayoutId xmlns:r="http://schemas.openxmlformats.org/officeDocument/2006/relationships" id="2147483654" r:id="Rdd59f93ce91b4e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9613e6c9014054" /><Relationship Type="http://schemas.openxmlformats.org/officeDocument/2006/relationships/image" Target="/ppt/media/image.jpeg" Id="Rd628f1b6255141f4" /><Relationship Type="http://schemas.openxmlformats.org/officeDocument/2006/relationships/notesSlide" Target="/ppt/notesSlides/notesSlide1.xml" Id="R900f14d6a90148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e957c3848643da" /><Relationship Type="http://schemas.openxmlformats.org/officeDocument/2006/relationships/image" Target="/ppt/media/image.png" Id="R22bd407601714789" /><Relationship Type="http://schemas.openxmlformats.org/officeDocument/2006/relationships/notesSlide" Target="/ppt/notesSlides/notesSlide2.xml" Id="R772cbdd7028b45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2317f033d745bf" /><Relationship Type="http://schemas.openxmlformats.org/officeDocument/2006/relationships/notesSlide" Target="/ppt/notesSlides/notesSlide3.xml" Id="R6052b4dec4e94b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d3fd2d2354790" /><Relationship Type="http://schemas.openxmlformats.org/officeDocument/2006/relationships/hyperlink" Target="https://www.patreon.com/giums" TargetMode="External" Id="R95ce380112954059" /><Relationship Type="http://schemas.openxmlformats.org/officeDocument/2006/relationships/image" Target="/ppt/media/image2.png" Id="R83ab0b32cc0346f3" /><Relationship Type="http://schemas.openxmlformats.org/officeDocument/2006/relationships/image" Target="/ppt/media/image3.png" Id="R4904a59bffba4411" /><Relationship Type="http://schemas.openxmlformats.org/officeDocument/2006/relationships/image" Target="/ppt/media/image4.png" Id="Rf01eebf1562c4892" /><Relationship Type="http://schemas.openxmlformats.org/officeDocument/2006/relationships/notesSlide" Target="/ppt/notesSlides/notesSlide4.xml" Id="Rad4657a876704a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6a50be799a483d" /><Relationship Type="http://schemas.openxmlformats.org/officeDocument/2006/relationships/notesSlide" Target="/ppt/notesSlides/notesSlide5.xml" Id="R453c17762c2f4b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b4b61ddf964488" /><Relationship Type="http://schemas.openxmlformats.org/officeDocument/2006/relationships/notesSlide" Target="/ppt/notesSlides/notesSlide6.xml" Id="R0c5513a9084044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1d1085a56d49c8" /><Relationship Type="http://schemas.openxmlformats.org/officeDocument/2006/relationships/notesSlide" Target="/ppt/notesSlides/notesSlide7.xml" Id="R52320f59405e43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d7a37c322c4bbb" /><Relationship Type="http://schemas.openxmlformats.org/officeDocument/2006/relationships/notesSlide" Target="/ppt/notesSlides/notesSlide8.xml" Id="Ra576e8892af144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bd048395be4afa" /><Relationship Type="http://schemas.openxmlformats.org/officeDocument/2006/relationships/image" Target="/ppt/media/image5.png" Id="Rd3377e219de04440" /><Relationship Type="http://schemas.openxmlformats.org/officeDocument/2006/relationships/image" Target="/ppt/media/image6.png" Id="R525257fe1bb247ef" /><Relationship Type="http://schemas.openxmlformats.org/officeDocument/2006/relationships/hyperlink" Target="https://youtu.be/1wZL_RG2Ma4" TargetMode="External" Id="Rb803a3bf534d4d86" /><Relationship Type="http://schemas.openxmlformats.org/officeDocument/2006/relationships/hyperlink" Target="https://www.instagram.com/reels/CQjiu2mBFcf/" TargetMode="External" Id="Rcada429be12b4324" /><Relationship Type="http://schemas.openxmlformats.org/officeDocument/2006/relationships/notesSlide" Target="/ppt/notesSlides/notesSlide9.xml" Id="R02f1ef2ced5946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8f930593c14a33" /><Relationship Type="http://schemas.openxmlformats.org/officeDocument/2006/relationships/hyperlink" Target="mailto:giumsart@gmail.com" TargetMode="External" Id="R48e7aa9757b14cb3" /><Relationship Type="http://schemas.openxmlformats.org/officeDocument/2006/relationships/hyperlink" Target="https://giums.onrender.com" TargetMode="External" Id="R4581c3307ac246eb" /><Relationship Type="http://schemas.openxmlformats.org/officeDocument/2006/relationships/hyperlink" Target="https://www.instagram.com/giums/" TargetMode="External" Id="R6dd87dea09d645ab" /><Relationship Type="http://schemas.openxmlformats.org/officeDocument/2006/relationships/hyperlink" Target="https://bsky.app/profile/giums.bsky.social" TargetMode="External" Id="Rfe62dc73579944d3" /><Relationship Type="http://schemas.openxmlformats.org/officeDocument/2006/relationships/hyperlink" Target="https://www.youtube.com/@GIUMSyt" TargetMode="External" Id="Rf388347cf3b547c9" /><Relationship Type="http://schemas.openxmlformats.org/officeDocument/2006/relationships/hyperlink" Target="https://www.twitch.tv/giums" TargetMode="External" Id="R59e24c0143b64e43" /><Relationship Type="http://schemas.openxmlformats.org/officeDocument/2006/relationships/hyperlink" Target="https://www.patreon.com/giums" TargetMode="External" Id="R82095f61abcd4f05" /><Relationship Type="http://schemas.openxmlformats.org/officeDocument/2006/relationships/notesSlide" Target="/ppt/notesSlides/notesSlide10.xml" Id="Rb96c9519345b45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B382A-4435-42FB-8D41-8C23B356B9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8f1b6255141f4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8233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">
            <a:extLst xmlns:a="http://schemas.openxmlformats.org/drawingml/2006/main">
              <a:ext uri="{FF2B5EF4-FFF2-40B4-BE49-F238E27FC236}">
                <a16:creationId xmlns:a16="http://schemas.microsoft.com/office/drawing/2014/main" id="{426D3649-FA41-4145-9965-11B1FC94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9ACCC0E4-45ED-4A6A-A7B9-39CE7376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4FFC7401-D5D1-462A-B73F-6BDCF386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Who she is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E080647E-2CF2-499E-A44D-4F301190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94F387-FC8C-4514-AE22-21BE1CE365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d407601714789"/>
          <a:srcRect xmlns:a="http://schemas.openxmlformats.org/drawingml/2006/main" l="0" t="4591" r="0" b="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800225"/>
            <a:ext cx="2619375" cy="4229100"/>
          </a:xfrm>
          <a:prstGeom xmlns:a="http://schemas.openxmlformats.org/drawingml/2006/main" prst="rect">
            <a:avLst/>
          </a:prstGeom>
        </p:spPr>
      </p:pic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7099D34-FB29-4FFE-9D80-DB21EE0A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6212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3310B48F-6757-49E6-B415-41A10672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600325"/>
            <a:ext cx="75819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Visual artist and illustrator focused on character design for over 15 years, working both in Brazil and internationally, with a strong influence from geek culture, high fantasy, TCG and, above all, RPG.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EDFD7A17-F300-408F-B9FA-39EE0CDB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2100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She is currently building a community on Patreon while developing her original project YATHRA: a concept art book and high fantasy swashbuckling RPG setting book, embracing queer culture (LGBTQIAPN+) and dragons. Lots of dragons!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F3BB6555-D043-41D1-82C3-4E7BFCB3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43600"/>
            <a:ext cx="758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Languages: Portuguese · English</a:t>
            </a:r>
          </a:p>
        </p:txBody>
      </p:sp>
    </p:spTree>
    <p:extLst>
      <p:ext uri="{BB962C8B-B14F-4D97-AF65-F5344CB8AC3E}">
        <p14:creationId xmlns:p14="http://schemas.microsoft.com/office/powerpoint/2010/main" val="11964147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">
            <a:extLst xmlns:a="http://schemas.openxmlformats.org/drawingml/2006/main">
              <a:ext uri="{FF2B5EF4-FFF2-40B4-BE49-F238E27FC236}">
                <a16:creationId xmlns:a16="http://schemas.microsoft.com/office/drawing/2014/main" id="{CFA759C8-1B7F-40DA-B31F-7E4BD2D7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0">
            <a:extLst xmlns:a="http://schemas.openxmlformats.org/drawingml/2006/main">
              <a:ext uri="{FF2B5EF4-FFF2-40B4-BE49-F238E27FC236}">
                <a16:creationId xmlns:a16="http://schemas.microsoft.com/office/drawing/2014/main" id="{5D506F7F-7205-424F-9EFE-EC985F2C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1">
            <a:extLst xmlns:a="http://schemas.openxmlformats.org/drawingml/2006/main">
              <a:ext uri="{FF2B5EF4-FFF2-40B4-BE49-F238E27FC236}">
                <a16:creationId xmlns:a16="http://schemas.microsoft.com/office/drawing/2014/main" id="{4201BDFB-CB59-4E58-B300-75AA275F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Co-creations</a:t>
            </a:r>
          </a:p>
        </p:txBody>
      </p:sp>
      <p:sp>
        <p:nvSpPr>
          <p:cNvPr id="4" name="text-12">
            <a:extLst xmlns:a="http://schemas.openxmlformats.org/drawingml/2006/main">
              <a:ext uri="{FF2B5EF4-FFF2-40B4-BE49-F238E27FC236}">
                <a16:creationId xmlns:a16="http://schemas.microsoft.com/office/drawing/2014/main" id="{EEA42201-A728-4F13-9C5F-50903090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5" name="text-13">
            <a:extLst xmlns:a="http://schemas.openxmlformats.org/drawingml/2006/main">
              <a:ext uri="{FF2B5EF4-FFF2-40B4-BE49-F238E27FC236}">
                <a16:creationId xmlns:a16="http://schemas.microsoft.com/office/drawing/2014/main" id="{89F1F537-3696-4E6C-861C-DBF7BCEE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Tabletop RPG &amp; games</a:t>
            </a:r>
          </a:p>
        </p:txBody>
      </p:sp>
      <p:sp>
        <p:nvSpPr>
          <p:cNvPr id="6" name="text-14">
            <a:extLst xmlns:a="http://schemas.openxmlformats.org/drawingml/2006/main">
              <a:ext uri="{FF2B5EF4-FFF2-40B4-BE49-F238E27FC236}">
                <a16:creationId xmlns:a16="http://schemas.microsoft.com/office/drawing/2014/main" id="{EF6BEBA0-68E0-4A1D-80D7-B81CD9AD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5238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Designed for your project: characters, creatures and settings with visual consistency, ready to publish, serving publishers, game studios, TCG creators and independent community projects.</a:t>
            </a:r>
          </a:p>
        </p:txBody>
      </p:sp>
      <p:sp>
        <p:nvSpPr>
          <p:cNvPr id="7" name="text-15">
            <a:extLst xmlns:a="http://schemas.openxmlformats.org/drawingml/2006/main">
              <a:ext uri="{FF2B5EF4-FFF2-40B4-BE49-F238E27FC236}">
                <a16:creationId xmlns:a16="http://schemas.microsoft.com/office/drawing/2014/main" id="{C0885768-54E4-41D7-A57E-D356F6B0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Content for brands</a:t>
            </a:r>
          </a:p>
        </p:txBody>
      </p:sp>
      <p:sp>
        <p:nvSpPr>
          <p:cNvPr id="8" name="text-16">
            <a:extLst xmlns:a="http://schemas.openxmlformats.org/drawingml/2006/main">
              <a:ext uri="{FF2B5EF4-FFF2-40B4-BE49-F238E27FC236}">
                <a16:creationId xmlns:a16="http://schemas.microsoft.com/office/drawing/2014/main" id="{6D27D6D4-A75F-46EE-8318-CF5EFAC8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193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Specialized content on products and tools for artists, connecting brands to the audience.</a:t>
            </a:r>
          </a:p>
        </p:txBody>
      </p:sp>
      <p:sp>
        <p:nvSpPr>
          <p:cNvPr id="9" name="text-17">
            <a:extLst xmlns:a="http://schemas.openxmlformats.org/drawingml/2006/main">
              <a:ext uri="{FF2B5EF4-FFF2-40B4-BE49-F238E27FC236}">
                <a16:creationId xmlns:a16="http://schemas.microsoft.com/office/drawing/2014/main" id="{7F3A999F-7C77-494A-9DF6-6D46EF8B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Art for books and games</a:t>
            </a:r>
          </a:p>
        </p:txBody>
      </p:sp>
      <p:sp>
        <p:nvSpPr>
          <p:cNvPr id="10" name="text-18">
            <a:extLst xmlns:a="http://schemas.openxmlformats.org/drawingml/2006/main">
              <a:ext uri="{FF2B5EF4-FFF2-40B4-BE49-F238E27FC236}">
                <a16:creationId xmlns:a16="http://schemas.microsoft.com/office/drawing/2014/main" id="{2E6835CB-D8D6-416A-B54C-9EDF00AB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Illustrations that help tell your story: covers, interior pages, cards and environment art.</a:t>
            </a:r>
          </a:p>
        </p:txBody>
      </p:sp>
      <p:sp>
        <p:nvSpPr>
          <p:cNvPr id="11" name="text-19">
            <a:extLst xmlns:a="http://schemas.openxmlformats.org/drawingml/2006/main">
              <a:ext uri="{FF2B5EF4-FFF2-40B4-BE49-F238E27FC236}">
                <a16:creationId xmlns:a16="http://schemas.microsoft.com/office/drawing/2014/main" id="{B17AA82D-8CEB-4555-8123-09ACF76B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From brief to final art</a:t>
            </a:r>
          </a:p>
        </p:txBody>
      </p:sp>
      <p:sp>
        <p:nvSpPr>
          <p:cNvPr id="12" name="text-20">
            <a:extLst xmlns:a="http://schemas.openxmlformats.org/drawingml/2006/main">
              <a:ext uri="{FF2B5EF4-FFF2-40B4-BE49-F238E27FC236}">
                <a16:creationId xmlns:a16="http://schemas.microsoft.com/office/drawing/2014/main" id="{DC61DCA5-E6EF-4ACD-AF54-89CE6040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Original characters, creatures and complete reference sheets, with different angles, expressions, color palette, clothing and item details.</a:t>
            </a:r>
          </a:p>
        </p:txBody>
      </p:sp>
      <p:sp>
        <p:nvSpPr>
          <p:cNvPr id="13" name="text-21">
            <a:extLst xmlns:a="http://schemas.openxmlformats.org/drawingml/2006/main">
              <a:ext uri="{FF2B5EF4-FFF2-40B4-BE49-F238E27FC236}">
                <a16:creationId xmlns:a16="http://schemas.microsoft.com/office/drawing/2014/main" id="{2974D926-6274-45C3-8C38-6B8D564D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Product reviews &amp; tests</a:t>
            </a:r>
          </a:p>
        </p:txBody>
      </p:sp>
      <p:sp>
        <p:nvSpPr>
          <p:cNvPr id="14" name="text-22">
            <a:extLst xmlns:a="http://schemas.openxmlformats.org/drawingml/2006/main">
              <a:ext uri="{FF2B5EF4-FFF2-40B4-BE49-F238E27FC236}">
                <a16:creationId xmlns:a16="http://schemas.microsoft.com/office/drawing/2014/main" id="{18EEF85B-9C5D-4CC5-B817-352351A20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Reviews of tools and materials for digital and traditional art, including drawing tablets, pen displays, digital pens, software, paints, brushes and other art supplies, exploring quality, performance and user experience.</a:t>
            </a:r>
          </a:p>
        </p:txBody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9080E12E-2670-4B6B-9FA2-AD7720FA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387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Art content &amp; demonstrations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011F79F8-D8FC-4A17-8CFE-3FC5146B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483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Production of illustrations, tutorials and demonstrations with digital and traditional products, highlighting their creative applications in promotional content.</a:t>
            </a:r>
          </a:p>
        </p:txBody>
      </p:sp>
    </p:spTree>
    <p:extLst>
      <p:ext uri="{BB962C8B-B14F-4D97-AF65-F5344CB8AC3E}">
        <p14:creationId xmlns:p14="http://schemas.microsoft.com/office/powerpoint/2010/main" val="14132640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5">
            <a:extLst xmlns:a="http://schemas.openxmlformats.org/drawingml/2006/main">
              <a:ext uri="{FF2B5EF4-FFF2-40B4-BE49-F238E27FC236}">
                <a16:creationId xmlns:a16="http://schemas.microsoft.com/office/drawing/2014/main" id="{7D505C45-865C-418B-BE7F-3E407FC5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BC9B5C6F-2109-4DA5-BE9D-FFEADA33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27">
            <a:extLst xmlns:a="http://schemas.openxmlformats.org/drawingml/2006/main">
              <a:ext uri="{FF2B5EF4-FFF2-40B4-BE49-F238E27FC236}">
                <a16:creationId xmlns:a16="http://schemas.microsoft.com/office/drawing/2014/main" id="{4FBDABBA-8173-4F77-AD02-61B15DF3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6143C37C-9B91-4943-A654-20A597BC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A5C40C4F-080B-4AAC-A377-AEE81D86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An original universe</a:t>
            </a:r>
          </a:p>
        </p:txBody>
      </p:sp>
      <p:sp>
        <p:nvSpPr>
          <p:cNvPr id="6" name="text-30">
            <a:extLst xmlns:a="http://schemas.openxmlformats.org/drawingml/2006/main">
              <a:ext uri="{FF2B5EF4-FFF2-40B4-BE49-F238E27FC236}">
                <a16:creationId xmlns:a16="http://schemas.microsoft.com/office/drawing/2014/main" id="{0D0C1B3D-FD1E-40F0-8279-CEE6AFD4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953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A lore &amp; tabletop RPG worldbuilding project, three years in the making: a draconic world of conflict, LGBTQIAPN+ relationships and fantastic artifacts.</a:t>
            </a:r>
          </a:p>
        </p:txBody>
      </p:sp>
      <p:sp>
        <p:nvSpPr>
          <p:cNvPr id="7" name="text-31">
            <a:extLst xmlns:a="http://schemas.openxmlformats.org/drawingml/2006/main">
              <a:ext uri="{FF2B5EF4-FFF2-40B4-BE49-F238E27FC236}">
                <a16:creationId xmlns:a16="http://schemas.microsoft.com/office/drawing/2014/main" id="{4AAD0CDC-1969-447F-BE25-C6F2BAC8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Supporters join through Patreon tiers, with physical items from the universe and original sketches of their own OCs.</a:t>
            </a:r>
          </a:p>
        </p:txBody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B04FDD4D-1294-4BA8-A842-EAFE2E94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95ce380112954059"/>
              </a:rPr>
              <a:t>patreon.com/giums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B7E2E-BFAF-4617-B89E-DDC2A64FA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b0b32cc0346f3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1790700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B9F6B-248B-472C-A730-B3CAFF3A5B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4a59bffba4411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333625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EC822-D639-48D5-BC0D-47A4866D41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eebf1562c4892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67900" y="2009775"/>
            <a:ext cx="1657350" cy="317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7735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33">
            <a:extLst xmlns:a="http://schemas.openxmlformats.org/drawingml/2006/main">
              <a:ext uri="{FF2B5EF4-FFF2-40B4-BE49-F238E27FC236}">
                <a16:creationId xmlns:a16="http://schemas.microsoft.com/office/drawing/2014/main" id="{2DDB8881-91E3-4C3E-8A2C-A211DFB3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34">
            <a:extLst xmlns:a="http://schemas.openxmlformats.org/drawingml/2006/main">
              <a:ext uri="{FF2B5EF4-FFF2-40B4-BE49-F238E27FC236}">
                <a16:creationId xmlns:a16="http://schemas.microsoft.com/office/drawing/2014/main" id="{9A32CAD0-E7DC-4459-A466-ADAFEE33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35">
            <a:extLst xmlns:a="http://schemas.openxmlformats.org/drawingml/2006/main">
              <a:ext uri="{FF2B5EF4-FFF2-40B4-BE49-F238E27FC236}">
                <a16:creationId xmlns:a16="http://schemas.microsoft.com/office/drawing/2014/main" id="{DF2AAAC9-686C-4769-B2CF-0677B6AF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Audience &amp; reach</a:t>
            </a:r>
          </a:p>
        </p:txBody>
      </p:sp>
      <p:sp>
        <p:nvSpPr>
          <p:cNvPr id="4" name="text-36">
            <a:extLst xmlns:a="http://schemas.openxmlformats.org/drawingml/2006/main">
              <a:ext uri="{FF2B5EF4-FFF2-40B4-BE49-F238E27FC236}">
                <a16:creationId xmlns:a16="http://schemas.microsoft.com/office/drawing/2014/main" id="{FDD5363E-50B9-4488-BADE-B5A57315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5" name="text-37">
            <a:extLst xmlns:a="http://schemas.openxmlformats.org/drawingml/2006/main">
              <a:ext uri="{FF2B5EF4-FFF2-40B4-BE49-F238E27FC236}">
                <a16:creationId xmlns:a16="http://schemas.microsoft.com/office/drawing/2014/main" id="{25215FB4-EB7B-461E-B34D-1CC402E5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Figures as of Oct 2026.</a:t>
            </a:r>
          </a:p>
        </p:txBody>
      </p:sp>
      <p:sp>
        <p:nvSpPr>
          <p:cNvPr id="6" name="text-38">
            <a:extLst xmlns:a="http://schemas.openxmlformats.org/drawingml/2006/main">
              <a:ext uri="{FF2B5EF4-FFF2-40B4-BE49-F238E27FC236}">
                <a16:creationId xmlns:a16="http://schemas.microsoft.com/office/drawing/2014/main" id="{0CA9CAB9-B7D6-4E4A-8784-1AE6BADD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Instagram</a:t>
            </a:r>
          </a:p>
        </p:txBody>
      </p:sp>
      <p:sp>
        <p:nvSpPr>
          <p:cNvPr id="7" name="text-39">
            <a:extLst xmlns:a="http://schemas.openxmlformats.org/drawingml/2006/main">
              <a:ext uri="{FF2B5EF4-FFF2-40B4-BE49-F238E27FC236}">
                <a16:creationId xmlns:a16="http://schemas.microsoft.com/office/drawing/2014/main" id="{CB7F7228-6BF2-4283-92B9-3B2919A1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09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C7159980-7BDE-49DC-9029-71383455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90925"/>
            <a:ext cx="609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followers</a:t>
            </a:r>
          </a:p>
        </p:txBody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AD514BA8-6C27-4F86-B45F-ABFAEA8B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0" name="text-42">
            <a:extLst xmlns:a="http://schemas.openxmlformats.org/drawingml/2006/main">
              <a:ext uri="{FF2B5EF4-FFF2-40B4-BE49-F238E27FC236}">
                <a16:creationId xmlns:a16="http://schemas.microsoft.com/office/drawing/2014/main" id="{1D289FF6-C2CF-4BE2-9FD8-DDFD30CA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average engagement rate</a:t>
            </a:r>
          </a:p>
        </p:txBody>
      </p:sp>
      <p:sp>
        <p:nvSpPr>
          <p:cNvPr id="11" name="text-43">
            <a:extLst xmlns:a="http://schemas.openxmlformats.org/drawingml/2006/main">
              <a:ext uri="{FF2B5EF4-FFF2-40B4-BE49-F238E27FC236}">
                <a16:creationId xmlns:a16="http://schemas.microsoft.com/office/drawing/2014/main" id="{FCDB84E2-D189-4298-B0AD-40BBBFB7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2" name="text-44">
            <a:extLst xmlns:a="http://schemas.openxmlformats.org/drawingml/2006/main">
              <a:ext uri="{FF2B5EF4-FFF2-40B4-BE49-F238E27FC236}">
                <a16:creationId xmlns:a16="http://schemas.microsoft.com/office/drawing/2014/main" id="{DA22F18E-6F5D-45F9-B1F1-C9D5739B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average likes per post</a:t>
            </a:r>
          </a:p>
        </p:txBody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58135D55-13FD-47B5-A165-A540B972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4" name="text-46">
            <a:extLst xmlns:a="http://schemas.openxmlformats.org/drawingml/2006/main">
              <a:ext uri="{FF2B5EF4-FFF2-40B4-BE49-F238E27FC236}">
                <a16:creationId xmlns:a16="http://schemas.microsoft.com/office/drawing/2014/main" id="{268C124D-A3FC-434B-B18F-84AFE8C3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average comments per post</a:t>
            </a:r>
          </a:p>
        </p:txBody>
      </p:sp>
      <p:sp>
        <p:nvSpPr>
          <p:cNvPr id="15" name="text-47">
            <a:extLst xmlns:a="http://schemas.openxmlformats.org/drawingml/2006/main">
              <a:ext uri="{FF2B5EF4-FFF2-40B4-BE49-F238E27FC236}">
                <a16:creationId xmlns:a16="http://schemas.microsoft.com/office/drawing/2014/main" id="{1564776C-94D9-4D51-A02F-8FA79713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996BCB5D-6F9C-4E95-B287-4A4A1C19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81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86 / 17</a:t>
            </a:r>
          </a:p>
        </p:txBody>
      </p:sp>
      <p:sp>
        <p:nvSpPr>
          <p:cNvPr id="17" name="text-49">
            <a:extLst xmlns:a="http://schemas.openxmlformats.org/drawingml/2006/main">
              <a:ext uri="{FF2B5EF4-FFF2-40B4-BE49-F238E27FC236}">
                <a16:creationId xmlns:a16="http://schemas.microsoft.com/office/drawing/2014/main" id="{82CEFD5D-F800-40A2-89FC-E6453AB7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86175"/>
            <a:ext cx="371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followers / paid subscribers</a:t>
            </a:r>
          </a:p>
        </p:txBody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4E49E0E4-2F4A-4376-8587-9A848E11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0100"/>
            <a:ext cx="371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 in 5 followers is a paid subscriber.</a:t>
            </a:r>
          </a:p>
        </p:txBody>
      </p:sp>
      <p:sp>
        <p:nvSpPr>
          <p:cNvPr id="19" name="text-51">
            <a:extLst xmlns:a="http://schemas.openxmlformats.org/drawingml/2006/main">
              <a:ext uri="{FF2B5EF4-FFF2-40B4-BE49-F238E27FC236}">
                <a16:creationId xmlns:a16="http://schemas.microsoft.com/office/drawing/2014/main" id="{7EBA8C48-CED4-4510-A87D-0415D178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total audience · Instagram + Patreon: 16.5K</a:t>
            </a:r>
          </a:p>
        </p:txBody>
      </p:sp>
    </p:spTree>
    <p:extLst>
      <p:ext uri="{BB962C8B-B14F-4D97-AF65-F5344CB8AC3E}">
        <p14:creationId xmlns:p14="http://schemas.microsoft.com/office/powerpoint/2010/main" val="1809876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98C76237-5E0A-4C29-B618-47D063BB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53">
            <a:extLst xmlns:a="http://schemas.openxmlformats.org/drawingml/2006/main">
              <a:ext uri="{FF2B5EF4-FFF2-40B4-BE49-F238E27FC236}">
                <a16:creationId xmlns:a16="http://schemas.microsoft.com/office/drawing/2014/main" id="{639A40E6-DD15-4152-B1D1-A931539F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54">
            <a:extLst xmlns:a="http://schemas.openxmlformats.org/drawingml/2006/main">
              <a:ext uri="{FF2B5EF4-FFF2-40B4-BE49-F238E27FC236}">
                <a16:creationId xmlns:a16="http://schemas.microsoft.com/office/drawing/2014/main" id="{AFEC182D-F57F-4AB2-99F4-996B91FC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Reach and community</a:t>
            </a:r>
          </a:p>
        </p:txBody>
      </p:sp>
      <p:sp>
        <p:nvSpPr>
          <p:cNvPr id="4" name="text-55">
            <a:extLst xmlns:a="http://schemas.openxmlformats.org/drawingml/2006/main">
              <a:ext uri="{FF2B5EF4-FFF2-40B4-BE49-F238E27FC236}">
                <a16:creationId xmlns:a16="http://schemas.microsoft.com/office/drawing/2014/main" id="{202C41FC-EF1B-4AF4-A21F-4F30C982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5" name="text-56">
            <a:extLst xmlns:a="http://schemas.openxmlformats.org/drawingml/2006/main">
              <a:ext uri="{FF2B5EF4-FFF2-40B4-BE49-F238E27FC236}">
                <a16:creationId xmlns:a16="http://schemas.microsoft.com/office/drawing/2014/main" id="{93126DFA-0F70-49C9-9F58-7F78491F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6" name="text-57">
            <a:extLst xmlns:a="http://schemas.openxmlformats.org/drawingml/2006/main">
              <a:ext uri="{FF2B5EF4-FFF2-40B4-BE49-F238E27FC236}">
                <a16:creationId xmlns:a16="http://schemas.microsoft.com/office/drawing/2014/main" id="{AD68E09B-239E-4F1E-9D6B-2F821043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views in the last 30 days</a:t>
            </a:r>
          </a:p>
        </p:txBody>
      </p:sp>
      <p:sp>
        <p:nvSpPr>
          <p:cNvPr id="7" name="text-58">
            <a:extLst xmlns:a="http://schemas.openxmlformats.org/drawingml/2006/main">
              <a:ext uri="{FF2B5EF4-FFF2-40B4-BE49-F238E27FC236}">
                <a16:creationId xmlns:a16="http://schemas.microsoft.com/office/drawing/2014/main" id="{1374CAE0-9ACE-4C35-BA8A-17554D2E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8" name="text-59">
            <a:extLst xmlns:a="http://schemas.openxmlformats.org/drawingml/2006/main">
              <a:ext uri="{FF2B5EF4-FFF2-40B4-BE49-F238E27FC236}">
                <a16:creationId xmlns:a16="http://schemas.microsoft.com/office/drawing/2014/main" id="{766ADC3F-FC5D-47BC-AA43-E332B565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accounts that viewed the content</a:t>
            </a:r>
          </a:p>
        </p:txBody>
      </p:sp>
      <p:sp>
        <p:nvSpPr>
          <p:cNvPr id="9" name="text-60">
            <a:extLst xmlns:a="http://schemas.openxmlformats.org/drawingml/2006/main">
              <a:ext uri="{FF2B5EF4-FFF2-40B4-BE49-F238E27FC236}">
                <a16:creationId xmlns:a16="http://schemas.microsoft.com/office/drawing/2014/main" id="{61BF36CE-8236-4D9A-9B21-654F144D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+116</a:t>
            </a:r>
          </a:p>
        </p:txBody>
      </p:sp>
      <p:sp>
        <p:nvSpPr>
          <p:cNvPr id="10" name="text-61">
            <a:extLst xmlns:a="http://schemas.openxmlformats.org/drawingml/2006/main">
              <a:ext uri="{FF2B5EF4-FFF2-40B4-BE49-F238E27FC236}">
                <a16:creationId xmlns:a16="http://schemas.microsoft.com/office/drawing/2014/main" id="{47AB3C09-3E14-4748-99AB-416628E1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net followers in 30 days</a:t>
            </a:r>
          </a:p>
        </p:txBody>
      </p:sp>
      <p:sp>
        <p:nvSpPr>
          <p:cNvPr id="11" name="text-62">
            <a:extLst xmlns:a="http://schemas.openxmlformats.org/drawingml/2006/main">
              <a:ext uri="{FF2B5EF4-FFF2-40B4-BE49-F238E27FC236}">
                <a16:creationId xmlns:a16="http://schemas.microsoft.com/office/drawing/2014/main" id="{B94A642B-0C9D-4FCA-90E6-ECDADBBE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2" name="text-63">
            <a:extLst xmlns:a="http://schemas.openxmlformats.org/drawingml/2006/main">
              <a:ext uri="{FF2B5EF4-FFF2-40B4-BE49-F238E27FC236}">
                <a16:creationId xmlns:a16="http://schemas.microsoft.com/office/drawing/2014/main" id="{4ADCC55D-C346-4914-984A-FF602315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Supporters get monthly wallpapers, world lore, sketches, exclusive stickers &amp; prints, WIPs, GIFs, brush packs and access to the Discord community.</a:t>
            </a:r>
          </a:p>
        </p:txBody>
      </p:sp>
      <p:sp>
        <p:nvSpPr>
          <p:cNvPr id="13" name="text-64">
            <a:extLst xmlns:a="http://schemas.openxmlformats.org/drawingml/2006/main">
              <a:ext uri="{FF2B5EF4-FFF2-40B4-BE49-F238E27FC236}">
                <a16:creationId xmlns:a16="http://schemas.microsoft.com/office/drawing/2014/main" id="{4A90244B-7CB8-49FD-BB7B-3E65F4EE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Figures as of Oct 2026.</a:t>
            </a:r>
          </a:p>
        </p:txBody>
      </p:sp>
    </p:spTree>
    <p:extLst>
      <p:ext uri="{BB962C8B-B14F-4D97-AF65-F5344CB8AC3E}">
        <p14:creationId xmlns:p14="http://schemas.microsoft.com/office/powerpoint/2010/main" val="21234866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65">
            <a:extLst xmlns:a="http://schemas.openxmlformats.org/drawingml/2006/main">
              <a:ext uri="{FF2B5EF4-FFF2-40B4-BE49-F238E27FC236}">
                <a16:creationId xmlns:a16="http://schemas.microsoft.com/office/drawing/2014/main" id="{575348EB-FEF6-4BB8-B3E3-610C40B6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66">
            <a:extLst xmlns:a="http://schemas.openxmlformats.org/drawingml/2006/main">
              <a:ext uri="{FF2B5EF4-FFF2-40B4-BE49-F238E27FC236}">
                <a16:creationId xmlns:a16="http://schemas.microsoft.com/office/drawing/2014/main" id="{50FD0F30-9545-48F3-9BDC-CBB2530A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67">
            <a:extLst xmlns:a="http://schemas.openxmlformats.org/drawingml/2006/main">
              <a:ext uri="{FF2B5EF4-FFF2-40B4-BE49-F238E27FC236}">
                <a16:creationId xmlns:a16="http://schemas.microsoft.com/office/drawing/2014/main" id="{1C0BF8B2-5148-40DA-BAE1-D527CA2A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Audience profile</a:t>
            </a:r>
          </a:p>
        </p:txBody>
      </p:sp>
      <p:sp>
        <p:nvSpPr>
          <p:cNvPr id="4" name="text-68">
            <a:extLst xmlns:a="http://schemas.openxmlformats.org/drawingml/2006/main">
              <a:ext uri="{FF2B5EF4-FFF2-40B4-BE49-F238E27FC236}">
                <a16:creationId xmlns:a16="http://schemas.microsoft.com/office/drawing/2014/main" id="{E360F62F-4592-4007-835C-0C11CECC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5" name="text-69">
            <a:extLst xmlns:a="http://schemas.openxmlformats.org/drawingml/2006/main">
              <a:ext uri="{FF2B5EF4-FFF2-40B4-BE49-F238E27FC236}">
                <a16:creationId xmlns:a16="http://schemas.microsoft.com/office/drawing/2014/main" id="{487A51C6-0081-49A2-853E-9132F962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Age</a:t>
            </a:r>
          </a:p>
        </p:txBody>
      </p:sp>
      <p:sp>
        <p:nvSpPr>
          <p:cNvPr id="6" name="text-70">
            <a:extLst xmlns:a="http://schemas.openxmlformats.org/drawingml/2006/main">
              <a:ext uri="{FF2B5EF4-FFF2-40B4-BE49-F238E27FC236}">
                <a16:creationId xmlns:a16="http://schemas.microsoft.com/office/drawing/2014/main" id="{F5A40427-6B96-49DB-99F9-9B99F78D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7" name="text-71">
            <a:extLst xmlns:a="http://schemas.openxmlformats.org/drawingml/2006/main">
              <a:ext uri="{FF2B5EF4-FFF2-40B4-BE49-F238E27FC236}">
                <a16:creationId xmlns:a16="http://schemas.microsoft.com/office/drawing/2014/main" id="{18BB2514-40DB-4883-9DC7-8D5B954C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23.6%</a:t>
            </a:r>
          </a:p>
        </p:txBody>
      </p:sp>
      <p:sp>
        <p:nvSpPr>
          <p:cNvPr id="8" name="text-72">
            <a:extLst xmlns:a="http://schemas.openxmlformats.org/drawingml/2006/main">
              <a:ext uri="{FF2B5EF4-FFF2-40B4-BE49-F238E27FC236}">
                <a16:creationId xmlns:a16="http://schemas.microsoft.com/office/drawing/2014/main" id="{D6B5AC3A-19A6-440F-86DD-BB5D8445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9" name="text-73">
            <a:extLst xmlns:a="http://schemas.openxmlformats.org/drawingml/2006/main">
              <a:ext uri="{FF2B5EF4-FFF2-40B4-BE49-F238E27FC236}">
                <a16:creationId xmlns:a16="http://schemas.microsoft.com/office/drawing/2014/main" id="{9A92DEE2-521F-43A9-BD4C-B886D76B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55.4%</a:t>
            </a:r>
          </a:p>
        </p:txBody>
      </p:sp>
      <p:sp>
        <p:nvSpPr>
          <p:cNvPr id="10" name="text-74">
            <a:extLst xmlns:a="http://schemas.openxmlformats.org/drawingml/2006/main">
              <a:ext uri="{FF2B5EF4-FFF2-40B4-BE49-F238E27FC236}">
                <a16:creationId xmlns:a16="http://schemas.microsoft.com/office/drawing/2014/main" id="{DC2B3C39-EAC9-4F3B-929A-B27D64D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11" name="text-75">
            <a:extLst xmlns:a="http://schemas.openxmlformats.org/drawingml/2006/main">
              <a:ext uri="{FF2B5EF4-FFF2-40B4-BE49-F238E27FC236}">
                <a16:creationId xmlns:a16="http://schemas.microsoft.com/office/drawing/2014/main" id="{5562CBFA-F4AB-40C8-B34E-2857FBF4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16.9%</a:t>
            </a:r>
          </a:p>
        </p:txBody>
      </p:sp>
      <p:sp>
        <p:nvSpPr>
          <p:cNvPr id="12" name="text-76">
            <a:extLst xmlns:a="http://schemas.openxmlformats.org/drawingml/2006/main">
              <a:ext uri="{FF2B5EF4-FFF2-40B4-BE49-F238E27FC236}">
                <a16:creationId xmlns:a16="http://schemas.microsoft.com/office/drawing/2014/main" id="{1F48E83E-7FAD-451E-92BC-58274CAD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13" name="text-77">
            <a:extLst xmlns:a="http://schemas.openxmlformats.org/drawingml/2006/main">
              <a:ext uri="{FF2B5EF4-FFF2-40B4-BE49-F238E27FC236}">
                <a16:creationId xmlns:a16="http://schemas.microsoft.com/office/drawing/2014/main" id="{5E7D41BE-2C19-4D69-97D2-64D89213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4.2%</a:t>
            </a:r>
          </a:p>
        </p:txBody>
      </p:sp>
      <p:sp>
        <p:nvSpPr>
          <p:cNvPr id="14" name="text-78">
            <a:extLst xmlns:a="http://schemas.openxmlformats.org/drawingml/2006/main">
              <a:ext uri="{FF2B5EF4-FFF2-40B4-BE49-F238E27FC236}">
                <a16:creationId xmlns:a16="http://schemas.microsoft.com/office/drawing/2014/main" id="{9927E664-FCAE-4817-863A-25B24370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811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Gender</a:t>
            </a:r>
          </a:p>
        </p:txBody>
      </p:sp>
      <p:sp>
        <p:nvSpPr>
          <p:cNvPr id="15" name="text-79">
            <a:extLst xmlns:a="http://schemas.openxmlformats.org/drawingml/2006/main">
              <a:ext uri="{FF2B5EF4-FFF2-40B4-BE49-F238E27FC236}">
                <a16:creationId xmlns:a16="http://schemas.microsoft.com/office/drawing/2014/main" id="{1FD36DDE-233E-41CD-A511-D3D1A7AD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6697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Women</a:t>
            </a:r>
          </a:p>
        </p:txBody>
      </p:sp>
      <p:sp>
        <p:nvSpPr>
          <p:cNvPr id="16" name="text-80">
            <a:extLst xmlns:a="http://schemas.openxmlformats.org/drawingml/2006/main">
              <a:ext uri="{FF2B5EF4-FFF2-40B4-BE49-F238E27FC236}">
                <a16:creationId xmlns:a16="http://schemas.microsoft.com/office/drawing/2014/main" id="{58D6C8E7-06CC-4586-B220-34384141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669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61.7%</a:t>
            </a:r>
          </a:p>
        </p:txBody>
      </p:sp>
      <p:sp>
        <p:nvSpPr>
          <p:cNvPr id="17" name="text-81">
            <a:extLst xmlns:a="http://schemas.openxmlformats.org/drawingml/2006/main">
              <a:ext uri="{FF2B5EF4-FFF2-40B4-BE49-F238E27FC236}">
                <a16:creationId xmlns:a16="http://schemas.microsoft.com/office/drawing/2014/main" id="{DDE6FD4D-C8E7-44EF-B81B-8857BC8F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Men</a:t>
            </a:r>
          </a:p>
        </p:txBody>
      </p:sp>
      <p:sp>
        <p:nvSpPr>
          <p:cNvPr id="18" name="text-82">
            <a:extLst xmlns:a="http://schemas.openxmlformats.org/drawingml/2006/main">
              <a:ext uri="{FF2B5EF4-FFF2-40B4-BE49-F238E27FC236}">
                <a16:creationId xmlns:a16="http://schemas.microsoft.com/office/drawing/2014/main" id="{18CB8DD2-6FFA-41B8-98B5-63BE05DC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38.3%</a:t>
            </a:r>
          </a:p>
        </p:txBody>
      </p:sp>
      <p:sp>
        <p:nvSpPr>
          <p:cNvPr id="19" name="text-83">
            <a:extLst xmlns:a="http://schemas.openxmlformats.org/drawingml/2006/main">
              <a:ext uri="{FF2B5EF4-FFF2-40B4-BE49-F238E27FC236}">
                <a16:creationId xmlns:a16="http://schemas.microsoft.com/office/drawing/2014/main" id="{BAFCF245-D368-4AC9-90B9-EC7CB57A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Top countries</a:t>
            </a:r>
          </a:p>
        </p:txBody>
      </p:sp>
      <p:sp>
        <p:nvSpPr>
          <p:cNvPr id="20" name="text-84">
            <a:extLst xmlns:a="http://schemas.openxmlformats.org/drawingml/2006/main">
              <a:ext uri="{FF2B5EF4-FFF2-40B4-BE49-F238E27FC236}">
                <a16:creationId xmlns:a16="http://schemas.microsoft.com/office/drawing/2014/main" id="{8CA4B52C-5F22-43BC-A503-5C184EB8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669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United States</a:t>
            </a:r>
          </a:p>
        </p:txBody>
      </p:sp>
      <p:sp>
        <p:nvSpPr>
          <p:cNvPr id="21" name="text-85">
            <a:extLst xmlns:a="http://schemas.openxmlformats.org/drawingml/2006/main">
              <a:ext uri="{FF2B5EF4-FFF2-40B4-BE49-F238E27FC236}">
                <a16:creationId xmlns:a16="http://schemas.microsoft.com/office/drawing/2014/main" id="{04399BA7-D5BA-4E32-AC77-ECAD32E4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669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28.7%</a:t>
            </a:r>
          </a:p>
        </p:txBody>
      </p:sp>
      <p:sp>
        <p:nvSpPr>
          <p:cNvPr id="22" name="text-86">
            <a:extLst xmlns:a="http://schemas.openxmlformats.org/drawingml/2006/main">
              <a:ext uri="{FF2B5EF4-FFF2-40B4-BE49-F238E27FC236}">
                <a16:creationId xmlns:a16="http://schemas.microsoft.com/office/drawing/2014/main" id="{36B2FDCD-FABA-489D-BEB4-1CFB9530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575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Brazil</a:t>
            </a:r>
          </a:p>
        </p:txBody>
      </p:sp>
      <p:sp>
        <p:nvSpPr>
          <p:cNvPr id="23" name="text-87">
            <a:extLst xmlns:a="http://schemas.openxmlformats.org/drawingml/2006/main">
              <a:ext uri="{FF2B5EF4-FFF2-40B4-BE49-F238E27FC236}">
                <a16:creationId xmlns:a16="http://schemas.microsoft.com/office/drawing/2014/main" id="{2703D85B-DD49-46C0-90BB-921A26D9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575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23.9%</a:t>
            </a:r>
          </a:p>
        </p:txBody>
      </p:sp>
      <p:sp>
        <p:nvSpPr>
          <p:cNvPr id="24" name="text-88">
            <a:extLst xmlns:a="http://schemas.openxmlformats.org/drawingml/2006/main">
              <a:ext uri="{FF2B5EF4-FFF2-40B4-BE49-F238E27FC236}">
                <a16:creationId xmlns:a16="http://schemas.microsoft.com/office/drawing/2014/main" id="{87B3AF36-21CF-481C-8DC1-C6EA061B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6480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Italy</a:t>
            </a:r>
          </a:p>
        </p:txBody>
      </p:sp>
      <p:sp>
        <p:nvSpPr>
          <p:cNvPr id="25" name="text-89">
            <a:extLst xmlns:a="http://schemas.openxmlformats.org/drawingml/2006/main">
              <a:ext uri="{FF2B5EF4-FFF2-40B4-BE49-F238E27FC236}">
                <a16:creationId xmlns:a16="http://schemas.microsoft.com/office/drawing/2014/main" id="{9CA56063-F543-4192-8685-1D5B6FC0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480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3.6%</a:t>
            </a:r>
          </a:p>
        </p:txBody>
      </p:sp>
      <p:sp>
        <p:nvSpPr>
          <p:cNvPr id="26" name="text-90">
            <a:extLst xmlns:a="http://schemas.openxmlformats.org/drawingml/2006/main">
              <a:ext uri="{FF2B5EF4-FFF2-40B4-BE49-F238E27FC236}">
                <a16:creationId xmlns:a16="http://schemas.microsoft.com/office/drawing/2014/main" id="{A912E48E-2B5B-4CCE-828E-746A704D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2386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Germany</a:t>
            </a:r>
          </a:p>
        </p:txBody>
      </p:sp>
      <p:sp>
        <p:nvSpPr>
          <p:cNvPr id="27" name="text-91">
            <a:extLst xmlns:a="http://schemas.openxmlformats.org/drawingml/2006/main">
              <a:ext uri="{FF2B5EF4-FFF2-40B4-BE49-F238E27FC236}">
                <a16:creationId xmlns:a16="http://schemas.microsoft.com/office/drawing/2014/main" id="{94A22376-FE61-4FE3-B195-0D6EE0C1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86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3.4%</a:t>
            </a:r>
          </a:p>
        </p:txBody>
      </p:sp>
      <p:sp>
        <p:nvSpPr>
          <p:cNvPr id="28" name="text-92">
            <a:extLst xmlns:a="http://schemas.openxmlformats.org/drawingml/2006/main">
              <a:ext uri="{FF2B5EF4-FFF2-40B4-BE49-F238E27FC236}">
                <a16:creationId xmlns:a16="http://schemas.microsoft.com/office/drawing/2014/main" id="{E6A5AD8A-0D05-4C20-91AA-4586EDE4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91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France</a:t>
            </a:r>
          </a:p>
        </p:txBody>
      </p:sp>
      <p:sp>
        <p:nvSpPr>
          <p:cNvPr id="29" name="text-93">
            <a:extLst xmlns:a="http://schemas.openxmlformats.org/drawingml/2006/main">
              <a:ext uri="{FF2B5EF4-FFF2-40B4-BE49-F238E27FC236}">
                <a16:creationId xmlns:a16="http://schemas.microsoft.com/office/drawing/2014/main" id="{45A1BC3C-6608-4431-8602-D0207DCF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829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3.2%</a:t>
            </a:r>
          </a:p>
        </p:txBody>
      </p:sp>
      <p:sp>
        <p:nvSpPr>
          <p:cNvPr id="30" name="text-94">
            <a:extLst xmlns:a="http://schemas.openxmlformats.org/drawingml/2006/main">
              <a:ext uri="{FF2B5EF4-FFF2-40B4-BE49-F238E27FC236}">
                <a16:creationId xmlns:a16="http://schemas.microsoft.com/office/drawing/2014/main" id="{1F9A6F4E-1621-4EA4-B8E2-72E3669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Source: Instagram Insights · Oct 2026</a:t>
            </a:r>
          </a:p>
        </p:txBody>
      </p:sp>
    </p:spTree>
    <p:extLst>
      <p:ext uri="{BB962C8B-B14F-4D97-AF65-F5344CB8AC3E}">
        <p14:creationId xmlns:p14="http://schemas.microsoft.com/office/powerpoint/2010/main" val="17469445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A0FC9335-11CA-488D-9C6C-E207E79A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96">
            <a:extLst xmlns:a="http://schemas.openxmlformats.org/drawingml/2006/main">
              <a:ext uri="{FF2B5EF4-FFF2-40B4-BE49-F238E27FC236}">
                <a16:creationId xmlns:a16="http://schemas.microsoft.com/office/drawing/2014/main" id="{12B08F25-D1D3-4080-A1E1-6B75098D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97">
            <a:extLst xmlns:a="http://schemas.openxmlformats.org/drawingml/2006/main">
              <a:ext uri="{FF2B5EF4-FFF2-40B4-BE49-F238E27FC236}">
                <a16:creationId xmlns:a16="http://schemas.microsoft.com/office/drawing/2014/main" id="{1F13D23E-7C79-4341-8C77-73EA895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Work with Giums</a:t>
            </a:r>
          </a:p>
        </p:txBody>
      </p:sp>
      <p:sp>
        <p:nvSpPr>
          <p:cNvPr id="4" name="text-98">
            <a:extLst xmlns:a="http://schemas.openxmlformats.org/drawingml/2006/main">
              <a:ext uri="{FF2B5EF4-FFF2-40B4-BE49-F238E27FC236}">
                <a16:creationId xmlns:a16="http://schemas.microsoft.com/office/drawing/2014/main" id="{45FC40B0-BA01-4D85-9726-8EC9DED4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5" name="text-99">
            <a:extLst xmlns:a="http://schemas.openxmlformats.org/drawingml/2006/main">
              <a:ext uri="{FF2B5EF4-FFF2-40B4-BE49-F238E27FC236}">
                <a16:creationId xmlns:a16="http://schemas.microsoft.com/office/drawing/2014/main" id="{A22B0B53-7B3A-4AC3-AF03-CA094E8E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Formats</a:t>
            </a:r>
          </a:p>
        </p:txBody>
      </p:sp>
      <p:sp>
        <p:nvSpPr>
          <p:cNvPr id="6" name="text-100">
            <a:extLst xmlns:a="http://schemas.openxmlformats.org/drawingml/2006/main">
              <a:ext uri="{FF2B5EF4-FFF2-40B4-BE49-F238E27FC236}">
                <a16:creationId xmlns:a16="http://schemas.microsoft.com/office/drawing/2014/main" id="{D451FB12-14A9-4E1A-B328-840E3D6C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Stories (Instagram)</a:t>
            </a:r>
          </a:p>
        </p:txBody>
      </p:sp>
      <p:sp>
        <p:nvSpPr>
          <p:cNvPr id="7" name="text-101">
            <a:extLst xmlns:a="http://schemas.openxmlformats.org/drawingml/2006/main">
              <a:ext uri="{FF2B5EF4-FFF2-40B4-BE49-F238E27FC236}">
                <a16:creationId xmlns:a16="http://schemas.microsoft.com/office/drawing/2014/main" id="{3342D7B2-F482-4A42-8C7D-016F79EA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Reels (Instagram)</a:t>
            </a:r>
          </a:p>
        </p:txBody>
      </p:sp>
      <p:sp>
        <p:nvSpPr>
          <p:cNvPr id="8" name="text-102">
            <a:extLst xmlns:a="http://schemas.openxmlformats.org/drawingml/2006/main">
              <a:ext uri="{FF2B5EF4-FFF2-40B4-BE49-F238E27FC236}">
                <a16:creationId xmlns:a16="http://schemas.microsoft.com/office/drawing/2014/main" id="{F383E521-B246-445B-9893-BE5463A1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Carousel (Instagram)</a:t>
            </a:r>
          </a:p>
        </p:txBody>
      </p:sp>
      <p:sp>
        <p:nvSpPr>
          <p:cNvPr id="9" name="text-103">
            <a:extLst xmlns:a="http://schemas.openxmlformats.org/drawingml/2006/main">
              <a:ext uri="{FF2B5EF4-FFF2-40B4-BE49-F238E27FC236}">
                <a16:creationId xmlns:a16="http://schemas.microsoft.com/office/drawing/2014/main" id="{3DA3A1EB-243E-4684-9A71-8AC56D3F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Live on Twitch and VODs</a:t>
            </a:r>
          </a:p>
        </p:txBody>
      </p:sp>
      <p:sp>
        <p:nvSpPr>
          <p:cNvPr id="10" name="text-104">
            <a:extLst xmlns:a="http://schemas.openxmlformats.org/drawingml/2006/main">
              <a:ext uri="{FF2B5EF4-FFF2-40B4-BE49-F238E27FC236}">
                <a16:creationId xmlns:a16="http://schemas.microsoft.com/office/drawing/2014/main" id="{695FF76E-39FE-43ED-8935-1BFB07DC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 (long-form videos)</a:t>
            </a:r>
          </a:p>
        </p:txBody>
      </p:sp>
      <p:sp>
        <p:nvSpPr>
          <p:cNvPr id="11" name="text-105">
            <a:extLst xmlns:a="http://schemas.openxmlformats.org/drawingml/2006/main">
              <a:ext uri="{FF2B5EF4-FFF2-40B4-BE49-F238E27FC236}">
                <a16:creationId xmlns:a16="http://schemas.microsoft.com/office/drawing/2014/main" id="{6FD53539-7AE2-4DC8-9327-69CC54B3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Illustrated campaigns</a:t>
            </a:r>
          </a:p>
        </p:txBody>
      </p:sp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D8F2D2F4-227F-4BCE-A89C-5C08AE45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336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Test illustrations for products, traditional or digital.</a:t>
            </a:r>
          </a:p>
        </p:txBody>
      </p:sp>
      <p:sp>
        <p:nvSpPr>
          <p:cNvPr id="13" name="text-107">
            <a:extLst xmlns:a="http://schemas.openxmlformats.org/drawingml/2006/main">
              <a:ext uri="{FF2B5EF4-FFF2-40B4-BE49-F238E27FC236}">
                <a16:creationId xmlns:a16="http://schemas.microsoft.com/office/drawing/2014/main" id="{E141DD22-ED5D-4430-BCA2-C951DC3A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813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Reviews &amp; giveaways</a:t>
            </a:r>
          </a:p>
        </p:txBody>
      </p:sp>
      <p:sp>
        <p:nvSpPr>
          <p:cNvPr id="14" name="text-108">
            <a:extLst xmlns:a="http://schemas.openxmlformats.org/drawingml/2006/main">
              <a:ext uri="{FF2B5EF4-FFF2-40B4-BE49-F238E27FC236}">
                <a16:creationId xmlns:a16="http://schemas.microsoft.com/office/drawing/2014/main" id="{2D6C966E-44F9-4D62-91CD-4314357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052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Product reviews and giveaways for her community, as in the XP-Pen partnership.</a:t>
            </a:r>
          </a:p>
        </p:txBody>
      </p:sp>
      <p:sp>
        <p:nvSpPr>
          <p:cNvPr id="15" name="text-109">
            <a:extLst xmlns:a="http://schemas.openxmlformats.org/drawingml/2006/main">
              <a:ext uri="{FF2B5EF4-FFF2-40B4-BE49-F238E27FC236}">
                <a16:creationId xmlns:a16="http://schemas.microsoft.com/office/drawing/2014/main" id="{9A8D85D5-4B3E-467C-815E-78BD7AFE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529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Process content</a:t>
            </a:r>
          </a:p>
        </p:txBody>
      </p:sp>
      <p:sp>
        <p:nvSpPr>
          <p:cNvPr id="16" name="text-110">
            <a:extLst xmlns:a="http://schemas.openxmlformats.org/drawingml/2006/main">
              <a:ext uri="{FF2B5EF4-FFF2-40B4-BE49-F238E27FC236}">
                <a16:creationId xmlns:a16="http://schemas.microsoft.com/office/drawing/2014/main" id="{988E230F-6D88-47BC-BFE9-E24E7CB5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Sketches, timelapses and making-of for Instagram and YouTube.</a:t>
            </a:r>
          </a:p>
        </p:txBody>
      </p:sp>
    </p:spTree>
    <p:extLst>
      <p:ext uri="{BB962C8B-B14F-4D97-AF65-F5344CB8AC3E}">
        <p14:creationId xmlns:p14="http://schemas.microsoft.com/office/powerpoint/2010/main" val="1567230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11">
            <a:extLst xmlns:a="http://schemas.openxmlformats.org/drawingml/2006/main">
              <a:ext uri="{FF2B5EF4-FFF2-40B4-BE49-F238E27FC236}">
                <a16:creationId xmlns:a16="http://schemas.microsoft.com/office/drawing/2014/main" id="{DC229D87-047C-4F5F-BEC9-FB45D0E7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12">
            <a:extLst xmlns:a="http://schemas.openxmlformats.org/drawingml/2006/main">
              <a:ext uri="{FF2B5EF4-FFF2-40B4-BE49-F238E27FC236}">
                <a16:creationId xmlns:a16="http://schemas.microsoft.com/office/drawing/2014/main" id="{AA756DFC-732C-4755-95B5-32EB35CE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13">
            <a:extLst xmlns:a="http://schemas.openxmlformats.org/drawingml/2006/main">
              <a:ext uri="{FF2B5EF4-FFF2-40B4-BE49-F238E27FC236}">
                <a16:creationId xmlns:a16="http://schemas.microsoft.com/office/drawing/2014/main" id="{6C023763-7B68-4B5D-9CAD-E03C99FE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XP-Pen · Deco 03 review &amp; giveaway</a:t>
            </a:r>
          </a:p>
        </p:txBody>
      </p:sp>
      <p:sp>
        <p:nvSpPr>
          <p:cNvPr id="4" name="text-114">
            <a:extLst xmlns:a="http://schemas.openxmlformats.org/drawingml/2006/main">
              <a:ext uri="{FF2B5EF4-FFF2-40B4-BE49-F238E27FC236}">
                <a16:creationId xmlns:a16="http://schemas.microsoft.com/office/drawing/2014/main" id="{3B44B315-4553-4415-86F2-92CF789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5" name="text-115">
            <a:extLst xmlns:a="http://schemas.openxmlformats.org/drawingml/2006/main">
              <a:ext uri="{FF2B5EF4-FFF2-40B4-BE49-F238E27FC236}">
                <a16:creationId xmlns:a16="http://schemas.microsoft.com/office/drawing/2014/main" id="{45D9441B-8060-4C02-9E6F-4F6CC003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June – July 2021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627EB-70F5-4A6D-AB7D-DF4E3B4AE6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77e219de04440"/>
          <a:stretch xmlns:a="http://schemas.openxmlformats.org/drawingml/2006/main"/>
        </p:blipFill>
        <p:spPr>
          <a:xfrm xmlns:a="http://schemas.openxmlformats.org/drawingml/2006/main">
            <a:off x="609600" y="2116998"/>
            <a:ext cx="4819650" cy="3243129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A0F89-5F71-4C93-92EA-8E4301BDAF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257fe1bb247ef"/>
          <a:stretch xmlns:a="http://schemas.openxmlformats.org/drawingml/2006/main"/>
        </p:blipFill>
        <p:spPr>
          <a:xfrm xmlns:a="http://schemas.openxmlformats.org/drawingml/2006/main">
            <a:off x="3746183" y="4657725"/>
            <a:ext cx="1680210" cy="1200150"/>
          </a:xfrm>
          <a:prstGeom xmlns:a="http://schemas.openxmlformats.org/drawingml/2006/main" prst="rect">
            <a:avLst/>
          </a:prstGeom>
        </p:spPr>
      </p:pic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897F1C62-DD86-44D4-BB33-BDF87E36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Frame from the YouTube video</a:t>
            </a:r>
          </a:p>
        </p:txBody>
      </p:sp>
      <p:sp>
        <p:nvSpPr>
          <p:cNvPr id="9" name="text-117">
            <a:extLst xmlns:a="http://schemas.openxmlformats.org/drawingml/2006/main">
              <a:ext uri="{FF2B5EF4-FFF2-40B4-BE49-F238E27FC236}">
                <a16:creationId xmlns:a16="http://schemas.microsoft.com/office/drawing/2014/main" id="{6D4EDB00-15E5-4B24-B623-10981D0D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097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Product tester, reviewer and content creator. XP-Pen Brasil sent the tablet and she sent them her feedback.</a:t>
            </a:r>
          </a:p>
        </p:txBody>
      </p:sp>
      <p:sp>
        <p:nvSpPr>
          <p:cNvPr id="10" name="text-118">
            <a:extLst xmlns:a="http://schemas.openxmlformats.org/drawingml/2006/main">
              <a:ext uri="{FF2B5EF4-FFF2-40B4-BE49-F238E27FC236}">
                <a16:creationId xmlns:a16="http://schemas.microsoft.com/office/drawing/2014/main" id="{FB491E8E-E44C-4B40-B770-0FC69068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Deliverables</a:t>
            </a:r>
          </a:p>
        </p:txBody>
      </p:sp>
      <p:sp>
        <p:nvSpPr>
          <p:cNvPr id="11" name="text-119">
            <a:extLst xmlns:a="http://schemas.openxmlformats.org/drawingml/2006/main">
              <a:ext uri="{FF2B5EF4-FFF2-40B4-BE49-F238E27FC236}">
                <a16:creationId xmlns:a16="http://schemas.microsoft.com/office/drawing/2014/main" id="{75066D12-63EC-4001-9BFD-9300FCC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Instagram reel announcing the review and giveaway; YouTube video (9:53) with the XP-Pen Deco 03 review and a Yone fan art sketch; tablet giveaway with exclusive art; discount code for her audience.</a:t>
            </a:r>
          </a:p>
        </p:txBody>
      </p:sp>
      <p:sp>
        <p:nvSpPr>
          <p:cNvPr id="12" name="text-120">
            <a:extLst xmlns:a="http://schemas.openxmlformats.org/drawingml/2006/main">
              <a:ext uri="{FF2B5EF4-FFF2-40B4-BE49-F238E27FC236}">
                <a16:creationId xmlns:a16="http://schemas.microsoft.com/office/drawing/2014/main" id="{5D34C92E-0D19-4A7A-AC7A-226AA168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Results</a:t>
            </a:r>
          </a:p>
        </p:txBody>
      </p:sp>
      <p:sp>
        <p:nvSpPr>
          <p:cNvPr id="13" name="text-121">
            <a:extLst xmlns:a="http://schemas.openxmlformats.org/drawingml/2006/main">
              <a:ext uri="{FF2B5EF4-FFF2-40B4-BE49-F238E27FC236}">
                <a16:creationId xmlns:a16="http://schemas.microsoft.com/office/drawing/2014/main" id="{B28EA89E-C169-4BA2-89DD-B1E458B6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24475"/>
            <a:ext cx="552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YouTube: 3.2K views, 161 likes. Instagram reel: 221 likes, 10 comments (Oct 2026).</a:t>
            </a:r>
          </a:p>
        </p:txBody>
      </p:sp>
      <p:sp>
        <p:nvSpPr>
          <p:cNvPr id="14" name="text-122">
            <a:extLst xmlns:a="http://schemas.openxmlformats.org/drawingml/2006/main">
              <a:ext uri="{FF2B5EF4-FFF2-40B4-BE49-F238E27FC236}">
                <a16:creationId xmlns:a16="http://schemas.microsoft.com/office/drawing/2014/main" id="{60602A11-5A86-4403-AA46-8DC5E310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b803a3bf534d4d86"/>
              </a:rPr>
              <a:t>YouTube</a:t>
            </a:r>
          </a:p>
        </p:txBody>
      </p:sp>
      <p:sp>
        <p:nvSpPr>
          <p:cNvPr id="15" name="text-123">
            <a:extLst xmlns:a="http://schemas.openxmlformats.org/drawingml/2006/main">
              <a:ext uri="{FF2B5EF4-FFF2-40B4-BE49-F238E27FC236}">
                <a16:creationId xmlns:a16="http://schemas.microsoft.com/office/drawing/2014/main" id="{41985280-DD60-4E6D-AED0-92D8BEEA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cada429be12b4324"/>
              </a:rPr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12117950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4">
            <a:extLst xmlns:a="http://schemas.openxmlformats.org/drawingml/2006/main">
              <a:ext uri="{FF2B5EF4-FFF2-40B4-BE49-F238E27FC236}">
                <a16:creationId xmlns:a16="http://schemas.microsoft.com/office/drawing/2014/main" id="{E21DF932-AC0D-4061-8C97-832F4B4B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25">
            <a:extLst xmlns:a="http://schemas.openxmlformats.org/drawingml/2006/main">
              <a:ext uri="{FF2B5EF4-FFF2-40B4-BE49-F238E27FC236}">
                <a16:creationId xmlns:a16="http://schemas.microsoft.com/office/drawing/2014/main" id="{B7C04C55-849E-443A-8A1C-987F5C17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text-126">
            <a:extLst xmlns:a="http://schemas.openxmlformats.org/drawingml/2006/main">
              <a:ext uri="{FF2B5EF4-FFF2-40B4-BE49-F238E27FC236}">
                <a16:creationId xmlns:a16="http://schemas.microsoft.com/office/drawing/2014/main" id="{EE22D49E-38BC-4C89-AC4F-3B91D8B2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Contact</a:t>
            </a:r>
          </a:p>
        </p:txBody>
      </p:sp>
      <p:sp>
        <p:nvSpPr>
          <p:cNvPr id="4" name="text-127">
            <a:extLst xmlns:a="http://schemas.openxmlformats.org/drawingml/2006/main">
              <a:ext uri="{FF2B5EF4-FFF2-40B4-BE49-F238E27FC236}">
                <a16:creationId xmlns:a16="http://schemas.microsoft.com/office/drawing/2014/main" id="{94449977-98E4-4DC0-926D-5F525595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5" name="text-128">
            <a:extLst xmlns:a="http://schemas.openxmlformats.org/drawingml/2006/main">
              <a:ext uri="{FF2B5EF4-FFF2-40B4-BE49-F238E27FC236}">
                <a16:creationId xmlns:a16="http://schemas.microsoft.com/office/drawing/2014/main" id="{44B019AA-255B-448A-9BA0-225BC995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How to start</a:t>
            </a:r>
          </a:p>
        </p:txBody>
      </p:sp>
      <p:sp>
        <p:nvSpPr>
          <p:cNvPr id="6" name="text-129">
            <a:extLst xmlns:a="http://schemas.openxmlformats.org/drawingml/2006/main">
              <a:ext uri="{FF2B5EF4-FFF2-40B4-BE49-F238E27FC236}">
                <a16:creationId xmlns:a16="http://schemas.microsoft.com/office/drawing/2014/main" id="{76342ACF-1DC3-494B-80D3-7A653390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286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Send a short brief with goals, deliverables, timeline and budget to the e-mail below.</a:t>
            </a:r>
          </a:p>
        </p:txBody>
      </p:sp>
      <p:sp>
        <p:nvSpPr>
          <p:cNvPr id="7" name="text-130">
            <a:extLst xmlns:a="http://schemas.openxmlformats.org/drawingml/2006/main">
              <a:ext uri="{FF2B5EF4-FFF2-40B4-BE49-F238E27FC236}">
                <a16:creationId xmlns:a16="http://schemas.microsoft.com/office/drawing/2014/main" id="{886CBE18-4560-421E-ABBF-86A42A6B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48e7aa9757b14cb3"/>
              </a:rPr>
              <a:t>giumsart@gmail.com</a:t>
            </a:r>
          </a:p>
        </p:txBody>
      </p:sp>
      <p:sp>
        <p:nvSpPr>
          <p:cNvPr id="8" name="text-131">
            <a:extLst xmlns:a="http://schemas.openxmlformats.org/drawingml/2006/main">
              <a:ext uri="{FF2B5EF4-FFF2-40B4-BE49-F238E27FC236}">
                <a16:creationId xmlns:a16="http://schemas.microsoft.com/office/drawing/2014/main" id="{17C3EEB3-B5CA-498F-83CA-1D272BF3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4581c3307ac246eb"/>
              </a:rPr>
              <a:t>giums.onrender.com</a:t>
            </a:r>
          </a:p>
        </p:txBody>
      </p:sp>
      <p:sp>
        <p:nvSpPr>
          <p:cNvPr id="9" name="text-132">
            <a:extLst xmlns:a="http://schemas.openxmlformats.org/drawingml/2006/main">
              <a:ext uri="{FF2B5EF4-FFF2-40B4-BE49-F238E27FC236}">
                <a16:creationId xmlns:a16="http://schemas.microsoft.com/office/drawing/2014/main" id="{3ABA1BDA-C22D-4C5F-92C7-0213F48E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6dd87dea09d645ab"/>
              </a:rPr>
              <a:t>@giums</a:t>
            </a:r>
          </a:p>
        </p:txBody>
      </p:sp>
      <p:sp>
        <p:nvSpPr>
          <p:cNvPr id="10" name="text-133">
            <a:extLst xmlns:a="http://schemas.openxmlformats.org/drawingml/2006/main">
              <a:ext uri="{FF2B5EF4-FFF2-40B4-BE49-F238E27FC236}">
                <a16:creationId xmlns:a16="http://schemas.microsoft.com/office/drawing/2014/main" id="{031CC63F-BEAD-4721-950E-28235CF4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fe62dc73579944d3"/>
              </a:rPr>
              <a:t>@giums.bsky.social</a:t>
            </a:r>
          </a:p>
        </p:txBody>
      </p:sp>
      <p:sp>
        <p:nvSpPr>
          <p:cNvPr id="11" name="text-134">
            <a:extLst xmlns:a="http://schemas.openxmlformats.org/drawingml/2006/main">
              <a:ext uri="{FF2B5EF4-FFF2-40B4-BE49-F238E27FC236}">
                <a16:creationId xmlns:a16="http://schemas.microsoft.com/office/drawing/2014/main" id="{B0342F76-8E4F-4B1D-93C5-64ED0DDA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f388347cf3b547c9"/>
              </a:rPr>
              <a:t>@GIUMSyt</a:t>
            </a:r>
          </a:p>
        </p:txBody>
      </p:sp>
      <p:sp>
        <p:nvSpPr>
          <p:cNvPr id="12" name="text-135">
            <a:extLst xmlns:a="http://schemas.openxmlformats.org/drawingml/2006/main">
              <a:ext uri="{FF2B5EF4-FFF2-40B4-BE49-F238E27FC236}">
                <a16:creationId xmlns:a16="http://schemas.microsoft.com/office/drawing/2014/main" id="{E220566E-AE9B-4A52-81AF-1C268522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59e24c0143b64e43"/>
              </a:rPr>
              <a:t>twitch.tv/giums</a:t>
            </a:r>
          </a:p>
        </p:txBody>
      </p:sp>
      <p:sp>
        <p:nvSpPr>
          <p:cNvPr id="13" name="text-136">
            <a:extLst xmlns:a="http://schemas.openxmlformats.org/drawingml/2006/main">
              <a:ext uri="{FF2B5EF4-FFF2-40B4-BE49-F238E27FC236}">
                <a16:creationId xmlns:a16="http://schemas.microsoft.com/office/drawing/2014/main" id="{427603CE-52CC-4D67-8D03-75E66B3B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82095f61abcd4f05"/>
              </a:rPr>
              <a:t>patreon.com/giums</a:t>
            </a:r>
          </a:p>
        </p:txBody>
      </p:sp>
      <p:sp>
        <p:nvSpPr>
          <p:cNvPr id="14" name="text-137">
            <a:extLst xmlns:a="http://schemas.openxmlformats.org/drawingml/2006/main">
              <a:ext uri="{FF2B5EF4-FFF2-40B4-BE49-F238E27FC236}">
                <a16:creationId xmlns:a16="http://schemas.microsoft.com/office/drawing/2014/main" id="{89F17BC6-E892-4149-80FF-8341945A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52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Usage rights</a:t>
            </a:r>
          </a:p>
        </p:txBody>
      </p:sp>
      <p:sp>
        <p:nvSpPr>
          <p:cNvPr id="15" name="text-138">
            <a:extLst xmlns:a="http://schemas.openxmlformats.org/drawingml/2006/main">
              <a:ext uri="{FF2B5EF4-FFF2-40B4-BE49-F238E27FC236}">
                <a16:creationId xmlns:a16="http://schemas.microsoft.com/office/drawing/2014/main" id="{772B7199-8D1A-4181-AA28-13A757E8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95550"/>
            <a:ext cx="342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Commercial use and reuploads require the artist's permission; terms are agreed per project.</a:t>
            </a:r>
          </a:p>
        </p:txBody>
      </p:sp>
      <p:sp>
        <p:nvSpPr>
          <p:cNvPr id="16" name="text-139">
            <a:extLst xmlns:a="http://schemas.openxmlformats.org/drawingml/2006/main">
              <a:ext uri="{FF2B5EF4-FFF2-40B4-BE49-F238E27FC236}">
                <a16:creationId xmlns:a16="http://schemas.microsoft.com/office/drawing/2014/main" id="{B4469BFF-8CF5-4A36-9C38-0C5A317F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35292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Using the artwork — including for similar-looking OCs — is not allowed.</a:t>
            </a:r>
          </a:p>
        </p:txBody>
      </p:sp>
    </p:spTree>
    <p:extLst>
      <p:ext uri="{BB962C8B-B14F-4D97-AF65-F5344CB8AC3E}">
        <p14:creationId xmlns:p14="http://schemas.microsoft.com/office/powerpoint/2010/main" val="20006531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2026-10-16T23:18:08.0640000Z</dcterms:created>
  <dcterms:modified xsi:type="dcterms:W3CDTF">2026-10-16T23:18:08.0640000Z</dcterms:modified>
</coreProperties>
</file>