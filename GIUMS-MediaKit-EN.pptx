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67424f18174596" /><Relationship Type="http://schemas.openxmlformats.org/officeDocument/2006/relationships/extended-properties" Target="/docProps/app.xml" Id="R2f4e446fa5f6475f" /><Relationship Type="http://schemas.openxmlformats.org/officeDocument/2006/relationships/officeDocument" Target="/ppt/presentation.xml" Id="Re3ffc099342748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e40e531e424442"/>
  </p:sldMasterIdLst>
  <p:notesMasterIdLst>
    <p:notesMasterId xmlns:r="http://schemas.openxmlformats.org/officeDocument/2006/relationships" r:id="R20316c43ebf94eed"/>
  </p:notesMasterIdLst>
  <p:sldIdLst>
    <p:sldId xmlns:r="http://schemas.openxmlformats.org/officeDocument/2006/relationships" id="256" r:id="R4c40485d89134a70"/>
    <p:sldId xmlns:r="http://schemas.openxmlformats.org/officeDocument/2006/relationships" id="257" r:id="R74d519955ba645dc"/>
    <p:sldId xmlns:r="http://schemas.openxmlformats.org/officeDocument/2006/relationships" id="258" r:id="R286effb04f5b4b88"/>
    <p:sldId xmlns:r="http://schemas.openxmlformats.org/officeDocument/2006/relationships" id="259" r:id="R4126a5ff220d4e74"/>
    <p:sldId xmlns:r="http://schemas.openxmlformats.org/officeDocument/2006/relationships" id="260" r:id="Rd0af78352d2c4933"/>
    <p:sldId xmlns:r="http://schemas.openxmlformats.org/officeDocument/2006/relationships" id="261" r:id="R61b42446034342e0"/>
    <p:sldId xmlns:r="http://schemas.openxmlformats.org/officeDocument/2006/relationships" id="262" r:id="R5853756a9c8a421c"/>
    <p:sldId xmlns:r="http://schemas.openxmlformats.org/officeDocument/2006/relationships" id="263" r:id="Rf133ccb041684c45"/>
    <p:sldId xmlns:r="http://schemas.openxmlformats.org/officeDocument/2006/relationships" id="264" r:id="Rfcfe2899185946e4"/>
    <p:sldId xmlns:r="http://schemas.openxmlformats.org/officeDocument/2006/relationships" id="265" r:id="R15b0868535ca42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9f0fb9f9074740" /><Relationship Type="http://schemas.openxmlformats.org/officeDocument/2006/relationships/slideMaster" Target="/ppt/slideMasters/slideMaster1.xml" Id="R57e40e531e424442" /><Relationship Type="http://schemas.openxmlformats.org/officeDocument/2006/relationships/notesMaster" Target="/ppt/notesMasters/notesMaster1.xml" Id="R20316c43ebf94eed" /><Relationship Type="http://schemas.openxmlformats.org/officeDocument/2006/relationships/presProps" Target="/ppt/presProps.xml" Id="R46c85ba7cf134123" /><Relationship Type="http://schemas.openxmlformats.org/officeDocument/2006/relationships/tableStyles" Target="/ppt/tableStyles.xml" Id="R8cc09fc4fe234c54" /><Relationship Type="http://schemas.openxmlformats.org/officeDocument/2006/relationships/slide" Target="/ppt/slides/slide1.xml" Id="R4c40485d89134a70" /><Relationship Type="http://schemas.openxmlformats.org/officeDocument/2006/relationships/slide" Target="/ppt/slides/slide2.xml" Id="R74d519955ba645dc" /><Relationship Type="http://schemas.openxmlformats.org/officeDocument/2006/relationships/slide" Target="/ppt/slides/slide3.xml" Id="R286effb04f5b4b88" /><Relationship Type="http://schemas.openxmlformats.org/officeDocument/2006/relationships/slide" Target="/ppt/slides/slide4.xml" Id="R4126a5ff220d4e74" /><Relationship Type="http://schemas.openxmlformats.org/officeDocument/2006/relationships/slide" Target="/ppt/slides/slide5.xml" Id="Rd0af78352d2c4933" /><Relationship Type="http://schemas.openxmlformats.org/officeDocument/2006/relationships/slide" Target="/ppt/slides/slide6.xml" Id="R61b42446034342e0" /><Relationship Type="http://schemas.openxmlformats.org/officeDocument/2006/relationships/slide" Target="/ppt/slides/slide7.xml" Id="R5853756a9c8a421c" /><Relationship Type="http://schemas.openxmlformats.org/officeDocument/2006/relationships/slide" Target="/ppt/slides/slide8.xml" Id="Rf133ccb041684c45" /><Relationship Type="http://schemas.openxmlformats.org/officeDocument/2006/relationships/slide" Target="/ppt/slides/slide9.xml" Id="Rfcfe2899185946e4" /><Relationship Type="http://schemas.openxmlformats.org/officeDocument/2006/relationships/slide" Target="/ppt/slides/slide10.xml" Id="R15b0868535ca42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fbd2b00654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7eff69537447d6" /><Relationship Type="http://schemas.openxmlformats.org/officeDocument/2006/relationships/notesMaster" Target="/ppt/notesMasters/notesMaster1.xml" Id="R92242682c8254d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7f4813b7e14bb4" /><Relationship Type="http://schemas.openxmlformats.org/officeDocument/2006/relationships/notesMaster" Target="/ppt/notesMasters/notesMaster1.xml" Id="R81e20ceedb474e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ef17f1122f488e" /><Relationship Type="http://schemas.openxmlformats.org/officeDocument/2006/relationships/notesMaster" Target="/ppt/notesMasters/notesMaster1.xml" Id="Ra7719372357048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390ca68ff84700" /><Relationship Type="http://schemas.openxmlformats.org/officeDocument/2006/relationships/notesMaster" Target="/ppt/notesMasters/notesMaster1.xml" Id="R6960423abd7f45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f21db9fc754e9a" /><Relationship Type="http://schemas.openxmlformats.org/officeDocument/2006/relationships/notesMaster" Target="/ppt/notesMasters/notesMaster1.xml" Id="R34dfb5de13b04d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21d3d34e1a4239" /><Relationship Type="http://schemas.openxmlformats.org/officeDocument/2006/relationships/notesMaster" Target="/ppt/notesMasters/notesMaster1.xml" Id="Raaa2bc2c32a643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d5fcee64d74612" /><Relationship Type="http://schemas.openxmlformats.org/officeDocument/2006/relationships/notesMaster" Target="/ppt/notesMasters/notesMaster1.xml" Id="R5d74ba5e7a394a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7939c6d8a6412a" /><Relationship Type="http://schemas.openxmlformats.org/officeDocument/2006/relationships/notesMaster" Target="/ppt/notesMasters/notesMaster1.xml" Id="R98230d238c8a4b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2a67cf636a49b7" /><Relationship Type="http://schemas.openxmlformats.org/officeDocument/2006/relationships/notesMaster" Target="/ppt/notesMasters/notesMaster1.xml" Id="R075982e9333243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e957797fb94be3" /><Relationship Type="http://schemas.openxmlformats.org/officeDocument/2006/relationships/notesMaster" Target="/ppt/notesMasters/notesMaster1.xml" Id="R1dea38cedb2649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reproduced from the original website composition. Source: https://github.com/Biieru/GIUMS.Mediakit (index.html, css/style.css, js/brand.js, assets).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https://github.com/Biieru/GIUMS.Mediakit (index.html, js/brand.js, assets). Audience figures: October 2026, as supplied in the media kit.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https://github.com/Biieru/GIUMS.Mediakit (index.html, js/brand.js, assets). Audience figures: October 2026, as supplied in the media kit.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https://github.com/Biieru/GIUMS.Mediakit (index.html, js/brand.js, assets). Audience figures: October 2026, as supplied in the media kit.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https://github.com/Biieru/GIUMS.Mediakit (index.html, js/brand.js, assets). Audience figures: October 2026, as supplied in the media kit.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https://github.com/Biieru/GIUMS.Mediakit (index.html, js/brand.js, assets). Audience figures: October 2026, as supplied in the media kit.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https://github.com/Biieru/GIUMS.Mediakit (index.html, js/brand.js, assets). Audience figures: October 2026, as supplied in the media kit.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https://github.com/Biieru/GIUMS.Mediakit (index.html, js/brand.js, assets). Audience figures: October 2026, as supplied in the media kit.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https://github.com/Biieru/GIUMS.Mediakit (index.html, js/brand.js, assets). Audience figures: October 2026, as supplied in the media kit.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https://github.com/Biieru/GIUMS.Mediakit (index.html, js/brand.js, assets). Audience figures: October 2026, as supplied in the media kit.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c85c5c89640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37aaac0ac4d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2280d57194a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027717fa94b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05b2c39634a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41a7b45dc46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074A18-28F4-4AC9-9944-CCAFDBA283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10948E-B82C-4DB3-9548-80E7964CAA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A1B9B7-83AB-41E8-8C58-7AAD99DC38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E22794-D2E4-42BF-AF4B-8058EFFEC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2424B2-A7F8-46A4-902C-72BDF86389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083569-92C5-4136-9E0C-F32F6EFD9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B3A928-3CCC-4835-812F-D6064ADA18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A10B98E-0A76-4446-8C39-9BA988A905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5DD4B0-4AB7-4E48-9628-5BFAA86B4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75BA9C-794F-4220-9C68-FC3AE4EDFC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0b1546012c4f71" /><Relationship Type="http://schemas.openxmlformats.org/officeDocument/2006/relationships/slideLayout" Target="/ppt/slideLayouts/slideLayout1.xml" Id="R9077d778cad64cb6" /><Relationship Type="http://schemas.openxmlformats.org/officeDocument/2006/relationships/slideLayout" Target="/ppt/slideLayouts/slideLayout2.xml" Id="Rfe117b49ce954f93" /><Relationship Type="http://schemas.openxmlformats.org/officeDocument/2006/relationships/slideLayout" Target="/ppt/slideLayouts/slideLayout3.xml" Id="R1aea2f2b24054722" /><Relationship Type="http://schemas.openxmlformats.org/officeDocument/2006/relationships/slideLayout" Target="/ppt/slideLayouts/slideLayout4.xml" Id="R6e6f705b6b0740db" /><Relationship Type="http://schemas.openxmlformats.org/officeDocument/2006/relationships/slideLayout" Target="/ppt/slideLayouts/slideLayout5.xml" Id="R1a7f1bbfa7cb4acf" /><Relationship Type="http://schemas.openxmlformats.org/officeDocument/2006/relationships/slideLayout" Target="/ppt/slideLayouts/slideLayout6.xml" Id="Rea2b4656b16b45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77d778cad64cb6"/>
    <p:sldLayoutId xmlns:r="http://schemas.openxmlformats.org/officeDocument/2006/relationships" id="2147483650" r:id="Rfe117b49ce954f93"/>
    <p:sldLayoutId xmlns:r="http://schemas.openxmlformats.org/officeDocument/2006/relationships" id="2147483651" r:id="R1aea2f2b24054722"/>
    <p:sldLayoutId xmlns:r="http://schemas.openxmlformats.org/officeDocument/2006/relationships" id="2147483652" r:id="R6e6f705b6b0740db"/>
    <p:sldLayoutId xmlns:r="http://schemas.openxmlformats.org/officeDocument/2006/relationships" id="2147483653" r:id="R1a7f1bbfa7cb4acf"/>
    <p:sldLayoutId xmlns:r="http://schemas.openxmlformats.org/officeDocument/2006/relationships" id="2147483654" r:id="Rea2b4656b16b45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d54f499ab41de" /><Relationship Type="http://schemas.openxmlformats.org/officeDocument/2006/relationships/image" Target="/ppt/media/image.jpeg" Id="Rc578ae5d42384483" /><Relationship Type="http://schemas.openxmlformats.org/officeDocument/2006/relationships/notesSlide" Target="/ppt/notesSlides/notesSlide1.xml" Id="Ra2925c64275649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7b7bee4a446da" /><Relationship Type="http://schemas.openxmlformats.org/officeDocument/2006/relationships/image" Target="/ppt/media/image.png" Id="R2df65e1c98324e83" /><Relationship Type="http://schemas.openxmlformats.org/officeDocument/2006/relationships/notesSlide" Target="/ppt/notesSlides/notesSlide2.xml" Id="Rc5161076fd5d47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eb89c85d144f4" /><Relationship Type="http://schemas.openxmlformats.org/officeDocument/2006/relationships/notesSlide" Target="/ppt/notesSlides/notesSlide3.xml" Id="R1ed6ea56649e48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72ac8b96ac41b5" /><Relationship Type="http://schemas.openxmlformats.org/officeDocument/2006/relationships/hyperlink" Target="https://www.patreon.com/giums" TargetMode="External" Id="R772592cc61e043e8" /><Relationship Type="http://schemas.openxmlformats.org/officeDocument/2006/relationships/image" Target="/ppt/media/image2.png" Id="R999c44127a8f4aa3" /><Relationship Type="http://schemas.openxmlformats.org/officeDocument/2006/relationships/image" Target="/ppt/media/image3.png" Id="R79f341a1671e46a1" /><Relationship Type="http://schemas.openxmlformats.org/officeDocument/2006/relationships/image" Target="/ppt/media/image4.png" Id="R921bb5dbd63345cc" /><Relationship Type="http://schemas.openxmlformats.org/officeDocument/2006/relationships/notesSlide" Target="/ppt/notesSlides/notesSlide4.xml" Id="R9aab13d12abd43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83441091a45fe" /><Relationship Type="http://schemas.openxmlformats.org/officeDocument/2006/relationships/notesSlide" Target="/ppt/notesSlides/notesSlide5.xml" Id="R18472ed6d63349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703812f7064fa1" /><Relationship Type="http://schemas.openxmlformats.org/officeDocument/2006/relationships/notesSlide" Target="/ppt/notesSlides/notesSlide6.xml" Id="R580a46983a3c42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acfb9b8f814333" /><Relationship Type="http://schemas.openxmlformats.org/officeDocument/2006/relationships/notesSlide" Target="/ppt/notesSlides/notesSlide7.xml" Id="R1bbe1b1486e744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44de211c5143bc" /><Relationship Type="http://schemas.openxmlformats.org/officeDocument/2006/relationships/notesSlide" Target="/ppt/notesSlides/notesSlide8.xml" Id="R45ebe0f323744b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36172864e74abd" /><Relationship Type="http://schemas.openxmlformats.org/officeDocument/2006/relationships/image" Target="/ppt/media/image5.png" Id="R34806c57809e42fc" /><Relationship Type="http://schemas.openxmlformats.org/officeDocument/2006/relationships/image" Target="/ppt/media/image6.png" Id="R3a6040aae6e045ca" /><Relationship Type="http://schemas.openxmlformats.org/officeDocument/2006/relationships/hyperlink" Target="https://youtu.be/1wZL_RG2Ma4" TargetMode="External" Id="R93f50b8ed4e64756" /><Relationship Type="http://schemas.openxmlformats.org/officeDocument/2006/relationships/hyperlink" Target="https://www.instagram.com/reels/CQjiu2mBFcf/" TargetMode="External" Id="R9412f077344a4b50" /><Relationship Type="http://schemas.openxmlformats.org/officeDocument/2006/relationships/notesSlide" Target="/ppt/notesSlides/notesSlide9.xml" Id="Raea8a819dfb742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df9e7b04384a02" /><Relationship Type="http://schemas.openxmlformats.org/officeDocument/2006/relationships/hyperlink" Target="mailto:giumsart@gmail.com" TargetMode="External" Id="Ra85f08dd3b6746b1" /><Relationship Type="http://schemas.openxmlformats.org/officeDocument/2006/relationships/hyperlink" Target="https://giums.onrender.com" TargetMode="External" Id="R2a408c1b3efa4413" /><Relationship Type="http://schemas.openxmlformats.org/officeDocument/2006/relationships/hyperlink" Target="https://www.instagram.com/giums/" TargetMode="External" Id="R28717030f470431e" /><Relationship Type="http://schemas.openxmlformats.org/officeDocument/2006/relationships/hyperlink" Target="https://bsky.app/profile/giums.bsky.social" TargetMode="External" Id="R28c826b9450a4f4b" /><Relationship Type="http://schemas.openxmlformats.org/officeDocument/2006/relationships/hyperlink" Target="https://www.youtube.com/@GIUMSyt" TargetMode="External" Id="R708dfc3bc70c4a8b" /><Relationship Type="http://schemas.openxmlformats.org/officeDocument/2006/relationships/hyperlink" Target="https://www.twitch.tv/giums" TargetMode="External" Id="Rb86a8c227fd54559" /><Relationship Type="http://schemas.openxmlformats.org/officeDocument/2006/relationships/hyperlink" Target="https://www.patreon.com/giums" TargetMode="External" Id="R00285faa0eae42ad" /><Relationship Type="http://schemas.openxmlformats.org/officeDocument/2006/relationships/notesSlide" Target="/ppt/notesSlides/notesSlide10.xml" Id="R6eb8e3c4d7bb40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6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2A183-C556-4FF5-BD66-B1131A0A60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8ae5d42384483"/>
          <a:stretch xmlns:a="http://schemas.openxmlformats.org/drawingml/2006/main"/>
        </p:blipFill>
        <p:spPr>
          <a:xfrm xmlns:a="http://schemas.openxmlformats.org/drawingml/2006/main">
            <a:off x="0" y="265800"/>
            <a:ext cx="12192000" cy="6326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59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D0A74FA6-68AF-404D-86DA-212C548C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GIUMS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21B263D-175F-4A6D-ABAC-CD2C32E0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MEDIA KIT · BRANDS &amp; PARTNERSHIPS · 2026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D5B0EF1-2CFF-4D86-9F5B-2E46EDC9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Who she is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79BD9FF-C9CE-4CA0-A608-57C98E9A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F961C-B959-4B20-8DE1-0D28A9E6AA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65e1c98324e83"/>
          <a:srcRect xmlns:a="http://schemas.openxmlformats.org/drawingml/2006/main" l="0" t="4591" r="0" b="4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0225"/>
            <a:ext cx="2619375" cy="4229100"/>
          </a:xfrm>
          <a:prstGeom xmlns:a="http://schemas.openxmlformats.org/drawingml/2006/main" prst="rect">
            <a:avLst/>
          </a:prstGeom>
        </p:spPr>
      </p:pic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2C03E35-57DE-494D-8E69-2EA451DF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7621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31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31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31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31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31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31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31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31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31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GIUMS (Giu)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20CCBE6-0639-4BBE-BD54-35D829AB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600325"/>
            <a:ext cx="75819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Visual artist and illustrator focused on character design for over 15 years, working both in Brazil and internationally, with a strong influence from geek culture, high fantasy, TCG and, above all, RPG.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A73A4A1-6A3C-4DD5-9041-90EF5421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210050"/>
            <a:ext cx="75819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She is currently building a community on Patreon while developing her original project YATHRA: a concept art book and high fantasy swashbuckling RPG setting book, embracing queer culture (LGBTQIAPN+) and dragons. Lots of dragons!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E68F585-AB5D-4DCA-AD7E-37103410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943600"/>
            <a:ext cx="758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Languages: Portuguese · English</a:t>
            </a:r>
          </a:p>
        </p:txBody>
      </p:sp>
    </p:spTree>
    <p:extLst>
      <p:ext uri="{BB962C8B-B14F-4D97-AF65-F5344CB8AC3E}">
        <p14:creationId xmlns:p14="http://schemas.microsoft.com/office/powerpoint/2010/main" val="769847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F1D4B3A9-B846-444F-BF4E-DBE7A072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GIUMS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FB16C527-7E03-485A-83A4-FA21028D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MEDIA KIT · BRANDS &amp; PARTNERSHIPS · 2026</a:t>
            </a:r>
          </a:p>
        </p:txBody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14EF2C13-790C-4F2F-909B-0B2227F0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Co-creations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AEC927A9-AB14-4A79-BDD4-92E5D8F5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9E202F7D-F45C-4A06-81F7-42BD99ED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Original Artwork Development</a:t>
            </a:r>
          </a:p>
        </p:txBody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2261BEF9-8963-4FED-AD1A-0C3C30C3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Illustrations that help tell your story: characters, creatures and settings with visual consistency, ready to publish. Serving publishers, game studios, TCG creators and independent projects.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D621A279-E8C7-4E88-BA74-0132842E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Co-creation with brands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4506F440-ECAF-463A-94EB-F1C409B8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57525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Content designed to connect brands with the creative community. Reviews of tools and materials for digital and traditional art, alongside illustrations, tutorials and demonstrations highlighting their applications in branding content.</a:t>
            </a:r>
          </a:p>
        </p:txBody>
      </p:sp>
    </p:spTree>
    <p:extLst>
      <p:ext uri="{BB962C8B-B14F-4D97-AF65-F5344CB8AC3E}">
        <p14:creationId xmlns:p14="http://schemas.microsoft.com/office/powerpoint/2010/main" val="1227667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6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7">
            <a:extLst xmlns:a="http://schemas.openxmlformats.org/drawingml/2006/main">
              <a:ext uri="{FF2B5EF4-FFF2-40B4-BE49-F238E27FC236}">
                <a16:creationId xmlns:a16="http://schemas.microsoft.com/office/drawing/2014/main" id="{BBA2FB27-728C-47E9-85CA-59AA2919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EFE9DF"/>
                </a:solidFill>
                <a:latin typeface="Georgia"/>
                <a:ea typeface="Georgia"/>
                <a:cs typeface="Georgia"/>
              </a:rPr>
              <a:t>GIUMS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8B20C9E2-86F9-42CE-AD2C-CDC6CEDF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39CAD"/>
                </a:solidFill>
                <a:latin typeface="Arial"/>
                <a:ea typeface="Arial"/>
                <a:cs typeface="Arial"/>
              </a:rPr>
              <a:t>MEDIA KIT · BRANDS &amp; PARTNERSHIPS · 2026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D04ADEB5-DF59-4B65-BD6E-2CD98E29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EFE9DF"/>
                </a:solidFill>
                <a:latin typeface="Georgia"/>
                <a:ea typeface="Georgia"/>
                <a:cs typeface="Georgia"/>
              </a:rPr>
              <a:t>YATHRA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173DEF5A-9535-425E-BC4F-6C6783B8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39CAD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2341C5DB-D902-4A24-A19D-0F4D3898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7A1A"/>
                </a:solidFill>
                <a:latin typeface="Arial"/>
                <a:ea typeface="Arial"/>
                <a:cs typeface="Arial"/>
              </a:rPr>
              <a:t>An original universe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628C0809-BCB4-4D85-B6DA-C0EB9E48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953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E9DF"/>
                </a:solidFill>
                <a:latin typeface="Arial"/>
                <a:ea typeface="Arial"/>
                <a:cs typeface="Arial"/>
              </a:rPr>
              <a:t>A lore &amp; tabletop RPG worldbuilding project, three years in the making: a draconic world of conflict, LGBTQIAPN+ relationships and fantastic artifacts.</a:t>
            </a:r>
          </a:p>
        </p:txBody>
      </p:sp>
      <p:sp>
        <p:nvSpPr>
          <p:cNvPr id="7" name="text-23">
            <a:extLst xmlns:a="http://schemas.openxmlformats.org/drawingml/2006/main">
              <a:ext uri="{FF2B5EF4-FFF2-40B4-BE49-F238E27FC236}">
                <a16:creationId xmlns:a16="http://schemas.microsoft.com/office/drawing/2014/main" id="{E6D24AF8-74C4-4A52-8F07-E4986F33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39CAD"/>
                </a:solidFill>
                <a:latin typeface="Arial"/>
                <a:ea typeface="Arial"/>
                <a:cs typeface="Arial"/>
              </a:rPr>
              <a:t>Supporters join through Patreon tiers, with physical items from the universe and original sketches of their own OCs.</a:t>
            </a:r>
          </a:p>
        </p:txBody>
      </p:sp>
      <p:sp>
        <p:nvSpPr>
          <p:cNvPr id="8" name="text-24">
            <a:extLst xmlns:a="http://schemas.openxmlformats.org/drawingml/2006/main">
              <a:ext uri="{FF2B5EF4-FFF2-40B4-BE49-F238E27FC236}">
                <a16:creationId xmlns:a16="http://schemas.microsoft.com/office/drawing/2014/main" id="{472A6E82-8D92-42CC-93BE-9EBA685F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7A1A"/>
                </a:solidFill>
                <a:latin typeface="Arial"/>
                <a:ea typeface="Arial"/>
                <a:cs typeface="Arial"/>
                <a:hlinkClick xmlns:r="http://schemas.openxmlformats.org/officeDocument/2006/relationships" r:id="R772592cc61e043e8"/>
              </a:rPr>
              <a:t>patreon.com/giums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E280A-F2F0-4222-90D5-00E11D0CE9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c44127a8f4aa3"/>
          <a:srcRect xmlns:a="http://schemas.openxmlformats.org/drawingml/2006/main" l="10811" t="0" r="108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1790700"/>
            <a:ext cx="1657350" cy="3171825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78E79-8A95-4BF9-A659-CE89D4D430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341a1671e46a1"/>
          <a:srcRect xmlns:a="http://schemas.openxmlformats.org/drawingml/2006/main" l="10811" t="0" r="108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2425" y="2333625"/>
            <a:ext cx="1657350" cy="317182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8657F-1CC7-4A07-B2C2-BE083CA977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b5dbd63345cc"/>
          <a:srcRect xmlns:a="http://schemas.openxmlformats.org/drawingml/2006/main" l="10811" t="0" r="108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67900" y="2009775"/>
            <a:ext cx="1657350" cy="3171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99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25">
            <a:extLst xmlns:a="http://schemas.openxmlformats.org/drawingml/2006/main">
              <a:ext uri="{FF2B5EF4-FFF2-40B4-BE49-F238E27FC236}">
                <a16:creationId xmlns:a16="http://schemas.microsoft.com/office/drawing/2014/main" id="{8BF767C2-3227-4C9C-94B1-EE43E1F2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GIUMS</a:t>
            </a:r>
          </a:p>
        </p:txBody>
      </p:sp>
      <p:sp>
        <p:nvSpPr>
          <p:cNvPr id="2" name="text-26">
            <a:extLst xmlns:a="http://schemas.openxmlformats.org/drawingml/2006/main">
              <a:ext uri="{FF2B5EF4-FFF2-40B4-BE49-F238E27FC236}">
                <a16:creationId xmlns:a16="http://schemas.microsoft.com/office/drawing/2014/main" id="{103A8AB1-80B9-4745-8ED3-D8E713FC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MEDIA KIT · BRANDS &amp; PARTNERSHIPS · 2026</a:t>
            </a:r>
          </a:p>
        </p:txBody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6580BC54-D13D-4CF1-8F84-25BEF3ED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Audience &amp; reach</a:t>
            </a:r>
          </a:p>
        </p:txBody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2123A89C-97FB-46AC-A6BF-4A3356A4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  <p:sp>
        <p:nvSpPr>
          <p:cNvPr id="5" name="text-29">
            <a:extLst xmlns:a="http://schemas.openxmlformats.org/drawingml/2006/main">
              <a:ext uri="{FF2B5EF4-FFF2-40B4-BE49-F238E27FC236}">
                <a16:creationId xmlns:a16="http://schemas.microsoft.com/office/drawing/2014/main" id="{1EC0CE72-0196-4943-B912-D5195B43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Figures as of Oct 2026.</a:t>
            </a:r>
          </a:p>
        </p:txBody>
      </p:sp>
      <p:sp>
        <p:nvSpPr>
          <p:cNvPr id="6" name="text-30">
            <a:extLst xmlns:a="http://schemas.openxmlformats.org/drawingml/2006/main">
              <a:ext uri="{FF2B5EF4-FFF2-40B4-BE49-F238E27FC236}">
                <a16:creationId xmlns:a16="http://schemas.microsoft.com/office/drawing/2014/main" id="{12B0B3C3-EF0B-41FB-BC85-5274A829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Instagram</a:t>
            </a:r>
          </a:p>
        </p:txBody>
      </p:sp>
      <p:sp>
        <p:nvSpPr>
          <p:cNvPr id="7" name="text-31">
            <a:extLst xmlns:a="http://schemas.openxmlformats.org/drawingml/2006/main">
              <a:ext uri="{FF2B5EF4-FFF2-40B4-BE49-F238E27FC236}">
                <a16:creationId xmlns:a16="http://schemas.microsoft.com/office/drawing/2014/main" id="{CD7488F2-21C9-4158-B5A5-F3EA7E5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6096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5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55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55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55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55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55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55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55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55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55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55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5550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16.4K</a:t>
            </a:r>
          </a:p>
        </p:txBody>
      </p:sp>
      <p:sp>
        <p:nvSpPr>
          <p:cNvPr id="8" name="text-32">
            <a:extLst xmlns:a="http://schemas.openxmlformats.org/drawingml/2006/main">
              <a:ext uri="{FF2B5EF4-FFF2-40B4-BE49-F238E27FC236}">
                <a16:creationId xmlns:a16="http://schemas.microsoft.com/office/drawing/2014/main" id="{06BAAE48-ADCB-40E4-8F39-A45A78DF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609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followers</a:t>
            </a:r>
          </a:p>
        </p:txBody>
      </p:sp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18422DFF-1F5A-44AE-A37C-A7EA8D4D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5.08%</a:t>
            </a:r>
          </a:p>
        </p:txBody>
      </p:sp>
      <p:sp>
        <p:nvSpPr>
          <p:cNvPr id="10" name="text-34">
            <a:extLst xmlns:a="http://schemas.openxmlformats.org/drawingml/2006/main">
              <a:ext uri="{FF2B5EF4-FFF2-40B4-BE49-F238E27FC236}">
                <a16:creationId xmlns:a16="http://schemas.microsoft.com/office/drawing/2014/main" id="{FACDA34C-6B7E-4CD4-852C-DEE2EDC0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86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average engagement rate</a:t>
            </a:r>
          </a:p>
        </p:txBody>
      </p:sp>
      <p:sp>
        <p:nvSpPr>
          <p:cNvPr id="11" name="text-35">
            <a:extLst xmlns:a="http://schemas.openxmlformats.org/drawingml/2006/main">
              <a:ext uri="{FF2B5EF4-FFF2-40B4-BE49-F238E27FC236}">
                <a16:creationId xmlns:a16="http://schemas.microsoft.com/office/drawing/2014/main" id="{30A749BB-5D27-4134-8F82-9127D97B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286250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835</a:t>
            </a:r>
          </a:p>
        </p:txBody>
      </p:sp>
      <p:sp>
        <p:nvSpPr>
          <p:cNvPr id="12" name="text-36">
            <a:extLst xmlns:a="http://schemas.openxmlformats.org/drawingml/2006/main">
              <a:ext uri="{FF2B5EF4-FFF2-40B4-BE49-F238E27FC236}">
                <a16:creationId xmlns:a16="http://schemas.microsoft.com/office/drawing/2014/main" id="{1694F6F1-4C96-4E1E-BE18-2771C999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905375"/>
            <a:ext cx="186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average likes per post</a:t>
            </a:r>
          </a:p>
        </p:txBody>
      </p:sp>
      <p:sp>
        <p:nvSpPr>
          <p:cNvPr id="13" name="text-37">
            <a:extLst xmlns:a="http://schemas.openxmlformats.org/drawingml/2006/main">
              <a:ext uri="{FF2B5EF4-FFF2-40B4-BE49-F238E27FC236}">
                <a16:creationId xmlns:a16="http://schemas.microsoft.com/office/drawing/2014/main" id="{4BBCAE3E-AF6B-44AD-84F6-41202F58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86250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14" name="text-38">
            <a:extLst xmlns:a="http://schemas.openxmlformats.org/drawingml/2006/main">
              <a:ext uri="{FF2B5EF4-FFF2-40B4-BE49-F238E27FC236}">
                <a16:creationId xmlns:a16="http://schemas.microsoft.com/office/drawing/2014/main" id="{97FD15BD-D498-4305-932A-D123A374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05375"/>
            <a:ext cx="186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average comments per post</a:t>
            </a:r>
          </a:p>
        </p:txBody>
      </p:sp>
      <p:sp>
        <p:nvSpPr>
          <p:cNvPr id="15" name="text-39">
            <a:extLst xmlns:a="http://schemas.openxmlformats.org/drawingml/2006/main">
              <a:ext uri="{FF2B5EF4-FFF2-40B4-BE49-F238E27FC236}">
                <a16:creationId xmlns:a16="http://schemas.microsoft.com/office/drawing/2014/main" id="{C997A0BE-3F73-466A-BE9D-6D7E47F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Patreon</a:t>
            </a:r>
          </a:p>
        </p:txBody>
      </p:sp>
      <p:sp>
        <p:nvSpPr>
          <p:cNvPr id="16" name="text-40">
            <a:extLst xmlns:a="http://schemas.openxmlformats.org/drawingml/2006/main">
              <a:ext uri="{FF2B5EF4-FFF2-40B4-BE49-F238E27FC236}">
                <a16:creationId xmlns:a16="http://schemas.microsoft.com/office/drawing/2014/main" id="{DB1D2D75-E8EA-40AE-9EFF-C5770A53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381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48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48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48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48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48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48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48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48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48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8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4800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86 / 17</a:t>
            </a:r>
          </a:p>
        </p:txBody>
      </p: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4CCAD913-218A-4AA2-BC6A-7A2CB106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861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followers / paid subscribers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920886DA-D680-46F9-AE94-2CB931FF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0100"/>
            <a:ext cx="371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1 in 5 followers is a paid subscriber.</a:t>
            </a:r>
          </a:p>
        </p:txBody>
      </p:sp>
      <p:sp>
        <p:nvSpPr>
          <p:cNvPr id="19" name="text-43">
            <a:extLst xmlns:a="http://schemas.openxmlformats.org/drawingml/2006/main">
              <a:ext uri="{FF2B5EF4-FFF2-40B4-BE49-F238E27FC236}">
                <a16:creationId xmlns:a16="http://schemas.microsoft.com/office/drawing/2014/main" id="{06DFF50F-586A-4702-8E19-1ECCB9F1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2142F"/>
                </a:solidFill>
                <a:latin typeface="Arial"/>
                <a:ea typeface="Arial"/>
                <a:cs typeface="Arial"/>
              </a:rPr>
              <a:t>total audience · Instagram + Patreon: 16.5K</a:t>
            </a:r>
          </a:p>
        </p:txBody>
      </p:sp>
    </p:spTree>
    <p:extLst>
      <p:ext uri="{BB962C8B-B14F-4D97-AF65-F5344CB8AC3E}">
        <p14:creationId xmlns:p14="http://schemas.microsoft.com/office/powerpoint/2010/main" val="14584428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4">
            <a:extLst xmlns:a="http://schemas.openxmlformats.org/drawingml/2006/main">
              <a:ext uri="{FF2B5EF4-FFF2-40B4-BE49-F238E27FC236}">
                <a16:creationId xmlns:a16="http://schemas.microsoft.com/office/drawing/2014/main" id="{D453A767-980A-40B8-97AD-8E2051E0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GIUMS</a:t>
            </a:r>
          </a:p>
        </p:txBody>
      </p:sp>
      <p:sp>
        <p:nvSpPr>
          <p:cNvPr id="2" name="text-45">
            <a:extLst xmlns:a="http://schemas.openxmlformats.org/drawingml/2006/main">
              <a:ext uri="{FF2B5EF4-FFF2-40B4-BE49-F238E27FC236}">
                <a16:creationId xmlns:a16="http://schemas.microsoft.com/office/drawing/2014/main" id="{68189845-5691-4CAF-9D9E-5567DBC5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MEDIA KIT · BRANDS &amp; PARTNERSHIPS · 2026</a:t>
            </a:r>
          </a:p>
        </p:txBody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E52D5710-687B-4F88-B610-44B42C6C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Reach and community</a:t>
            </a:r>
          </a:p>
        </p:txBody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165288A1-0446-4158-9FAA-4ED12C1D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  <p:sp>
        <p:nvSpPr>
          <p:cNvPr id="5" name="text-48">
            <a:extLst xmlns:a="http://schemas.openxmlformats.org/drawingml/2006/main">
              <a:ext uri="{FF2B5EF4-FFF2-40B4-BE49-F238E27FC236}">
                <a16:creationId xmlns:a16="http://schemas.microsoft.com/office/drawing/2014/main" id="{9D8237A7-4EDF-4AEB-925E-E2290ECC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4875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37.9K</a:t>
            </a:r>
          </a:p>
        </p:txBody>
      </p:sp>
      <p:sp>
        <p:nvSpPr>
          <p:cNvPr id="6" name="text-49">
            <a:extLst xmlns:a="http://schemas.openxmlformats.org/drawingml/2006/main">
              <a:ext uri="{FF2B5EF4-FFF2-40B4-BE49-F238E27FC236}">
                <a16:creationId xmlns:a16="http://schemas.microsoft.com/office/drawing/2014/main" id="{29D6D85D-63A7-4F4E-B286-B09B013D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2766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views in the last 30 days</a:t>
            </a:r>
          </a:p>
        </p:txBody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B53A5537-F35A-4163-9D2F-B100C2C1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4875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9,090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5BA0D047-03B9-448D-9014-B5F74070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2766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accounts that viewed the content</a:t>
            </a:r>
          </a:p>
        </p:txBody>
      </p:sp>
      <p:sp>
        <p:nvSpPr>
          <p:cNvPr id="9" name="text-52">
            <a:extLst xmlns:a="http://schemas.openxmlformats.org/drawingml/2006/main">
              <a:ext uri="{FF2B5EF4-FFF2-40B4-BE49-F238E27FC236}">
                <a16:creationId xmlns:a16="http://schemas.microsoft.com/office/drawing/2014/main" id="{1FCC8234-83BE-4DE4-84E2-D385D113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875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4875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+116</a:t>
            </a:r>
          </a:p>
        </p:txBody>
      </p:sp>
      <p:sp>
        <p:nvSpPr>
          <p:cNvPr id="10" name="text-53">
            <a:extLst xmlns:a="http://schemas.openxmlformats.org/drawingml/2006/main">
              <a:ext uri="{FF2B5EF4-FFF2-40B4-BE49-F238E27FC236}">
                <a16:creationId xmlns:a16="http://schemas.microsoft.com/office/drawing/2014/main" id="{BC3593E8-6C5B-47CE-B522-BC357D43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2766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net followers in 30 days</a:t>
            </a:r>
          </a:p>
        </p:txBody>
      </p:sp>
      <p:sp>
        <p:nvSpPr>
          <p:cNvPr id="11" name="text-54">
            <a:extLst xmlns:a="http://schemas.openxmlformats.org/drawingml/2006/main">
              <a:ext uri="{FF2B5EF4-FFF2-40B4-BE49-F238E27FC236}">
                <a16:creationId xmlns:a16="http://schemas.microsoft.com/office/drawing/2014/main" id="{A9844589-D6FE-4233-981B-61A0C777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Patreon</a:t>
            </a:r>
          </a:p>
        </p:txBody>
      </p:sp>
      <p:sp>
        <p:nvSpPr>
          <p:cNvPr id="12" name="text-55">
            <a:extLst xmlns:a="http://schemas.openxmlformats.org/drawingml/2006/main">
              <a:ext uri="{FF2B5EF4-FFF2-40B4-BE49-F238E27FC236}">
                <a16:creationId xmlns:a16="http://schemas.microsoft.com/office/drawing/2014/main" id="{40A2E44E-244E-4291-BAF3-4D88B0AB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572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Supporters get monthly wallpapers, world lore, sketches, exclusive stickers &amp; prints, WIPs, GIFs, brush packs and access to the Discord community.</a:t>
            </a:r>
          </a:p>
        </p:txBody>
      </p:sp>
      <p:sp>
        <p:nvSpPr>
          <p:cNvPr id="13" name="text-56">
            <a:extLst xmlns:a="http://schemas.openxmlformats.org/drawingml/2006/main">
              <a:ext uri="{FF2B5EF4-FFF2-40B4-BE49-F238E27FC236}">
                <a16:creationId xmlns:a16="http://schemas.microsoft.com/office/drawing/2014/main" id="{27D2F838-54AD-4F44-9289-FA2D076B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Figures as of Oct 2026.</a:t>
            </a:r>
          </a:p>
        </p:txBody>
      </p:sp>
    </p:spTree>
    <p:extLst>
      <p:ext uri="{BB962C8B-B14F-4D97-AF65-F5344CB8AC3E}">
        <p14:creationId xmlns:p14="http://schemas.microsoft.com/office/powerpoint/2010/main" val="499243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57">
            <a:extLst xmlns:a="http://schemas.openxmlformats.org/drawingml/2006/main">
              <a:ext uri="{FF2B5EF4-FFF2-40B4-BE49-F238E27FC236}">
                <a16:creationId xmlns:a16="http://schemas.microsoft.com/office/drawing/2014/main" id="{66684BAB-CFE7-4309-A9D0-B354334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GIUMS</a:t>
            </a:r>
          </a:p>
        </p:txBody>
      </p:sp>
      <p:sp>
        <p:nvSpPr>
          <p:cNvPr id="2" name="text-58">
            <a:extLst xmlns:a="http://schemas.openxmlformats.org/drawingml/2006/main">
              <a:ext uri="{FF2B5EF4-FFF2-40B4-BE49-F238E27FC236}">
                <a16:creationId xmlns:a16="http://schemas.microsoft.com/office/drawing/2014/main" id="{A5F5DA3F-ECE6-4FE9-950B-199B2085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MEDIA KIT · BRANDS &amp; PARTNERSHIPS · 2026</a:t>
            </a:r>
          </a:p>
        </p:txBody>
      </p:sp>
      <p:sp>
        <p:nvSpPr>
          <p:cNvPr id="3" name="text-59">
            <a:extLst xmlns:a="http://schemas.openxmlformats.org/drawingml/2006/main">
              <a:ext uri="{FF2B5EF4-FFF2-40B4-BE49-F238E27FC236}">
                <a16:creationId xmlns:a16="http://schemas.microsoft.com/office/drawing/2014/main" id="{6589C12F-E1AE-45B0-9061-D08B6326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Audience profile</a:t>
            </a:r>
          </a:p>
        </p:txBody>
      </p:sp>
      <p:sp>
        <p:nvSpPr>
          <p:cNvPr id="4" name="text-60">
            <a:extLst xmlns:a="http://schemas.openxmlformats.org/drawingml/2006/main">
              <a:ext uri="{FF2B5EF4-FFF2-40B4-BE49-F238E27FC236}">
                <a16:creationId xmlns:a16="http://schemas.microsoft.com/office/drawing/2014/main" id="{1E413D9E-FFF3-4B09-93FA-D11961BD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  <p:sp>
        <p:nvSpPr>
          <p:cNvPr id="5" name="text-61">
            <a:extLst xmlns:a="http://schemas.openxmlformats.org/drawingml/2006/main">
              <a:ext uri="{FF2B5EF4-FFF2-40B4-BE49-F238E27FC236}">
                <a16:creationId xmlns:a16="http://schemas.microsoft.com/office/drawing/2014/main" id="{8C1F03AC-C17E-4DC3-B7BF-2D957AC2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Age</a:t>
            </a:r>
          </a:p>
        </p:txBody>
      </p:sp>
      <p:sp>
        <p:nvSpPr>
          <p:cNvPr id="6" name="text-62">
            <a:extLst xmlns:a="http://schemas.openxmlformats.org/drawingml/2006/main">
              <a:ext uri="{FF2B5EF4-FFF2-40B4-BE49-F238E27FC236}">
                <a16:creationId xmlns:a16="http://schemas.microsoft.com/office/drawing/2014/main" id="{4327A5BF-55AD-4C08-B7CF-DCACF43A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13–24</a:t>
            </a:r>
          </a:p>
        </p:txBody>
      </p:sp>
      <p:sp>
        <p:nvSpPr>
          <p:cNvPr id="7" name="text-63">
            <a:extLst xmlns:a="http://schemas.openxmlformats.org/drawingml/2006/main">
              <a:ext uri="{FF2B5EF4-FFF2-40B4-BE49-F238E27FC236}">
                <a16:creationId xmlns:a16="http://schemas.microsoft.com/office/drawing/2014/main" id="{CB6D1C19-B0DD-4DA5-8032-15F07247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669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23.6%</a:t>
            </a:r>
          </a:p>
        </p:txBody>
      </p:sp>
      <p:sp>
        <p:nvSpPr>
          <p:cNvPr id="8" name="text-64">
            <a:extLst xmlns:a="http://schemas.openxmlformats.org/drawingml/2006/main">
              <a:ext uri="{FF2B5EF4-FFF2-40B4-BE49-F238E27FC236}">
                <a16:creationId xmlns:a16="http://schemas.microsoft.com/office/drawing/2014/main" id="{AD494A8B-0ED4-4793-BE53-AD6F1EDE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25–34</a:t>
            </a:r>
          </a:p>
        </p:txBody>
      </p:sp>
      <p:sp>
        <p:nvSpPr>
          <p:cNvPr id="9" name="text-65">
            <a:extLst xmlns:a="http://schemas.openxmlformats.org/drawingml/2006/main">
              <a:ext uri="{FF2B5EF4-FFF2-40B4-BE49-F238E27FC236}">
                <a16:creationId xmlns:a16="http://schemas.microsoft.com/office/drawing/2014/main" id="{772158EE-64AB-4C16-A1BF-C4FF923A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55.4%</a:t>
            </a:r>
          </a:p>
        </p:txBody>
      </p:sp>
      <p:sp>
        <p:nvSpPr>
          <p:cNvPr id="10" name="text-66">
            <a:extLst xmlns:a="http://schemas.openxmlformats.org/drawingml/2006/main">
              <a:ext uri="{FF2B5EF4-FFF2-40B4-BE49-F238E27FC236}">
                <a16:creationId xmlns:a16="http://schemas.microsoft.com/office/drawing/2014/main" id="{4D847583-5300-447C-A29D-D9C20231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35–44</a:t>
            </a:r>
          </a:p>
        </p:txBody>
      </p:sp>
      <p:sp>
        <p:nvSpPr>
          <p:cNvPr id="11" name="text-67">
            <a:extLst xmlns:a="http://schemas.openxmlformats.org/drawingml/2006/main">
              <a:ext uri="{FF2B5EF4-FFF2-40B4-BE49-F238E27FC236}">
                <a16:creationId xmlns:a16="http://schemas.microsoft.com/office/drawing/2014/main" id="{49C8FF31-4272-4439-8ABD-328E3E62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433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16.9%</a:t>
            </a:r>
          </a:p>
        </p:txBody>
      </p:sp>
      <p:sp>
        <p:nvSpPr>
          <p:cNvPr id="12" name="text-68">
            <a:extLst xmlns:a="http://schemas.openxmlformats.org/drawingml/2006/main">
              <a:ext uri="{FF2B5EF4-FFF2-40B4-BE49-F238E27FC236}">
                <a16:creationId xmlns:a16="http://schemas.microsoft.com/office/drawing/2014/main" id="{DE4882FE-E593-4880-8C17-FEC1D9BA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45+</a:t>
            </a:r>
          </a:p>
        </p:txBody>
      </p:sp>
      <p:sp>
        <p:nvSpPr>
          <p:cNvPr id="13" name="text-69">
            <a:extLst xmlns:a="http://schemas.openxmlformats.org/drawingml/2006/main">
              <a:ext uri="{FF2B5EF4-FFF2-40B4-BE49-F238E27FC236}">
                <a16:creationId xmlns:a16="http://schemas.microsoft.com/office/drawing/2014/main" id="{29AF45F7-2AE2-4185-86F6-329FCC48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815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4.2%</a:t>
            </a:r>
          </a:p>
        </p:txBody>
      </p:sp>
      <p:sp>
        <p:nvSpPr>
          <p:cNvPr id="14" name="text-70">
            <a:extLst xmlns:a="http://schemas.openxmlformats.org/drawingml/2006/main">
              <a:ext uri="{FF2B5EF4-FFF2-40B4-BE49-F238E27FC236}">
                <a16:creationId xmlns:a16="http://schemas.microsoft.com/office/drawing/2014/main" id="{2E20E497-08A1-401A-9844-6986DA03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811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Gender</a:t>
            </a:r>
          </a:p>
        </p:txBody>
      </p:sp>
      <p:sp>
        <p:nvSpPr>
          <p:cNvPr id="15" name="text-71">
            <a:extLst xmlns:a="http://schemas.openxmlformats.org/drawingml/2006/main">
              <a:ext uri="{FF2B5EF4-FFF2-40B4-BE49-F238E27FC236}">
                <a16:creationId xmlns:a16="http://schemas.microsoft.com/office/drawing/2014/main" id="{287C0830-B8D0-45A8-BF98-07320872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669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Women</a:t>
            </a:r>
          </a:p>
        </p:txBody>
      </p:sp>
      <p:sp>
        <p:nvSpPr>
          <p:cNvPr id="16" name="text-72">
            <a:extLst xmlns:a="http://schemas.openxmlformats.org/drawingml/2006/main">
              <a:ext uri="{FF2B5EF4-FFF2-40B4-BE49-F238E27FC236}">
                <a16:creationId xmlns:a16="http://schemas.microsoft.com/office/drawing/2014/main" id="{C7C4E905-764C-4A1E-B88D-BFEC166D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61.7%</a:t>
            </a:r>
          </a:p>
        </p:txBody>
      </p:sp>
      <p:sp>
        <p:nvSpPr>
          <p:cNvPr id="17" name="text-73">
            <a:extLst xmlns:a="http://schemas.openxmlformats.org/drawingml/2006/main">
              <a:ext uri="{FF2B5EF4-FFF2-40B4-BE49-F238E27FC236}">
                <a16:creationId xmlns:a16="http://schemas.microsoft.com/office/drawing/2014/main" id="{E91D8568-335C-42E2-962A-434531E1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Men</a:t>
            </a:r>
          </a:p>
        </p:txBody>
      </p:sp>
      <p:sp>
        <p:nvSpPr>
          <p:cNvPr id="18" name="text-74">
            <a:extLst xmlns:a="http://schemas.openxmlformats.org/drawingml/2006/main">
              <a:ext uri="{FF2B5EF4-FFF2-40B4-BE49-F238E27FC236}">
                <a16:creationId xmlns:a16="http://schemas.microsoft.com/office/drawing/2014/main" id="{7C4D9DCF-B8E7-4D0A-9302-CD2E5DA0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38.3%</a:t>
            </a:r>
          </a:p>
        </p:txBody>
      </p:sp>
      <p:sp>
        <p:nvSpPr>
          <p:cNvPr id="19" name="text-75">
            <a:extLst xmlns:a="http://schemas.openxmlformats.org/drawingml/2006/main">
              <a:ext uri="{FF2B5EF4-FFF2-40B4-BE49-F238E27FC236}">
                <a16:creationId xmlns:a16="http://schemas.microsoft.com/office/drawing/2014/main" id="{C1EA5706-8C12-4DE3-93D3-98A98787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8117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Top countries</a:t>
            </a:r>
          </a:p>
        </p:txBody>
      </p:sp>
      <p:sp>
        <p:nvSpPr>
          <p:cNvPr id="20" name="text-76">
            <a:extLst xmlns:a="http://schemas.openxmlformats.org/drawingml/2006/main">
              <a:ext uri="{FF2B5EF4-FFF2-40B4-BE49-F238E27FC236}">
                <a16:creationId xmlns:a16="http://schemas.microsoft.com/office/drawing/2014/main" id="{467EE981-FDA0-4D24-993A-28A6A52A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669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United States</a:t>
            </a:r>
          </a:p>
        </p:txBody>
      </p:sp>
      <p:sp>
        <p:nvSpPr>
          <p:cNvPr id="21" name="text-77">
            <a:extLst xmlns:a="http://schemas.openxmlformats.org/drawingml/2006/main">
              <a:ext uri="{FF2B5EF4-FFF2-40B4-BE49-F238E27FC236}">
                <a16:creationId xmlns:a16="http://schemas.microsoft.com/office/drawing/2014/main" id="{3AE3980F-4067-4CF5-9D43-99D65D2E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6697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28.7%</a:t>
            </a:r>
          </a:p>
        </p:txBody>
      </p:sp>
      <p:sp>
        <p:nvSpPr>
          <p:cNvPr id="22" name="text-78">
            <a:extLst xmlns:a="http://schemas.openxmlformats.org/drawingml/2006/main">
              <a:ext uri="{FF2B5EF4-FFF2-40B4-BE49-F238E27FC236}">
                <a16:creationId xmlns:a16="http://schemas.microsoft.com/office/drawing/2014/main" id="{46E28645-0E39-400F-88A3-5A26D20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0575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Brazil</a:t>
            </a:r>
          </a:p>
        </p:txBody>
      </p:sp>
      <p:sp>
        <p:nvSpPr>
          <p:cNvPr id="23" name="text-79">
            <a:extLst xmlns:a="http://schemas.openxmlformats.org/drawingml/2006/main">
              <a:ext uri="{FF2B5EF4-FFF2-40B4-BE49-F238E27FC236}">
                <a16:creationId xmlns:a16="http://schemas.microsoft.com/office/drawing/2014/main" id="{16064E68-125F-4A67-8EC6-954A1879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575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23.9%</a:t>
            </a:r>
          </a:p>
        </p:txBody>
      </p:sp>
      <p:sp>
        <p:nvSpPr>
          <p:cNvPr id="24" name="text-80">
            <a:extLst xmlns:a="http://schemas.openxmlformats.org/drawingml/2006/main">
              <a:ext uri="{FF2B5EF4-FFF2-40B4-BE49-F238E27FC236}">
                <a16:creationId xmlns:a16="http://schemas.microsoft.com/office/drawing/2014/main" id="{73E7A70D-F87C-4167-BBC0-D70734A7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6480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Italy</a:t>
            </a:r>
          </a:p>
        </p:txBody>
      </p:sp>
      <p:sp>
        <p:nvSpPr>
          <p:cNvPr id="25" name="text-81">
            <a:extLst xmlns:a="http://schemas.openxmlformats.org/drawingml/2006/main">
              <a:ext uri="{FF2B5EF4-FFF2-40B4-BE49-F238E27FC236}">
                <a16:creationId xmlns:a16="http://schemas.microsoft.com/office/drawing/2014/main" id="{B9E3B692-EE9D-483B-978D-D796EFC1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4807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3.6%</a:t>
            </a:r>
          </a:p>
        </p:txBody>
      </p:sp>
      <p:sp>
        <p:nvSpPr>
          <p:cNvPr id="26" name="text-82">
            <a:extLst xmlns:a="http://schemas.openxmlformats.org/drawingml/2006/main">
              <a:ext uri="{FF2B5EF4-FFF2-40B4-BE49-F238E27FC236}">
                <a16:creationId xmlns:a16="http://schemas.microsoft.com/office/drawing/2014/main" id="{72777551-48D1-4E3C-957A-EEE5C6EB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2386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Germany</a:t>
            </a:r>
          </a:p>
        </p:txBody>
      </p:sp>
      <p:sp>
        <p:nvSpPr>
          <p:cNvPr id="27" name="text-83">
            <a:extLst xmlns:a="http://schemas.openxmlformats.org/drawingml/2006/main">
              <a:ext uri="{FF2B5EF4-FFF2-40B4-BE49-F238E27FC236}">
                <a16:creationId xmlns:a16="http://schemas.microsoft.com/office/drawing/2014/main" id="{9963FAD8-CF50-40E2-B92F-60C3D53D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3.4%</a:t>
            </a:r>
          </a:p>
        </p:txBody>
      </p:sp>
      <p:sp>
        <p:nvSpPr>
          <p:cNvPr id="28" name="text-84">
            <a:extLst xmlns:a="http://schemas.openxmlformats.org/drawingml/2006/main">
              <a:ext uri="{FF2B5EF4-FFF2-40B4-BE49-F238E27FC236}">
                <a16:creationId xmlns:a16="http://schemas.microsoft.com/office/drawing/2014/main" id="{D5C94C3E-AA1E-4A20-8B10-A34C8051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8291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France</a:t>
            </a:r>
          </a:p>
        </p:txBody>
      </p:sp>
      <p:sp>
        <p:nvSpPr>
          <p:cNvPr id="29" name="text-85">
            <a:extLst xmlns:a="http://schemas.openxmlformats.org/drawingml/2006/main">
              <a:ext uri="{FF2B5EF4-FFF2-40B4-BE49-F238E27FC236}">
                <a16:creationId xmlns:a16="http://schemas.microsoft.com/office/drawing/2014/main" id="{CFB52640-7587-4404-87E4-F57CF13B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2917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3.2%</a:t>
            </a:r>
          </a:p>
        </p:txBody>
      </p:sp>
      <p:sp>
        <p:nvSpPr>
          <p:cNvPr id="30" name="text-86">
            <a:extLst xmlns:a="http://schemas.openxmlformats.org/drawingml/2006/main">
              <a:ext uri="{FF2B5EF4-FFF2-40B4-BE49-F238E27FC236}">
                <a16:creationId xmlns:a16="http://schemas.microsoft.com/office/drawing/2014/main" id="{4DD1149C-D9C6-493F-883D-D61D3D8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Source: Instagram Insights · Oct 2026</a:t>
            </a:r>
          </a:p>
        </p:txBody>
      </p:sp>
    </p:spTree>
    <p:extLst>
      <p:ext uri="{BB962C8B-B14F-4D97-AF65-F5344CB8AC3E}">
        <p14:creationId xmlns:p14="http://schemas.microsoft.com/office/powerpoint/2010/main" val="9072030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87">
            <a:extLst xmlns:a="http://schemas.openxmlformats.org/drawingml/2006/main">
              <a:ext uri="{FF2B5EF4-FFF2-40B4-BE49-F238E27FC236}">
                <a16:creationId xmlns:a16="http://schemas.microsoft.com/office/drawing/2014/main" id="{6E9358E4-714E-4290-8BA1-C4AB51FE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GIUMS</a:t>
            </a:r>
          </a:p>
        </p:txBody>
      </p:sp>
      <p:sp>
        <p:nvSpPr>
          <p:cNvPr id="2" name="text-88">
            <a:extLst xmlns:a="http://schemas.openxmlformats.org/drawingml/2006/main">
              <a:ext uri="{FF2B5EF4-FFF2-40B4-BE49-F238E27FC236}">
                <a16:creationId xmlns:a16="http://schemas.microsoft.com/office/drawing/2014/main" id="{52688828-32B0-4F83-B393-0FB8668E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MEDIA KIT · BRANDS &amp; PARTNERSHIPS · 2026</a:t>
            </a:r>
          </a:p>
        </p:txBody>
      </p:sp>
      <p:sp>
        <p:nvSpPr>
          <p:cNvPr id="3" name="text-89">
            <a:extLst xmlns:a="http://schemas.openxmlformats.org/drawingml/2006/main">
              <a:ext uri="{FF2B5EF4-FFF2-40B4-BE49-F238E27FC236}">
                <a16:creationId xmlns:a16="http://schemas.microsoft.com/office/drawing/2014/main" id="{8853F6EB-D350-4DCB-BEFC-B566DFC4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Work with Giums</a:t>
            </a:r>
          </a:p>
        </p:txBody>
      </p:sp>
      <p:sp>
        <p:nvSpPr>
          <p:cNvPr id="4" name="text-90">
            <a:extLst xmlns:a="http://schemas.openxmlformats.org/drawingml/2006/main">
              <a:ext uri="{FF2B5EF4-FFF2-40B4-BE49-F238E27FC236}">
                <a16:creationId xmlns:a16="http://schemas.microsoft.com/office/drawing/2014/main" id="{9E8F6286-D08A-42C1-AA38-B926307B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  <p:sp>
        <p:nvSpPr>
          <p:cNvPr id="5" name="text-91">
            <a:extLst xmlns:a="http://schemas.openxmlformats.org/drawingml/2006/main">
              <a:ext uri="{FF2B5EF4-FFF2-40B4-BE49-F238E27FC236}">
                <a16:creationId xmlns:a16="http://schemas.microsoft.com/office/drawing/2014/main" id="{B8A70F43-758D-46CB-99B9-087E8BE2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22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22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22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22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22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22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22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22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22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Formats</a:t>
            </a:r>
          </a:p>
        </p:txBody>
      </p:sp>
      <p:sp>
        <p:nvSpPr>
          <p:cNvPr id="6" name="text-92">
            <a:extLst xmlns:a="http://schemas.openxmlformats.org/drawingml/2006/main">
              <a:ext uri="{FF2B5EF4-FFF2-40B4-BE49-F238E27FC236}">
                <a16:creationId xmlns:a16="http://schemas.microsoft.com/office/drawing/2014/main" id="{69BBC98F-CE2D-46EC-BBCE-89C49108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905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Stories (Instagram)</a:t>
            </a:r>
          </a:p>
        </p:txBody>
      </p:sp>
      <p:sp>
        <p:nvSpPr>
          <p:cNvPr id="7" name="text-93">
            <a:extLst xmlns:a="http://schemas.openxmlformats.org/drawingml/2006/main">
              <a:ext uri="{FF2B5EF4-FFF2-40B4-BE49-F238E27FC236}">
                <a16:creationId xmlns:a16="http://schemas.microsoft.com/office/drawing/2014/main" id="{EF46F190-278A-46B7-ACCF-32F033F7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905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Reels (Instagram)</a:t>
            </a:r>
          </a:p>
        </p:txBody>
      </p:sp>
      <p:sp>
        <p:nvSpPr>
          <p:cNvPr id="8" name="text-94">
            <a:extLst xmlns:a="http://schemas.openxmlformats.org/drawingml/2006/main">
              <a:ext uri="{FF2B5EF4-FFF2-40B4-BE49-F238E27FC236}">
                <a16:creationId xmlns:a16="http://schemas.microsoft.com/office/drawing/2014/main" id="{78BA0384-F13B-41AC-98D8-A26780FE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905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Carousel (Instagram)</a:t>
            </a:r>
          </a:p>
        </p:txBody>
      </p:sp>
      <p:sp>
        <p:nvSpPr>
          <p:cNvPr id="9" name="text-95">
            <a:extLst xmlns:a="http://schemas.openxmlformats.org/drawingml/2006/main">
              <a:ext uri="{FF2B5EF4-FFF2-40B4-BE49-F238E27FC236}">
                <a16:creationId xmlns:a16="http://schemas.microsoft.com/office/drawing/2014/main" id="{A59546FA-74EC-4B5D-811E-4F15472B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905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Live on Twitch and VODs</a:t>
            </a:r>
          </a:p>
        </p:txBody>
      </p:sp>
      <p:sp>
        <p:nvSpPr>
          <p:cNvPr id="10" name="text-96">
            <a:extLst xmlns:a="http://schemas.openxmlformats.org/drawingml/2006/main">
              <a:ext uri="{FF2B5EF4-FFF2-40B4-BE49-F238E27FC236}">
                <a16:creationId xmlns:a16="http://schemas.microsoft.com/office/drawing/2014/main" id="{B23C7BC8-1C3F-41D6-A1DB-DF0B25AB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4905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YouTube (long-form videos)</a:t>
            </a:r>
          </a:p>
        </p:txBody>
      </p:sp>
      <p:sp>
        <p:nvSpPr>
          <p:cNvPr id="11" name="text-97">
            <a:extLst xmlns:a="http://schemas.openxmlformats.org/drawingml/2006/main">
              <a:ext uri="{FF2B5EF4-FFF2-40B4-BE49-F238E27FC236}">
                <a16:creationId xmlns:a16="http://schemas.microsoft.com/office/drawing/2014/main" id="{1455F8AF-149F-4DD6-937C-82CEED8E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09750"/>
            <a:ext cx="527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Illustrated campaigns</a:t>
            </a:r>
          </a:p>
        </p:txBody>
      </p:sp>
      <p:sp>
        <p:nvSpPr>
          <p:cNvPr id="12" name="text-98">
            <a:extLst xmlns:a="http://schemas.openxmlformats.org/drawingml/2006/main">
              <a:ext uri="{FF2B5EF4-FFF2-40B4-BE49-F238E27FC236}">
                <a16:creationId xmlns:a16="http://schemas.microsoft.com/office/drawing/2014/main" id="{F9748B1D-DCD0-4644-ADC1-5895D4CD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33625"/>
            <a:ext cx="5276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Test illustrations for products, traditional or digital.</a:t>
            </a:r>
          </a:p>
        </p:txBody>
      </p:sp>
      <p:sp>
        <p:nvSpPr>
          <p:cNvPr id="13" name="text-99">
            <a:extLst xmlns:a="http://schemas.openxmlformats.org/drawingml/2006/main">
              <a:ext uri="{FF2B5EF4-FFF2-40B4-BE49-F238E27FC236}">
                <a16:creationId xmlns:a16="http://schemas.microsoft.com/office/drawing/2014/main" id="{DF28F454-EEA0-4D69-B652-185A2AEC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81350"/>
            <a:ext cx="527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Reviews &amp; giveaways</a:t>
            </a:r>
          </a:p>
        </p:txBody>
      </p:sp>
      <p:sp>
        <p:nvSpPr>
          <p:cNvPr id="14" name="text-100">
            <a:extLst xmlns:a="http://schemas.openxmlformats.org/drawingml/2006/main">
              <a:ext uri="{FF2B5EF4-FFF2-40B4-BE49-F238E27FC236}">
                <a16:creationId xmlns:a16="http://schemas.microsoft.com/office/drawing/2014/main" id="{4D3AEB0A-16E0-42AF-BD85-91376372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05225"/>
            <a:ext cx="5276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Product reviews and giveaways for her community, as in the XP-Pen partnership.</a:t>
            </a:r>
          </a:p>
        </p:txBody>
      </p:sp>
      <p:sp>
        <p:nvSpPr>
          <p:cNvPr id="15" name="text-101">
            <a:extLst xmlns:a="http://schemas.openxmlformats.org/drawingml/2006/main">
              <a:ext uri="{FF2B5EF4-FFF2-40B4-BE49-F238E27FC236}">
                <a16:creationId xmlns:a16="http://schemas.microsoft.com/office/drawing/2014/main" id="{10B69BDC-41E1-4CD9-BEDE-3F3E3FE8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52950"/>
            <a:ext cx="527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Process content</a:t>
            </a:r>
          </a:p>
        </p:txBody>
      </p:sp>
      <p:sp>
        <p:nvSpPr>
          <p:cNvPr id="16" name="text-102">
            <a:extLst xmlns:a="http://schemas.openxmlformats.org/drawingml/2006/main">
              <a:ext uri="{FF2B5EF4-FFF2-40B4-BE49-F238E27FC236}">
                <a16:creationId xmlns:a16="http://schemas.microsoft.com/office/drawing/2014/main" id="{EE9AC705-ECA1-4CF1-B99E-66DB306C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76825"/>
            <a:ext cx="5276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Sketches, timelapses and making-of for Instagram and YouTube.</a:t>
            </a:r>
          </a:p>
        </p:txBody>
      </p:sp>
    </p:spTree>
    <p:extLst>
      <p:ext uri="{BB962C8B-B14F-4D97-AF65-F5344CB8AC3E}">
        <p14:creationId xmlns:p14="http://schemas.microsoft.com/office/powerpoint/2010/main" val="3452439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03">
            <a:extLst xmlns:a="http://schemas.openxmlformats.org/drawingml/2006/main">
              <a:ext uri="{FF2B5EF4-FFF2-40B4-BE49-F238E27FC236}">
                <a16:creationId xmlns:a16="http://schemas.microsoft.com/office/drawing/2014/main" id="{14AFC934-2219-4064-9D11-3FAB19BA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GIUMS</a:t>
            </a:r>
          </a:p>
        </p:txBody>
      </p:sp>
      <p:sp>
        <p:nvSpPr>
          <p:cNvPr id="2" name="text-104">
            <a:extLst xmlns:a="http://schemas.openxmlformats.org/drawingml/2006/main">
              <a:ext uri="{FF2B5EF4-FFF2-40B4-BE49-F238E27FC236}">
                <a16:creationId xmlns:a16="http://schemas.microsoft.com/office/drawing/2014/main" id="{8356AA17-A720-4C7D-941F-3E8CCD51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MEDIA KIT · BRANDS &amp; PARTNERSHIPS · 2026</a:t>
            </a:r>
          </a:p>
        </p:txBody>
      </p:sp>
      <p:sp>
        <p:nvSpPr>
          <p:cNvPr id="3" name="text-105">
            <a:extLst xmlns:a="http://schemas.openxmlformats.org/drawingml/2006/main">
              <a:ext uri="{FF2B5EF4-FFF2-40B4-BE49-F238E27FC236}">
                <a16:creationId xmlns:a16="http://schemas.microsoft.com/office/drawing/2014/main" id="{7262F578-9499-4716-A7CD-578A5188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11015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11015"/>
                </a:solidFill>
                <a:latin typeface="Georgia"/>
                <a:ea typeface="Georgia"/>
                <a:cs typeface="Georgia"/>
              </a:rPr>
              <a:t>XP-Pen · Deco 03 review &amp; giveaway</a:t>
            </a:r>
          </a:p>
        </p:txBody>
      </p:sp>
      <p:sp>
        <p:nvSpPr>
          <p:cNvPr id="4" name="text-106">
            <a:extLst xmlns:a="http://schemas.openxmlformats.org/drawingml/2006/main">
              <a:ext uri="{FF2B5EF4-FFF2-40B4-BE49-F238E27FC236}">
                <a16:creationId xmlns:a16="http://schemas.microsoft.com/office/drawing/2014/main" id="{0D933BAC-B084-4A99-B94E-D3670C8B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  <p:sp>
        <p:nvSpPr>
          <p:cNvPr id="5" name="text-107">
            <a:extLst xmlns:a="http://schemas.openxmlformats.org/drawingml/2006/main">
              <a:ext uri="{FF2B5EF4-FFF2-40B4-BE49-F238E27FC236}">
                <a16:creationId xmlns:a16="http://schemas.microsoft.com/office/drawing/2014/main" id="{7EECDA4E-BAE6-46C1-88D9-29147DC7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2142F"/>
                </a:solidFill>
                <a:latin typeface="Arial"/>
                <a:ea typeface="Arial"/>
                <a:cs typeface="Arial"/>
              </a:rPr>
              <a:t>June – July 2021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B08C2-222E-4113-A76B-08281A91A0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06c57809e42fc"/>
          <a:stretch xmlns:a="http://schemas.openxmlformats.org/drawingml/2006/main"/>
        </p:blipFill>
        <p:spPr>
          <a:xfrm xmlns:a="http://schemas.openxmlformats.org/drawingml/2006/main">
            <a:off x="609600" y="2116998"/>
            <a:ext cx="4819650" cy="3243129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CC1D3-53BE-4736-93FE-2EFAD76D1D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040aae6e045ca"/>
          <a:stretch xmlns:a="http://schemas.openxmlformats.org/drawingml/2006/main"/>
        </p:blipFill>
        <p:spPr>
          <a:xfrm xmlns:a="http://schemas.openxmlformats.org/drawingml/2006/main">
            <a:off x="3746183" y="4657725"/>
            <a:ext cx="1680210" cy="1200150"/>
          </a:xfrm>
          <a:prstGeom xmlns:a="http://schemas.openxmlformats.org/drawingml/2006/main" prst="rect">
            <a:avLst/>
          </a:prstGeom>
        </p:spPr>
      </p:pic>
      <p:sp>
        <p:nvSpPr>
          <p:cNvPr id="8" name="text-108">
            <a:extLst xmlns:a="http://schemas.openxmlformats.org/drawingml/2006/main">
              <a:ext uri="{FF2B5EF4-FFF2-40B4-BE49-F238E27FC236}">
                <a16:creationId xmlns:a16="http://schemas.microsoft.com/office/drawing/2014/main" id="{FEDD5091-D90C-48A3-80C1-D3432AA7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Frame from the YouTube video</a:t>
            </a:r>
          </a:p>
        </p:txBody>
      </p:sp>
      <p:sp>
        <p:nvSpPr>
          <p:cNvPr id="9" name="text-109">
            <a:extLst xmlns:a="http://schemas.openxmlformats.org/drawingml/2006/main">
              <a:ext uri="{FF2B5EF4-FFF2-40B4-BE49-F238E27FC236}">
                <a16:creationId xmlns:a16="http://schemas.microsoft.com/office/drawing/2014/main" id="{F5836B57-0D27-425A-B5A5-5521160C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552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Product tester, reviewer and content creator. XP-Pen Brasil sent the tablet and she sent them her feedback.</a:t>
            </a:r>
          </a:p>
        </p:txBody>
      </p:sp>
      <p:sp>
        <p:nvSpPr>
          <p:cNvPr id="10" name="text-110">
            <a:extLst xmlns:a="http://schemas.openxmlformats.org/drawingml/2006/main">
              <a:ext uri="{FF2B5EF4-FFF2-40B4-BE49-F238E27FC236}">
                <a16:creationId xmlns:a16="http://schemas.microsoft.com/office/drawing/2014/main" id="{1018172C-8AC4-4F23-ABC8-EBE9099E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051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Deliverables</a:t>
            </a:r>
          </a:p>
        </p:txBody>
      </p:sp>
      <p:sp>
        <p:nvSpPr>
          <p:cNvPr id="11" name="text-111">
            <a:extLst xmlns:a="http://schemas.openxmlformats.org/drawingml/2006/main">
              <a:ext uri="{FF2B5EF4-FFF2-40B4-BE49-F238E27FC236}">
                <a16:creationId xmlns:a16="http://schemas.microsoft.com/office/drawing/2014/main" id="{880EDB2B-9C53-42A4-AF29-DD80E53C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5A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5A63"/>
                </a:solidFill>
                <a:latin typeface="Arial"/>
                <a:ea typeface="Arial"/>
                <a:cs typeface="Arial"/>
              </a:rPr>
              <a:t>Instagram reel announcing the review and giveaway; YouTube video (9:53) with the XP-Pen Deco 03 review and a Yone fan art sketch; tablet giveaway with exclusive art; discount code for her audience.</a:t>
            </a:r>
          </a:p>
        </p:txBody>
      </p:sp>
      <p:sp>
        <p:nvSpPr>
          <p:cNvPr id="12" name="text-112">
            <a:extLst xmlns:a="http://schemas.openxmlformats.org/drawingml/2006/main">
              <a:ext uri="{FF2B5EF4-FFF2-40B4-BE49-F238E27FC236}">
                <a16:creationId xmlns:a16="http://schemas.microsoft.com/office/drawing/2014/main" id="{EE36967E-23C3-4C99-A158-660A1D88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14900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defPPr>
            <a:lvl1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1pPr>
            <a:lvl2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2pPr>
            <a:lvl3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3pPr>
            <a:lvl4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4pPr>
            <a:lvl5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5pPr>
            <a:lvl6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6pPr>
            <a:lvl7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7pPr>
            <a:lvl8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8pPr>
            <a:lvl9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2142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C2142F"/>
                </a:solidFill>
                <a:latin typeface="Georgia"/>
                <a:ea typeface="Georgia"/>
                <a:cs typeface="Georgia"/>
              </a:rPr>
              <a:t>Results</a:t>
            </a:r>
          </a:p>
        </p:txBody>
      </p:sp>
      <p:sp>
        <p:nvSpPr>
          <p:cNvPr id="13" name="text-113">
            <a:extLst xmlns:a="http://schemas.openxmlformats.org/drawingml/2006/main">
              <a:ext uri="{FF2B5EF4-FFF2-40B4-BE49-F238E27FC236}">
                <a16:creationId xmlns:a16="http://schemas.microsoft.com/office/drawing/2014/main" id="{FEB2BC51-4CE9-4A3B-82A4-6F82996A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24475"/>
            <a:ext cx="552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110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015"/>
                </a:solidFill>
                <a:latin typeface="Arial"/>
                <a:ea typeface="Arial"/>
                <a:cs typeface="Arial"/>
              </a:rPr>
              <a:t>YouTube: 3.2K views, 161 likes. Instagram reel: 221 likes, 10 comments (Oct 2026).</a:t>
            </a:r>
          </a:p>
        </p:txBody>
      </p:sp>
      <p:sp>
        <p:nvSpPr>
          <p:cNvPr id="14" name="text-114">
            <a:extLst xmlns:a="http://schemas.openxmlformats.org/drawingml/2006/main">
              <a:ext uri="{FF2B5EF4-FFF2-40B4-BE49-F238E27FC236}">
                <a16:creationId xmlns:a16="http://schemas.microsoft.com/office/drawing/2014/main" id="{63EA9CBB-D31E-442F-8DE8-53324AFB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2142F"/>
                </a:solidFill>
                <a:latin typeface="Arial"/>
                <a:ea typeface="Arial"/>
                <a:cs typeface="Arial"/>
                <a:hlinkClick xmlns:r="http://schemas.openxmlformats.org/officeDocument/2006/relationships" r:id="R93f50b8ed4e64756"/>
              </a:rPr>
              <a:t>YouTube</a:t>
            </a:r>
          </a:p>
        </p:txBody>
      </p:sp>
      <p:sp>
        <p:nvSpPr>
          <p:cNvPr id="15" name="text-115">
            <a:extLst xmlns:a="http://schemas.openxmlformats.org/drawingml/2006/main">
              <a:ext uri="{FF2B5EF4-FFF2-40B4-BE49-F238E27FC236}">
                <a16:creationId xmlns:a16="http://schemas.microsoft.com/office/drawing/2014/main" id="{F04A5E64-7571-4D2F-B081-43C8A1AA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02932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2142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2142F"/>
                </a:solidFill>
                <a:latin typeface="Arial"/>
                <a:ea typeface="Arial"/>
                <a:cs typeface="Arial"/>
                <a:hlinkClick xmlns:r="http://schemas.openxmlformats.org/officeDocument/2006/relationships" r:id="R9412f077344a4b50"/>
              </a:rPr>
              <a:t>Instagram</a:t>
            </a:r>
          </a:p>
        </p:txBody>
      </p:sp>
    </p:spTree>
    <p:extLst>
      <p:ext uri="{BB962C8B-B14F-4D97-AF65-F5344CB8AC3E}">
        <p14:creationId xmlns:p14="http://schemas.microsoft.com/office/powerpoint/2010/main" val="9649731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6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16">
            <a:extLst xmlns:a="http://schemas.openxmlformats.org/drawingml/2006/main">
              <a:ext uri="{FF2B5EF4-FFF2-40B4-BE49-F238E27FC236}">
                <a16:creationId xmlns:a16="http://schemas.microsoft.com/office/drawing/2014/main" id="{B4991C50-1520-4238-A6BE-32BB503C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defPPr>
            <a:lvl1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1pPr>
            <a:lvl2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2pPr>
            <a:lvl3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3pPr>
            <a:lvl4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4pPr>
            <a:lvl5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5pPr>
            <a:lvl6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6pPr>
            <a:lvl7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7pPr>
            <a:lvl8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8pPr>
            <a:lvl9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EFE9DF"/>
                </a:solidFill>
                <a:latin typeface="Georgia"/>
                <a:ea typeface="Georgia"/>
                <a:cs typeface="Georgia"/>
              </a:rPr>
              <a:t>GIUMS</a:t>
            </a:r>
          </a:p>
        </p:txBody>
      </p:sp>
      <p:sp>
        <p:nvSpPr>
          <p:cNvPr id="2" name="text-117">
            <a:extLst xmlns:a="http://schemas.openxmlformats.org/drawingml/2006/main">
              <a:ext uri="{FF2B5EF4-FFF2-40B4-BE49-F238E27FC236}">
                <a16:creationId xmlns:a16="http://schemas.microsoft.com/office/drawing/2014/main" id="{A013D35C-133C-49EC-8FDA-EF6B8673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39CAD"/>
                </a:solidFill>
                <a:latin typeface="Arial"/>
                <a:ea typeface="Arial"/>
                <a:cs typeface="Arial"/>
              </a:rPr>
              <a:t>MEDIA KIT · BRANDS &amp; PARTNERSHIPS · 2026</a:t>
            </a:r>
          </a:p>
        </p:txBody>
      </p:sp>
      <p:sp>
        <p:nvSpPr>
          <p:cNvPr id="3" name="text-118">
            <a:extLst xmlns:a="http://schemas.openxmlformats.org/drawingml/2006/main">
              <a:ext uri="{FF2B5EF4-FFF2-40B4-BE49-F238E27FC236}">
                <a16:creationId xmlns:a16="http://schemas.microsoft.com/office/drawing/2014/main" id="{B4D9A2C5-2D93-44C1-99C4-AE28D43B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defPPr>
            <a:lvl1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1pPr>
            <a:lvl2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2pPr>
            <a:lvl3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3pPr>
            <a:lvl4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4pPr>
            <a:lvl5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5pPr>
            <a:lvl6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6pPr>
            <a:lvl7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7pPr>
            <a:lvl8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8pPr>
            <a:lvl9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EFE9DF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EFE9DF"/>
                </a:solidFill>
                <a:latin typeface="Georgia"/>
                <a:ea typeface="Georgia"/>
                <a:cs typeface="Georgia"/>
              </a:rPr>
              <a:t>Contact</a:t>
            </a:r>
          </a:p>
        </p:txBody>
      </p:sp>
      <p:sp>
        <p:nvSpPr>
          <p:cNvPr id="4" name="text-119">
            <a:extLst xmlns:a="http://schemas.openxmlformats.org/drawingml/2006/main">
              <a:ext uri="{FF2B5EF4-FFF2-40B4-BE49-F238E27FC236}">
                <a16:creationId xmlns:a16="http://schemas.microsoft.com/office/drawing/2014/main" id="{3FFF99AA-B1EC-46CE-B223-57EBEC16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39CAD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5" name="text-120">
            <a:extLst xmlns:a="http://schemas.openxmlformats.org/drawingml/2006/main">
              <a:ext uri="{FF2B5EF4-FFF2-40B4-BE49-F238E27FC236}">
                <a16:creationId xmlns:a16="http://schemas.microsoft.com/office/drawing/2014/main" id="{F1220BAB-9D5F-44C8-93BE-BC636964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defPPr>
            <a:lvl1pPr>
              <a:defRPr sz="24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1pPr>
            <a:lvl2pPr>
              <a:defRPr sz="24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2pPr>
            <a:lvl3pPr>
              <a:defRPr sz="24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3pPr>
            <a:lvl4pPr>
              <a:defRPr sz="24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4pPr>
            <a:lvl5pPr>
              <a:defRPr sz="24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5pPr>
            <a:lvl6pPr>
              <a:defRPr sz="24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6pPr>
            <a:lvl7pPr>
              <a:defRPr sz="24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7pPr>
            <a:lvl8pPr>
              <a:defRPr sz="24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8pPr>
            <a:lvl9pPr>
              <a:defRPr sz="24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FF7A1A"/>
                </a:solidFill>
                <a:latin typeface="Georgia"/>
                <a:ea typeface="Georgia"/>
                <a:cs typeface="Georgia"/>
              </a:rPr>
              <a:t>How to start</a:t>
            </a:r>
          </a:p>
        </p:txBody>
      </p:sp>
      <p:sp>
        <p:nvSpPr>
          <p:cNvPr id="6" name="text-121">
            <a:extLst xmlns:a="http://schemas.openxmlformats.org/drawingml/2006/main">
              <a:ext uri="{FF2B5EF4-FFF2-40B4-BE49-F238E27FC236}">
                <a16:creationId xmlns:a16="http://schemas.microsoft.com/office/drawing/2014/main" id="{AADDC635-A4A5-497B-9DDA-E114952D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286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E9DF"/>
                </a:solidFill>
                <a:latin typeface="Arial"/>
                <a:ea typeface="Arial"/>
                <a:cs typeface="Arial"/>
              </a:rPr>
              <a:t>Send a short brief with goals, deliverables, timeline and budget to the e-mail below.</a:t>
            </a:r>
          </a:p>
        </p:txBody>
      </p:sp>
      <p:sp>
        <p:nvSpPr>
          <p:cNvPr id="7" name="text-122">
            <a:extLst xmlns:a="http://schemas.openxmlformats.org/drawingml/2006/main">
              <a:ext uri="{FF2B5EF4-FFF2-40B4-BE49-F238E27FC236}">
                <a16:creationId xmlns:a16="http://schemas.microsoft.com/office/drawing/2014/main" id="{DC10BBD7-DCB8-447F-8428-A6263A28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F7A1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7A1A"/>
                </a:solidFill>
                <a:latin typeface="Arial"/>
                <a:ea typeface="Arial"/>
                <a:cs typeface="Arial"/>
                <a:hlinkClick xmlns:r="http://schemas.openxmlformats.org/officeDocument/2006/relationships" r:id="Ra85f08dd3b6746b1"/>
              </a:rPr>
              <a:t>giumsart@gmail.com</a:t>
            </a:r>
          </a:p>
        </p:txBody>
      </p:sp>
      <p:sp>
        <p:nvSpPr>
          <p:cNvPr id="8" name="text-123">
            <a:extLst xmlns:a="http://schemas.openxmlformats.org/drawingml/2006/main">
              <a:ext uri="{FF2B5EF4-FFF2-40B4-BE49-F238E27FC236}">
                <a16:creationId xmlns:a16="http://schemas.microsoft.com/office/drawing/2014/main" id="{D6C3F91B-376B-47C0-861A-0C0934AD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FE9DF"/>
                </a:solidFill>
                <a:latin typeface="Arial"/>
                <a:ea typeface="Arial"/>
                <a:cs typeface="Arial"/>
                <a:hlinkClick xmlns:r="http://schemas.openxmlformats.org/officeDocument/2006/relationships" r:id="R2a408c1b3efa4413"/>
              </a:rPr>
              <a:t>giums.onrender.com</a:t>
            </a:r>
          </a:p>
        </p:txBody>
      </p:sp>
      <p:sp>
        <p:nvSpPr>
          <p:cNvPr id="9" name="text-124">
            <a:extLst xmlns:a="http://schemas.openxmlformats.org/drawingml/2006/main">
              <a:ext uri="{FF2B5EF4-FFF2-40B4-BE49-F238E27FC236}">
                <a16:creationId xmlns:a16="http://schemas.microsoft.com/office/drawing/2014/main" id="{CD23D840-C643-460A-A5DF-526FD2CD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767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FE9DF"/>
                </a:solidFill>
                <a:latin typeface="Arial"/>
                <a:ea typeface="Arial"/>
                <a:cs typeface="Arial"/>
                <a:hlinkClick xmlns:r="http://schemas.openxmlformats.org/officeDocument/2006/relationships" r:id="R28717030f470431e"/>
              </a:rPr>
              <a:t>@giums</a:t>
            </a:r>
          </a:p>
        </p:txBody>
      </p:sp>
      <p:sp>
        <p:nvSpPr>
          <p:cNvPr id="10" name="text-125">
            <a:extLst xmlns:a="http://schemas.openxmlformats.org/drawingml/2006/main">
              <a:ext uri="{FF2B5EF4-FFF2-40B4-BE49-F238E27FC236}">
                <a16:creationId xmlns:a16="http://schemas.microsoft.com/office/drawing/2014/main" id="{F2F97C36-A584-4FA3-9D8A-C8B0460C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FE9DF"/>
                </a:solidFill>
                <a:latin typeface="Arial"/>
                <a:ea typeface="Arial"/>
                <a:cs typeface="Arial"/>
                <a:hlinkClick xmlns:r="http://schemas.openxmlformats.org/officeDocument/2006/relationships" r:id="R28c826b9450a4f4b"/>
              </a:rPr>
              <a:t>@giums.bsky.social</a:t>
            </a:r>
          </a:p>
        </p:txBody>
      </p:sp>
      <p:sp>
        <p:nvSpPr>
          <p:cNvPr id="11" name="text-126">
            <a:extLst xmlns:a="http://schemas.openxmlformats.org/drawingml/2006/main">
              <a:ext uri="{FF2B5EF4-FFF2-40B4-BE49-F238E27FC236}">
                <a16:creationId xmlns:a16="http://schemas.microsoft.com/office/drawing/2014/main" id="{F9AB733A-04C2-4964-AC4A-BE2F74B1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815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FE9DF"/>
                </a:solidFill>
                <a:latin typeface="Arial"/>
                <a:ea typeface="Arial"/>
                <a:cs typeface="Arial"/>
                <a:hlinkClick xmlns:r="http://schemas.openxmlformats.org/officeDocument/2006/relationships" r:id="R708dfc3bc70c4a8b"/>
              </a:rPr>
              <a:t>@GIUMSyt</a:t>
            </a:r>
          </a:p>
        </p:txBody>
      </p:sp>
      <p:sp>
        <p:nvSpPr>
          <p:cNvPr id="12" name="text-127">
            <a:extLst xmlns:a="http://schemas.openxmlformats.org/drawingml/2006/main">
              <a:ext uri="{FF2B5EF4-FFF2-40B4-BE49-F238E27FC236}">
                <a16:creationId xmlns:a16="http://schemas.microsoft.com/office/drawing/2014/main" id="{549D11F4-6BC2-4A45-8BE2-26C35895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FE9DF"/>
                </a:solidFill>
                <a:latin typeface="Arial"/>
                <a:ea typeface="Arial"/>
                <a:cs typeface="Arial"/>
                <a:hlinkClick xmlns:r="http://schemas.openxmlformats.org/officeDocument/2006/relationships" r:id="Rb86a8c227fd54559"/>
              </a:rPr>
              <a:t>twitch.tv/giums</a:t>
            </a:r>
          </a:p>
        </p:txBody>
      </p:sp>
      <p:sp>
        <p:nvSpPr>
          <p:cNvPr id="13" name="text-128">
            <a:extLst xmlns:a="http://schemas.openxmlformats.org/drawingml/2006/main">
              <a:ext uri="{FF2B5EF4-FFF2-40B4-BE49-F238E27FC236}">
                <a16:creationId xmlns:a16="http://schemas.microsoft.com/office/drawing/2014/main" id="{05F3515B-C348-43AB-87A4-9AF2698E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864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FE9DF"/>
                </a:solidFill>
                <a:latin typeface="Arial"/>
                <a:ea typeface="Arial"/>
                <a:cs typeface="Arial"/>
                <a:hlinkClick xmlns:r="http://schemas.openxmlformats.org/officeDocument/2006/relationships" r:id="R00285faa0eae42ad"/>
              </a:rPr>
              <a:t>patreon.com/giums</a:t>
            </a:r>
          </a:p>
        </p:txBody>
      </p:sp>
      <p:sp>
        <p:nvSpPr>
          <p:cNvPr id="14" name="text-129">
            <a:extLst xmlns:a="http://schemas.openxmlformats.org/drawingml/2006/main">
              <a:ext uri="{FF2B5EF4-FFF2-40B4-BE49-F238E27FC236}">
                <a16:creationId xmlns:a16="http://schemas.microsoft.com/office/drawing/2014/main" id="{F0714B89-B66E-44DA-92FF-5D826269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526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defPPr>
            <a:lvl1pPr>
              <a:defRPr sz="21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1pPr>
            <a:lvl2pPr>
              <a:defRPr sz="21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2pPr>
            <a:lvl3pPr>
              <a:defRPr sz="21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3pPr>
            <a:lvl4pPr>
              <a:defRPr sz="21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4pPr>
            <a:lvl5pPr>
              <a:defRPr sz="21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5pPr>
            <a:lvl6pPr>
              <a:defRPr sz="21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6pPr>
            <a:lvl7pPr>
              <a:defRPr sz="21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7pPr>
            <a:lvl8pPr>
              <a:defRPr sz="21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8pPr>
            <a:lvl9pPr>
              <a:defRPr sz="21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7A1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FF7A1A"/>
                </a:solidFill>
                <a:latin typeface="Georgia"/>
                <a:ea typeface="Georgia"/>
                <a:cs typeface="Georgia"/>
              </a:rPr>
              <a:t>Usage rights</a:t>
            </a:r>
          </a:p>
        </p:txBody>
      </p:sp>
      <p:sp>
        <p:nvSpPr>
          <p:cNvPr id="15" name="text-130">
            <a:extLst xmlns:a="http://schemas.openxmlformats.org/drawingml/2006/main">
              <a:ext uri="{FF2B5EF4-FFF2-40B4-BE49-F238E27FC236}">
                <a16:creationId xmlns:a16="http://schemas.microsoft.com/office/drawing/2014/main" id="{F60093C1-225A-4DB6-A3BA-705A3BC5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95550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FE9D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FE9DF"/>
                </a:solidFill>
                <a:latin typeface="Arial"/>
                <a:ea typeface="Arial"/>
                <a:cs typeface="Arial"/>
              </a:rPr>
              <a:t>Commercial use and reuploads require the artist's permission; terms are agreed per project.</a:t>
            </a:r>
          </a:p>
        </p:txBody>
      </p:sp>
      <p:sp>
        <p:nvSpPr>
          <p:cNvPr id="16" name="text-131">
            <a:extLst xmlns:a="http://schemas.openxmlformats.org/drawingml/2006/main">
              <a:ext uri="{FF2B5EF4-FFF2-40B4-BE49-F238E27FC236}">
                <a16:creationId xmlns:a16="http://schemas.microsoft.com/office/drawing/2014/main" id="{A875FBEF-8F56-4D39-A183-15F971F9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352925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39CA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39CAD"/>
                </a:solidFill>
                <a:latin typeface="Arial"/>
                <a:ea typeface="Arial"/>
                <a:cs typeface="Arial"/>
              </a:rPr>
              <a:t>Using the artwork — including for similar-looking OCs — is not allowed.</a:t>
            </a:r>
          </a:p>
        </p:txBody>
      </p:sp>
    </p:spTree>
    <p:extLst>
      <p:ext uri="{BB962C8B-B14F-4D97-AF65-F5344CB8AC3E}">
        <p14:creationId xmlns:p14="http://schemas.microsoft.com/office/powerpoint/2010/main" val="259899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2026-10-16T23:40:41.0580000Z</dcterms:created>
  <dcterms:modified xsi:type="dcterms:W3CDTF">2026-10-16T23:40:41.0580000Z</dcterms:modified>
</coreProperties>
</file>