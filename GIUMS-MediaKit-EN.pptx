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f686bd92eb46aa" /><Relationship Type="http://schemas.openxmlformats.org/officeDocument/2006/relationships/extended-properties" Target="/docProps/app.xml" Id="R545881212e334ee4" /><Relationship Type="http://schemas.openxmlformats.org/officeDocument/2006/relationships/officeDocument" Target="/ppt/presentation.xml" Id="R328e20b5bd9e46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d93df5a8ff4e76"/>
  </p:sldMasterIdLst>
  <p:notesMasterIdLst>
    <p:notesMasterId xmlns:r="http://schemas.openxmlformats.org/officeDocument/2006/relationships" r:id="Re7ad6b65d2a14fd2"/>
  </p:notesMasterIdLst>
  <p:sldIdLst>
    <p:sldId xmlns:r="http://schemas.openxmlformats.org/officeDocument/2006/relationships" id="256" r:id="R83dca1716c8c4594"/>
    <p:sldId xmlns:r="http://schemas.openxmlformats.org/officeDocument/2006/relationships" id="257" r:id="R015a639332c84867"/>
    <p:sldId xmlns:r="http://schemas.openxmlformats.org/officeDocument/2006/relationships" id="258" r:id="R17e68e5ed3ba41b9"/>
    <p:sldId xmlns:r="http://schemas.openxmlformats.org/officeDocument/2006/relationships" id="259" r:id="Rc66a4ed25992472e"/>
    <p:sldId xmlns:r="http://schemas.openxmlformats.org/officeDocument/2006/relationships" id="260" r:id="R31e8352b324b46a3"/>
    <p:sldId xmlns:r="http://schemas.openxmlformats.org/officeDocument/2006/relationships" id="261" r:id="Rc93909ba43fd47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76fb04652847e1" /><Relationship Type="http://schemas.openxmlformats.org/officeDocument/2006/relationships/slideMaster" Target="/ppt/slideMasters/slideMaster1.xml" Id="R51d93df5a8ff4e76" /><Relationship Type="http://schemas.openxmlformats.org/officeDocument/2006/relationships/notesMaster" Target="/ppt/notesMasters/notesMaster1.xml" Id="Re7ad6b65d2a14fd2" /><Relationship Type="http://schemas.openxmlformats.org/officeDocument/2006/relationships/presProps" Target="/ppt/presProps.xml" Id="R5e896e02595848d8" /><Relationship Type="http://schemas.openxmlformats.org/officeDocument/2006/relationships/tableStyles" Target="/ppt/tableStyles.xml" Id="R3bbfb48dcb1a49b4" /><Relationship Type="http://schemas.openxmlformats.org/officeDocument/2006/relationships/slide" Target="/ppt/slides/slide1.xml" Id="R83dca1716c8c4594" /><Relationship Type="http://schemas.openxmlformats.org/officeDocument/2006/relationships/slide" Target="/ppt/slides/slide2.xml" Id="R015a639332c84867" /><Relationship Type="http://schemas.openxmlformats.org/officeDocument/2006/relationships/slide" Target="/ppt/slides/slide3.xml" Id="R17e68e5ed3ba41b9" /><Relationship Type="http://schemas.openxmlformats.org/officeDocument/2006/relationships/slide" Target="/ppt/slides/slide4.xml" Id="Rc66a4ed25992472e" /><Relationship Type="http://schemas.openxmlformats.org/officeDocument/2006/relationships/slide" Target="/ppt/slides/slide5.xml" Id="R31e8352b324b46a3" /><Relationship Type="http://schemas.openxmlformats.org/officeDocument/2006/relationships/slide" Target="/ppt/slides/slide6.xml" Id="Rc93909ba43fd47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cdf92f8d864d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3cda6316ba4e91" /><Relationship Type="http://schemas.openxmlformats.org/officeDocument/2006/relationships/notesMaster" Target="/ppt/notesMasters/notesMaster1.xml" Id="Rd5f3ac98e8274f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4f42d1b2c140ae" /><Relationship Type="http://schemas.openxmlformats.org/officeDocument/2006/relationships/notesMaster" Target="/ppt/notesMasters/notesMaster1.xml" Id="R0315c37d355643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488a057ffc4241" /><Relationship Type="http://schemas.openxmlformats.org/officeDocument/2006/relationships/notesMaster" Target="/ppt/notesMasters/notesMaster1.xml" Id="R94178aadcea84e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706853dd3948d6" /><Relationship Type="http://schemas.openxmlformats.org/officeDocument/2006/relationships/notesMaster" Target="/ppt/notesMasters/notesMaster1.xml" Id="R667e91bafacd4f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a747ef7fc742ec" /><Relationship Type="http://schemas.openxmlformats.org/officeDocument/2006/relationships/notesMaster" Target="/ppt/notesMasters/notesMaster1.xml" Id="Reb25c29e929246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f07fdd25884af4" /><Relationship Type="http://schemas.openxmlformats.org/officeDocument/2006/relationships/notesMaster" Target="/ppt/notesMasters/notesMaster1.xml" Id="R9669ef339ed345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IGNAVRAK dragon artwork from the GIUMS media kit: https://github.com/Biieru/GIUMS.Mediakit/assets/hero.webp.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Content and original artwork: https://github.com/Biieru/GIUMS.Mediakit. Audience figures supplied in the media kit,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f7980f0f5d48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ea2e29270f42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2578e796e2439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b13fe8b16544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15bef1cfd540c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3286e34fbc4e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B37833-29BE-4805-BC07-502BBB4BAA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25C4BE7-75CE-452A-88D9-0AB8F63E4D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B54121A-012F-4A78-8EE5-7C4E83E0A9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A8E4B01-963C-4BE0-9CF3-26B5AF5C7E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7ABB11-BE9C-4139-B983-4B862FD085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CEBEFEA-09D0-49F0-A222-D352611699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35D70B5-E850-429A-ADF5-937CAFEAB7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FE4EB2-BC45-435D-8BB2-1FC9EB579B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B74C02-AA21-4388-9168-F1763B210F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8A2EF8D-4009-42ED-974B-7198D26C19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bd4400fa7d4c87" /><Relationship Type="http://schemas.openxmlformats.org/officeDocument/2006/relationships/slideLayout" Target="/ppt/slideLayouts/slideLayout1.xml" Id="Rc9b906acc9b94231" /><Relationship Type="http://schemas.openxmlformats.org/officeDocument/2006/relationships/slideLayout" Target="/ppt/slideLayouts/slideLayout2.xml" Id="R848b160a080b43c0" /><Relationship Type="http://schemas.openxmlformats.org/officeDocument/2006/relationships/slideLayout" Target="/ppt/slideLayouts/slideLayout3.xml" Id="R12dd656c07114754" /><Relationship Type="http://schemas.openxmlformats.org/officeDocument/2006/relationships/slideLayout" Target="/ppt/slideLayouts/slideLayout4.xml" Id="R3219d68c76ba4cb8" /><Relationship Type="http://schemas.openxmlformats.org/officeDocument/2006/relationships/slideLayout" Target="/ppt/slideLayouts/slideLayout5.xml" Id="Rd44fa56c861443f0" /><Relationship Type="http://schemas.openxmlformats.org/officeDocument/2006/relationships/slideLayout" Target="/ppt/slideLayouts/slideLayout6.xml" Id="Rf0be2677053745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b906acc9b94231"/>
    <p:sldLayoutId xmlns:r="http://schemas.openxmlformats.org/officeDocument/2006/relationships" id="2147483650" r:id="R848b160a080b43c0"/>
    <p:sldLayoutId xmlns:r="http://schemas.openxmlformats.org/officeDocument/2006/relationships" id="2147483651" r:id="R12dd656c07114754"/>
    <p:sldLayoutId xmlns:r="http://schemas.openxmlformats.org/officeDocument/2006/relationships" id="2147483652" r:id="R3219d68c76ba4cb8"/>
    <p:sldLayoutId xmlns:r="http://schemas.openxmlformats.org/officeDocument/2006/relationships" id="2147483653" r:id="Rd44fa56c861443f0"/>
    <p:sldLayoutId xmlns:r="http://schemas.openxmlformats.org/officeDocument/2006/relationships" id="2147483654" r:id="Rf0be2677053745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b650b086c149d1" /><Relationship Type="http://schemas.openxmlformats.org/officeDocument/2006/relationships/image" Target="/ppt/media/image.png" Id="R679a4828afda4b12" /><Relationship Type="http://schemas.openxmlformats.org/officeDocument/2006/relationships/notesSlide" Target="/ppt/notesSlides/notesSlide1.xml" Id="R95f0208b84c8454f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44212e8cc0744d1"/><Relationship Type="http://schemas.openxmlformats.org/officeDocument/2006/relationships/image" Target="/ppt/media/image2.png" Id="R0170414faba14330"/><Relationship Type="http://schemas.openxmlformats.org/officeDocument/2006/relationships/notesSlide" Target="/ppt/notesSlides/notesSlide2.xml" Id="R19242f93a5ae4a45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youtube.com/@GIUMSyt" TargetMode="External"/><Relationship Id="rIdClick3" Type="http://schemas.openxmlformats.org/officeDocument/2006/relationships/hyperlink" Target="https://www.patreon.com/giums" TargetMode="External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bdd7e0732ee4ab0"/><Relationship Type="http://schemas.openxmlformats.org/officeDocument/2006/relationships/image" Target="/ppt/media/image3.png" Id="Rea6324a60f444532"/><Relationship Type="http://schemas.openxmlformats.org/officeDocument/2006/relationships/image" Target="/ppt/media/image4.png" Id="R81498304674c420d"/><Relationship Type="http://schemas.openxmlformats.org/officeDocument/2006/relationships/image" Target="/ppt/media/image5.png" Id="Rbee7f399c5c84c7b"/><Relationship Type="http://schemas.openxmlformats.org/officeDocument/2006/relationships/notesSlide" Target="/ppt/notesSlides/notesSlide3.xml" Id="R87c194431dfe4944"/><Relationship Id="rIdClick1" Type="http://schemas.openxmlformats.org/officeDocument/2006/relationships/hyperlink" Target="https://www.patreon.com/giums" TargetMode="External"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0798ab098946fc" /><Relationship Type="http://schemas.openxmlformats.org/officeDocument/2006/relationships/notesSlide" Target="/ppt/notesSlides/notesSlide4.xml" Id="Rb5624442e3eb4a28" 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9cd93103dca4e7a"/><Relationship Type="http://schemas.openxmlformats.org/officeDocument/2006/relationships/image" Target="/ppt/media/image6.png" Id="Rd7a688e54bc944a6"/><Relationship Type="http://schemas.openxmlformats.org/officeDocument/2006/relationships/image" Target="/ppt/media/image7.png" Id="R489e5069ed294b0c"/><Relationship Type="http://schemas.openxmlformats.org/officeDocument/2006/relationships/notesSlide" Target="/ppt/notesSlides/notesSlide5.xml" Id="R34f846a47bb44e5b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e867eff81e64a5e"/><Relationship Type="http://schemas.openxmlformats.org/officeDocument/2006/relationships/notesSlide" Target="/ppt/notesSlides/notesSlide6.xml" Id="R73d2098a98234a7e"/><Relationship Id="rIdClick1" Type="http://schemas.openxmlformats.org/officeDocument/2006/relationships/hyperlink" Target="mailto:giumsart@gmail.com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ox-134">
            <a:extLst xmlns:a="http://schemas.openxmlformats.org/drawingml/2006/main">
              <a:ext uri="{FF2B5EF4-FFF2-40B4-BE49-F238E27FC236}">
                <a16:creationId xmlns:a16="http://schemas.microsoft.com/office/drawing/2014/main" id="{DE297DEC-69D4-4575-A8DF-334D3D41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60A"/>
          </a:solidFill>
          <a:ln xmlns:a="http://schemas.openxmlformats.org/drawingml/2006/main" w="0">
            <a:noFill/>
          </a:ln>
        </p:spPr>
      </p:sp>
      <p:sp>
        <p:nvSpPr>
          <p:cNvPr id="2" name="box-135">
            <a:extLst xmlns:a="http://schemas.openxmlformats.org/drawingml/2006/main">
              <a:ext uri="{FF2B5EF4-FFF2-40B4-BE49-F238E27FC236}">
                <a16:creationId xmlns:a16="http://schemas.microsoft.com/office/drawing/2014/main" id="{F6A81FC2-498A-49AB-9F14-9DB0DB5A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10250"/>
            <a:ext cx="12192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070F"/>
          </a:solidFill>
          <a:ln xmlns:a="http://schemas.openxmlformats.org/drawingml/2006/main" w="0">
            <a:noFill/>
          </a:ln>
        </p:spPr>
      </p:sp>
      <p:sp>
        <p:nvSpPr>
          <p:cNvPr id="3" name="text-136">
            <a:extLst xmlns:a="http://schemas.openxmlformats.org/drawingml/2006/main">
              <a:ext uri="{FF2B5EF4-FFF2-40B4-BE49-F238E27FC236}">
                <a16:creationId xmlns:a16="http://schemas.microsoft.com/office/drawing/2014/main" id="{DBD71058-7043-4956-A76E-52593B73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6725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4" name="text-137">
            <a:extLst xmlns:a="http://schemas.openxmlformats.org/drawingml/2006/main">
              <a:ext uri="{FF2B5EF4-FFF2-40B4-BE49-F238E27FC236}">
                <a16:creationId xmlns:a16="http://schemas.microsoft.com/office/drawing/2014/main" id="{C61EC5E8-880C-4E38-8231-7E4BC90B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38325"/>
            <a:ext cx="552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781C"/>
                </a:solidFill>
                <a:latin typeface="Arial"/>
                <a:ea typeface="Arial"/>
                <a:cs typeface="Arial"/>
              </a:rPr>
              <a:t>MEDIA KIT · BRANDS &amp; PARTNERSHIPS</a:t>
            </a:r>
          </a:p>
        </p:txBody>
      </p:sp>
      <p:sp>
        <p:nvSpPr>
          <p:cNvPr id="5" name="text-138">
            <a:extLst xmlns:a="http://schemas.openxmlformats.org/drawingml/2006/main">
              <a:ext uri="{FF2B5EF4-FFF2-40B4-BE49-F238E27FC236}">
                <a16:creationId xmlns:a16="http://schemas.microsoft.com/office/drawing/2014/main" id="{A7698A3E-5104-4DC1-96C2-FE041A0C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57425"/>
            <a:ext cx="62579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defPPr>
            <a:lvl1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1pPr>
            <a:lvl2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2pPr>
            <a:lvl3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3pPr>
            <a:lvl4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4pPr>
            <a:lvl5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5pPr>
            <a:lvl6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6pPr>
            <a:lvl7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7pPr>
            <a:lvl8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8pPr>
            <a:lvl9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8400" b="0">
                <a:solidFill>
                  <a:srgbClr val="FFC23D"/>
                </a:solidFill>
                <a:latin typeface="Georgia"/>
                <a:ea typeface="Georgia"/>
                <a:cs typeface="Georgia"/>
              </a:defRPr>
            </a:pPr>
            <a:r>
              <a:rPr sz="8400" b="0">
                <a:solidFill>
                  <a:srgbClr val="FFC23D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6" name="text-139">
            <a:extLst xmlns:a="http://schemas.openxmlformats.org/drawingml/2006/main">
              <a:ext uri="{FF2B5EF4-FFF2-40B4-BE49-F238E27FC236}">
                <a16:creationId xmlns:a16="http://schemas.microsoft.com/office/drawing/2014/main" id="{3CA836E3-E719-4350-BA43-21F2D8F2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6286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Character &amp; Creature Artist</a:t>
            </a:r>
          </a:p>
        </p:txBody>
      </p:sp>
      <p:sp>
        <p:nvSpPr>
          <p:cNvPr id="7" name="text-140">
            <a:extLst xmlns:a="http://schemas.openxmlformats.org/drawingml/2006/main">
              <a:ext uri="{FF2B5EF4-FFF2-40B4-BE49-F238E27FC236}">
                <a16:creationId xmlns:a16="http://schemas.microsoft.com/office/drawing/2014/main" id="{D0B63824-5399-4C25-9A51-37297DD6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243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8DFD7"/>
                </a:solidFill>
                <a:latin typeface="Arial"/>
                <a:ea typeface="Arial"/>
                <a:cs typeface="Arial"/>
              </a:rPr>
              <a:t>Dark fantasy character and creature art, and YATHRA, her original draconic universe.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6ACC22-94F2-4E93-B857-6AD71B2141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a4828afda4b12"/>
          <a:stretch xmlns:a="http://schemas.openxmlformats.org/drawingml/2006/main"/>
        </p:blipFill>
        <p:spPr>
          <a:xfrm xmlns:a="http://schemas.openxmlformats.org/drawingml/2006/main">
            <a:off x="7331638" y="466725"/>
            <a:ext cx="3910474" cy="5562600"/>
          </a:xfrm>
          <a:prstGeom xmlns:a="http://schemas.openxmlformats.org/drawingml/2006/main" prst="rect">
            <a:avLst/>
          </a:prstGeom>
        </p:spPr>
      </p:pic>
      <p:sp>
        <p:nvSpPr>
          <p:cNvPr id="9" name="rule-141">
            <a:extLst xmlns:a="http://schemas.openxmlformats.org/drawingml/2006/main">
              <a:ext uri="{FF2B5EF4-FFF2-40B4-BE49-F238E27FC236}">
                <a16:creationId xmlns:a16="http://schemas.microsoft.com/office/drawing/2014/main" id="{D45CF486-8805-4E13-8815-D3B3E38F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91325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730562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42">
            <a:extLst xmlns:a="http://schemas.openxmlformats.org/drawingml/2006/main">
              <a:ext uri="{FF2B5EF4-FFF2-40B4-BE49-F238E27FC236}">
                <a16:creationId xmlns:a16="http://schemas.microsoft.com/office/drawing/2014/main" id="{422ABC1E-E308-4523-9B21-7E38DF91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43">
            <a:extLst xmlns:a="http://schemas.openxmlformats.org/drawingml/2006/main">
              <a:ext uri="{FF2B5EF4-FFF2-40B4-BE49-F238E27FC236}">
                <a16:creationId xmlns:a16="http://schemas.microsoft.com/office/drawing/2014/main" id="{A8CDCE5E-A784-4868-9BC8-E9521908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144">
            <a:extLst xmlns:a="http://schemas.openxmlformats.org/drawingml/2006/main">
              <a:ext uri="{FF2B5EF4-FFF2-40B4-BE49-F238E27FC236}">
                <a16:creationId xmlns:a16="http://schemas.microsoft.com/office/drawing/2014/main" id="{9AC86C81-DF62-4151-A8F1-EEB16BE5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145">
            <a:extLst xmlns:a="http://schemas.openxmlformats.org/drawingml/2006/main">
              <a:ext uri="{FF2B5EF4-FFF2-40B4-BE49-F238E27FC236}">
                <a16:creationId xmlns:a16="http://schemas.microsoft.com/office/drawing/2014/main" id="{FBD9BA09-3E10-42D6-AAB2-61C73B88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Who she is</a:t>
            </a:r>
          </a:p>
        </p:txBody>
      </p:sp>
      <p:sp>
        <p:nvSpPr>
          <p:cNvPr id="5" name="text-146">
            <a:extLst xmlns:a="http://schemas.openxmlformats.org/drawingml/2006/main">
              <a:ext uri="{FF2B5EF4-FFF2-40B4-BE49-F238E27FC236}">
                <a16:creationId xmlns:a16="http://schemas.microsoft.com/office/drawing/2014/main" id="{F18697A5-E80E-4880-A828-47052425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2 / 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1B738-8D19-4A02-B84F-43D2A70BD4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0414faba14330"/>
          <a:srcRect xmlns:a="http://schemas.openxmlformats.org/drawingml/2006/main" l="0" t="6534" r="0" b="65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1828800"/>
            <a:ext cx="2619375" cy="4048125"/>
          </a:xfrm>
          <a:prstGeom xmlns:a="http://schemas.openxmlformats.org/drawingml/2006/main" prst="rect">
            <a:avLst/>
          </a:prstGeom>
        </p:spPr>
      </p:pic>
      <p:sp>
        <p:nvSpPr>
          <p:cNvPr id="7" name="rule-147">
            <a:extLst xmlns:a="http://schemas.openxmlformats.org/drawingml/2006/main">
              <a:ext uri="{FF2B5EF4-FFF2-40B4-BE49-F238E27FC236}">
                <a16:creationId xmlns:a16="http://schemas.microsoft.com/office/drawing/2014/main" id="{1D03221C-6490-470F-AE16-2D6361A7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771650"/>
            <a:ext cx="19050" cy="416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8" name="text-148">
            <a:extLst xmlns:a="http://schemas.openxmlformats.org/drawingml/2006/main">
              <a:ext uri="{FF2B5EF4-FFF2-40B4-BE49-F238E27FC236}">
                <a16:creationId xmlns:a16="http://schemas.microsoft.com/office/drawing/2014/main" id="{BB28D5D1-BF9F-4DBA-AFB7-35AC5EC1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743075"/>
            <a:ext cx="7381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7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75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 (Giu)</a:t>
            </a:r>
          </a:p>
        </p:txBody>
      </p:sp>
      <p:sp>
        <p:nvSpPr>
          <p:cNvPr id="9" name="text-149">
            <a:extLst xmlns:a="http://schemas.openxmlformats.org/drawingml/2006/main">
              <a:ext uri="{FF2B5EF4-FFF2-40B4-BE49-F238E27FC236}">
                <a16:creationId xmlns:a16="http://schemas.microsoft.com/office/drawing/2014/main" id="{B4C2AB99-5B4E-43C8-B52F-D3547AD6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81250"/>
            <a:ext cx="7658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Visual artist and illustrator focused on character design for over 15 years, working in Brazil and internationally, with strong influences from geek culture, high fantasy, TCG and RPG.</a:t>
            </a:r>
          </a:p>
        </p:txBody>
      </p:sp>
      <p:sp>
        <p:nvSpPr>
          <p:cNvPr id="10" name="text-150">
            <a:extLst xmlns:a="http://schemas.openxmlformats.org/drawingml/2006/main">
              <a:ext uri="{FF2B5EF4-FFF2-40B4-BE49-F238E27FC236}">
                <a16:creationId xmlns:a16="http://schemas.microsoft.com/office/drawing/2014/main" id="{82D62DD2-CC91-41EE-81AC-35F21F76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00450"/>
            <a:ext cx="76581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She is building a Patreon community while developing YATHRA, a high fantasy RPG setting that embraces queer culture (LGBTQIAPN+) and dragons, lots of dragons!</a:t>
            </a:r>
          </a:p>
        </p:txBody>
      </p:sp>
      <p:sp>
        <p:nvSpPr>
          <p:cNvPr id="11" name="text-151">
            <a:extLst xmlns:a="http://schemas.openxmlformats.org/drawingml/2006/main">
              <a:ext uri="{FF2B5EF4-FFF2-40B4-BE49-F238E27FC236}">
                <a16:creationId xmlns:a16="http://schemas.microsoft.com/office/drawing/2014/main" id="{3DEEBA2A-5A97-42A1-A79F-9C734E4F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19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SOCIAL MEDIA</a:t>
            </a:r>
          </a:p>
        </p:txBody>
      </p:sp>
      <p:sp>
        <p:nvSpPr>
          <p:cNvPr id="12" name="text-152">
            <a:extLst xmlns:a="http://schemas.openxmlformats.org/drawingml/2006/main">
              <a:ext uri="{FF2B5EF4-FFF2-40B4-BE49-F238E27FC236}">
                <a16:creationId xmlns:a16="http://schemas.microsoft.com/office/drawing/2014/main" id="{569D7412-F382-4A44-AB36-732628FD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524500"/>
            <a:ext cx="2238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Instagram</a:t>
            </a:r>
          </a:p>
        </p:txBody>
      </p:sp>
      <p:sp>
        <p:nvSpPr>
          <p:cNvPr id="13" name="rule-153">
            <a:extLst xmlns:a="http://schemas.openxmlformats.org/drawingml/2006/main">
              <a:ext uri="{FF2B5EF4-FFF2-40B4-BE49-F238E27FC236}">
                <a16:creationId xmlns:a16="http://schemas.microsoft.com/office/drawing/2014/main" id="{2C8FE789-18E0-4491-9776-DEF80682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876925"/>
            <a:ext cx="105613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4" name="hotspot-1">
            <a:extLst xmlns:a="http://schemas.openxmlformats.org/drawingml/2006/main">
              <a:ext uri="{FF2B5EF4-FFF2-40B4-BE49-F238E27FC236}">
                <a16:creationId xmlns:a16="http://schemas.microsoft.com/office/drawing/2014/main" id="{5BD285A8-C407-43F7-9E4D-A943398E47B8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5245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text-155">
            <a:extLst xmlns:a="http://schemas.openxmlformats.org/drawingml/2006/main">
              <a:ext uri="{FF2B5EF4-FFF2-40B4-BE49-F238E27FC236}">
                <a16:creationId xmlns:a16="http://schemas.microsoft.com/office/drawing/2014/main" id="{8743E349-BB0F-4F79-BF06-6A8D39D7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9245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@giums</a:t>
            </a:r>
          </a:p>
        </p:txBody>
      </p:sp>
      <p:sp>
        <p:nvSpPr>
          <p:cNvPr id="16" name="text-156">
            <a:extLst xmlns:a="http://schemas.openxmlformats.org/drawingml/2006/main">
              <a:ext uri="{FF2B5EF4-FFF2-40B4-BE49-F238E27FC236}">
                <a16:creationId xmlns:a16="http://schemas.microsoft.com/office/drawing/2014/main" id="{D516D132-72C8-4807-BFB8-4A79DAD4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524500"/>
            <a:ext cx="2238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YouTube</a:t>
            </a:r>
          </a:p>
        </p:txBody>
      </p:sp>
      <p:sp>
        <p:nvSpPr>
          <p:cNvPr id="17" name="rule-157">
            <a:extLst xmlns:a="http://schemas.openxmlformats.org/drawingml/2006/main">
              <a:ext uri="{FF2B5EF4-FFF2-40B4-BE49-F238E27FC236}">
                <a16:creationId xmlns:a16="http://schemas.microsoft.com/office/drawing/2014/main" id="{6B7F0494-C713-4092-BD43-45FD523F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76925"/>
            <a:ext cx="82143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8" name="hotspot-2">
            <a:extLst xmlns:a="http://schemas.openxmlformats.org/drawingml/2006/main">
              <a:ext uri="{FF2B5EF4-FFF2-40B4-BE49-F238E27FC236}">
                <a16:creationId xmlns:a16="http://schemas.microsoft.com/office/drawing/2014/main" id="{83315D9B-8507-429D-8A62-5870A3850D5D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5245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text-159">
            <a:extLst xmlns:a="http://schemas.openxmlformats.org/drawingml/2006/main">
              <a:ext uri="{FF2B5EF4-FFF2-40B4-BE49-F238E27FC236}">
                <a16:creationId xmlns:a16="http://schemas.microsoft.com/office/drawing/2014/main" id="{AB4B1B44-19F0-413A-9D62-E91F32A1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9245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@GIUMSyt</a:t>
            </a:r>
          </a:p>
        </p:txBody>
      </p:sp>
      <p:sp>
        <p:nvSpPr>
          <p:cNvPr id="20" name="text-160">
            <a:extLst xmlns:a="http://schemas.openxmlformats.org/drawingml/2006/main">
              <a:ext uri="{FF2B5EF4-FFF2-40B4-BE49-F238E27FC236}">
                <a16:creationId xmlns:a16="http://schemas.microsoft.com/office/drawing/2014/main" id="{100F8055-4BB9-4FC4-9401-F8F65C88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524500"/>
            <a:ext cx="2238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Patreon</a:t>
            </a:r>
          </a:p>
        </p:txBody>
      </p:sp>
      <p:sp>
        <p:nvSpPr>
          <p:cNvPr id="21" name="rule-161">
            <a:extLst xmlns:a="http://schemas.openxmlformats.org/drawingml/2006/main">
              <a:ext uri="{FF2B5EF4-FFF2-40B4-BE49-F238E27FC236}">
                <a16:creationId xmlns:a16="http://schemas.microsoft.com/office/drawing/2014/main" id="{2B04FA18-1BDD-4906-9C87-350C6D1F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876925"/>
            <a:ext cx="82143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2" name="hotspot-3">
            <a:extLst xmlns:a="http://schemas.openxmlformats.org/drawingml/2006/main">
              <a:ext uri="{FF2B5EF4-FFF2-40B4-BE49-F238E27FC236}">
                <a16:creationId xmlns:a16="http://schemas.microsoft.com/office/drawing/2014/main" id="{15EAFACE-FD72-4C4C-9197-E68EC621DC4D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5245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3" name="text-163">
            <a:extLst xmlns:a="http://schemas.openxmlformats.org/drawingml/2006/main">
              <a:ext uri="{FF2B5EF4-FFF2-40B4-BE49-F238E27FC236}">
                <a16:creationId xmlns:a16="http://schemas.microsoft.com/office/drawing/2014/main" id="{CC5EEEA0-CA37-4FA0-A7BF-689A2E01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9245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patreon.com/giums</a:t>
            </a:r>
          </a:p>
        </p:txBody>
      </p:sp>
    </p:spTree>
    <p:extLst>
      <p:ext uri="{BB962C8B-B14F-4D97-AF65-F5344CB8AC3E}">
        <p14:creationId xmlns:p14="http://schemas.microsoft.com/office/powerpoint/2010/main" val="21248935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64">
            <a:extLst xmlns:a="http://schemas.openxmlformats.org/drawingml/2006/main">
              <a:ext uri="{FF2B5EF4-FFF2-40B4-BE49-F238E27FC236}">
                <a16:creationId xmlns:a16="http://schemas.microsoft.com/office/drawing/2014/main" id="{B66063F6-7131-4475-8876-F1285862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65">
            <a:extLst xmlns:a="http://schemas.openxmlformats.org/drawingml/2006/main">
              <a:ext uri="{FF2B5EF4-FFF2-40B4-BE49-F238E27FC236}">
                <a16:creationId xmlns:a16="http://schemas.microsoft.com/office/drawing/2014/main" id="{05B64FB3-E727-4F6F-9BAC-9CC01949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AAA0A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AA0A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166">
            <a:extLst xmlns:a="http://schemas.openxmlformats.org/drawingml/2006/main">
              <a:ext uri="{FF2B5EF4-FFF2-40B4-BE49-F238E27FC236}">
                <a16:creationId xmlns:a16="http://schemas.microsoft.com/office/drawing/2014/main" id="{7992D6C3-D5A0-41F8-9BB1-C077A515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81C"/>
          </a:solidFill>
          <a:ln xmlns:a="http://schemas.openxmlformats.org/drawingml/2006/main" w="0">
            <a:noFill/>
          </a:ln>
        </p:spPr>
      </p:sp>
      <p:sp>
        <p:nvSpPr>
          <p:cNvPr id="4" name="text-167">
            <a:extLst xmlns:a="http://schemas.openxmlformats.org/drawingml/2006/main">
              <a:ext uri="{FF2B5EF4-FFF2-40B4-BE49-F238E27FC236}">
                <a16:creationId xmlns:a16="http://schemas.microsoft.com/office/drawing/2014/main" id="{6996F9E8-246B-4B26-8A79-6674BC99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YATHRA</a:t>
            </a:r>
          </a:p>
        </p:txBody>
      </p:sp>
      <p:sp>
        <p:nvSpPr>
          <p:cNvPr id="5" name="text-168">
            <a:extLst xmlns:a="http://schemas.openxmlformats.org/drawingml/2006/main">
              <a:ext uri="{FF2B5EF4-FFF2-40B4-BE49-F238E27FC236}">
                <a16:creationId xmlns:a16="http://schemas.microsoft.com/office/drawing/2014/main" id="{6C6680A1-DC32-4742-B175-C7047EB7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AAA0A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AA0AA"/>
                </a:solidFill>
                <a:latin typeface="Arial"/>
                <a:ea typeface="Arial"/>
                <a:cs typeface="Arial"/>
              </a:rPr>
              <a:t>3 / 6</a:t>
            </a:r>
          </a:p>
        </p:txBody>
      </p:sp>
      <p:sp>
        <p:nvSpPr>
          <p:cNvPr id="6" name="text-169">
            <a:extLst xmlns:a="http://schemas.openxmlformats.org/drawingml/2006/main">
              <a:ext uri="{FF2B5EF4-FFF2-40B4-BE49-F238E27FC236}">
                <a16:creationId xmlns:a16="http://schemas.microsoft.com/office/drawing/2014/main" id="{02832E4F-FA47-40D2-9DC5-A22DA79D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F78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781C"/>
                </a:solidFill>
                <a:latin typeface="Arial"/>
                <a:ea typeface="Arial"/>
                <a:cs typeface="Arial"/>
              </a:rPr>
              <a:t>AN ORIGINAL UNIVERSE</a:t>
            </a:r>
          </a:p>
        </p:txBody>
      </p:sp>
      <p:sp>
        <p:nvSpPr>
          <p:cNvPr id="7" name="text-170">
            <a:extLst xmlns:a="http://schemas.openxmlformats.org/drawingml/2006/main">
              <a:ext uri="{FF2B5EF4-FFF2-40B4-BE49-F238E27FC236}">
                <a16:creationId xmlns:a16="http://schemas.microsoft.com/office/drawing/2014/main" id="{1439F876-C5FD-43E0-AFF1-AED77357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33600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defPPr>
            <a:lvl1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1pPr>
            <a:lvl2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2pPr>
            <a:lvl3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3pPr>
            <a:lvl4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4pPr>
            <a:lvl5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5pPr>
            <a:lvl6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6pPr>
            <a:lvl7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7pPr>
            <a:lvl8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8pPr>
            <a:lvl9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5E7"/>
                </a:solidFill>
                <a:latin typeface="Georgia"/>
                <a:ea typeface="Georgia"/>
                <a:cs typeface="Georgia"/>
              </a:defRPr>
            </a:pPr>
            <a:r>
              <a:rPr sz="2175" b="0">
                <a:solidFill>
                  <a:srgbClr val="FFF5E7"/>
                </a:solidFill>
                <a:latin typeface="Georgia"/>
                <a:ea typeface="Georgia"/>
                <a:cs typeface="Georgia"/>
              </a:rPr>
              <a:t>A lore and tabletop RPG worldbuilding project, three years in the making: a draconic world of conflict, LGBTQIAPN+ relationships and fantastic artifacts.</a:t>
            </a:r>
          </a:p>
        </p:txBody>
      </p:sp>
      <p:sp>
        <p:nvSpPr>
          <p:cNvPr id="8" name="text-171">
            <a:extLst xmlns:a="http://schemas.openxmlformats.org/drawingml/2006/main">
              <a:ext uri="{FF2B5EF4-FFF2-40B4-BE49-F238E27FC236}">
                <a16:creationId xmlns:a16="http://schemas.microsoft.com/office/drawing/2014/main" id="{FD6A542F-A43A-4A9A-B240-2B821B52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00475"/>
            <a:ext cx="50482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E8DFD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8DFD7"/>
                </a:solidFill>
                <a:latin typeface="Arial"/>
                <a:ea typeface="Arial"/>
                <a:cs typeface="Arial"/>
              </a:rPr>
              <a:t>Supporters join via Patreon and receive kits with physical items from the universe and original sketches of their own OCs.</a:t>
            </a:r>
          </a:p>
        </p:txBody>
      </p:sp>
      <p:sp>
        <p:nvSpPr>
          <p:cNvPr id="9" name="text-172">
            <a:extLst xmlns:a="http://schemas.openxmlformats.org/drawingml/2006/main">
              <a:ext uri="{FF2B5EF4-FFF2-40B4-BE49-F238E27FC236}">
                <a16:creationId xmlns:a16="http://schemas.microsoft.com/office/drawing/2014/main" id="{BAE1F5FD-986C-4125-8C85-BA0854C0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333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781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781C"/>
                </a:solidFill>
                <a:latin typeface="Arial"/>
                <a:ea typeface="Arial"/>
                <a:cs typeface="Arial"/>
              </a:rPr>
              <a:t>patreon.com/giums</a:t>
            </a:r>
          </a:p>
        </p:txBody>
      </p:sp>
      <p:sp>
        <p:nvSpPr>
          <p:cNvPr id="10" name="rule-173">
            <a:extLst xmlns:a="http://schemas.openxmlformats.org/drawingml/2006/main">
              <a:ext uri="{FF2B5EF4-FFF2-40B4-BE49-F238E27FC236}">
                <a16:creationId xmlns:a16="http://schemas.microsoft.com/office/drawing/2014/main" id="{2E2CEE25-C91E-4D08-8DA0-4C38EEFA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208559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81C"/>
          </a:solidFill>
          <a:ln xmlns:a="http://schemas.openxmlformats.org/drawingml/2006/main" w="0">
            <a:noFill/>
          </a:ln>
        </p:spPr>
      </p:sp>
      <p:sp>
        <p:nvSpPr>
          <p:cNvPr id="11" name="hotspot-1">
            <a:extLst xmlns:a="http://schemas.openxmlformats.org/drawingml/2006/main">
              <a:ext uri="{FF2B5EF4-FFF2-40B4-BE49-F238E27FC236}">
                <a16:creationId xmlns:a16="http://schemas.microsoft.com/office/drawing/2014/main" id="{E31FC996-B127-442C-BBD7-1164038D016E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333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1EAE2-6120-4F31-8D15-C44C6D89E9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324a60f444532"/>
          <a:srcRect xmlns:a="http://schemas.openxmlformats.org/drawingml/2006/main" l="16053" t="0" r="160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752600"/>
            <a:ext cx="1638300" cy="361950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672BA-31ED-4DB8-9E92-2B70EAE4B0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98304674c420d"/>
          <a:srcRect xmlns:a="http://schemas.openxmlformats.org/drawingml/2006/main" l="16053" t="0" r="160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2425" y="2076450"/>
            <a:ext cx="1638300" cy="3619500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7381F-1D5A-4284-B983-F84A147456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7f399c5c84c7b"/>
          <a:srcRect xmlns:a="http://schemas.openxmlformats.org/drawingml/2006/main" l="16053" t="0" r="160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29800" y="1819275"/>
            <a:ext cx="1638300" cy="3619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258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text-175">
            <a:extLst xmlns:a="http://schemas.openxmlformats.org/drawingml/2006/main">
              <a:ext uri="{FF2B5EF4-FFF2-40B4-BE49-F238E27FC236}">
                <a16:creationId xmlns:a16="http://schemas.microsoft.com/office/drawing/2014/main" id="{2A2ACAA3-A8DB-45DC-AB31-807E30ED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176">
            <a:extLst xmlns:a="http://schemas.openxmlformats.org/drawingml/2006/main">
              <a:ext uri="{FF2B5EF4-FFF2-40B4-BE49-F238E27FC236}">
                <a16:creationId xmlns:a16="http://schemas.microsoft.com/office/drawing/2014/main" id="{5ED421F1-845E-4F2B-B2CF-D6D28FC8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177">
            <a:extLst xmlns:a="http://schemas.openxmlformats.org/drawingml/2006/main">
              <a:ext uri="{FF2B5EF4-FFF2-40B4-BE49-F238E27FC236}">
                <a16:creationId xmlns:a16="http://schemas.microsoft.com/office/drawing/2014/main" id="{27BE1401-7221-44BD-81F2-79A8B61C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178">
            <a:extLst xmlns:a="http://schemas.openxmlformats.org/drawingml/2006/main">
              <a:ext uri="{FF2B5EF4-FFF2-40B4-BE49-F238E27FC236}">
                <a16:creationId xmlns:a16="http://schemas.microsoft.com/office/drawing/2014/main" id="{8D34FDB9-272E-4545-A2AA-10896AD4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Audience &amp; reach</a:t>
            </a:r>
          </a:p>
        </p:txBody>
      </p:sp>
      <p:sp>
        <p:nvSpPr>
          <p:cNvPr id="5" name="text-179">
            <a:extLst xmlns:a="http://schemas.openxmlformats.org/drawingml/2006/main">
              <a:ext uri="{FF2B5EF4-FFF2-40B4-BE49-F238E27FC236}">
                <a16:creationId xmlns:a16="http://schemas.microsoft.com/office/drawing/2014/main" id="{16A66284-7892-4C2A-86DE-122AD538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4 / 6</a:t>
            </a:r>
          </a:p>
        </p:txBody>
      </p:sp>
      <p:sp>
        <p:nvSpPr>
          <p:cNvPr id="6" name="text-180">
            <a:extLst xmlns:a="http://schemas.openxmlformats.org/drawingml/2006/main">
              <a:ext uri="{FF2B5EF4-FFF2-40B4-BE49-F238E27FC236}">
                <a16:creationId xmlns:a16="http://schemas.microsoft.com/office/drawing/2014/main" id="{FF776B9D-CDF9-44B2-8CB3-273C76E4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11442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Figures as of Oct 2026.</a:t>
            </a:r>
          </a:p>
        </p:txBody>
      </p:sp>
      <p:sp>
        <p:nvSpPr>
          <p:cNvPr id="7" name="text-181">
            <a:extLst xmlns:a="http://schemas.openxmlformats.org/drawingml/2006/main">
              <a:ext uri="{FF2B5EF4-FFF2-40B4-BE49-F238E27FC236}">
                <a16:creationId xmlns:a16="http://schemas.microsoft.com/office/drawing/2014/main" id="{201E81EB-8412-450F-96C6-08DE0199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INSTAGRAM</a:t>
            </a:r>
          </a:p>
        </p:txBody>
      </p:sp>
      <p:sp>
        <p:nvSpPr>
          <p:cNvPr id="8" name="text-182">
            <a:extLst xmlns:a="http://schemas.openxmlformats.org/drawingml/2006/main">
              <a:ext uri="{FF2B5EF4-FFF2-40B4-BE49-F238E27FC236}">
                <a16:creationId xmlns:a16="http://schemas.microsoft.com/office/drawing/2014/main" id="{F45224CE-DC23-4A22-BF1C-57C858FA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28825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502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502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16.4K</a:t>
            </a:r>
          </a:p>
        </p:txBody>
      </p:sp>
      <p:sp>
        <p:nvSpPr>
          <p:cNvPr id="9" name="text-183">
            <a:extLst xmlns:a="http://schemas.openxmlformats.org/drawingml/2006/main">
              <a:ext uri="{FF2B5EF4-FFF2-40B4-BE49-F238E27FC236}">
                <a16:creationId xmlns:a16="http://schemas.microsoft.com/office/drawing/2014/main" id="{A07D33F0-3675-4983-8ADE-47F6D783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98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followers</a:t>
            </a:r>
          </a:p>
        </p:txBody>
      </p:sp>
      <p:sp>
        <p:nvSpPr>
          <p:cNvPr id="10" name="text-184">
            <a:extLst xmlns:a="http://schemas.openxmlformats.org/drawingml/2006/main">
              <a:ext uri="{FF2B5EF4-FFF2-40B4-BE49-F238E27FC236}">
                <a16:creationId xmlns:a16="http://schemas.microsoft.com/office/drawing/2014/main" id="{DC91F55A-0760-4893-A223-A31C1228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24075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5.08%</a:t>
            </a:r>
          </a:p>
        </p:txBody>
      </p:sp>
      <p:sp>
        <p:nvSpPr>
          <p:cNvPr id="11" name="text-185">
            <a:extLst xmlns:a="http://schemas.openxmlformats.org/drawingml/2006/main">
              <a:ext uri="{FF2B5EF4-FFF2-40B4-BE49-F238E27FC236}">
                <a16:creationId xmlns:a16="http://schemas.microsoft.com/office/drawing/2014/main" id="{14FA7B04-2CFE-4D19-A608-9F9DF35E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051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average engagement rate</a:t>
            </a:r>
          </a:p>
        </p:txBody>
      </p:sp>
      <p:sp>
        <p:nvSpPr>
          <p:cNvPr id="12" name="text-186">
            <a:extLst xmlns:a="http://schemas.openxmlformats.org/drawingml/2006/main">
              <a:ext uri="{FF2B5EF4-FFF2-40B4-BE49-F238E27FC236}">
                <a16:creationId xmlns:a16="http://schemas.microsoft.com/office/drawing/2014/main" id="{BA93C30A-8E24-4F05-A35B-B29B3062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124075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835</a:t>
            </a:r>
          </a:p>
        </p:txBody>
      </p:sp>
      <p:sp>
        <p:nvSpPr>
          <p:cNvPr id="13" name="text-187">
            <a:extLst xmlns:a="http://schemas.openxmlformats.org/drawingml/2006/main">
              <a:ext uri="{FF2B5EF4-FFF2-40B4-BE49-F238E27FC236}">
                <a16:creationId xmlns:a16="http://schemas.microsoft.com/office/drawing/2014/main" id="{FE692172-0F95-4C73-88D5-1223F183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9051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average likes per post</a:t>
            </a:r>
          </a:p>
        </p:txBody>
      </p:sp>
      <p:sp>
        <p:nvSpPr>
          <p:cNvPr id="14" name="text-188">
            <a:extLst xmlns:a="http://schemas.openxmlformats.org/drawingml/2006/main">
              <a:ext uri="{FF2B5EF4-FFF2-40B4-BE49-F238E27FC236}">
                <a16:creationId xmlns:a16="http://schemas.microsoft.com/office/drawing/2014/main" id="{F830D94F-F4C8-4D3B-B0EE-382B9449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24075"/>
            <a:ext cx="2714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2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31</a:t>
            </a:r>
          </a:p>
        </p:txBody>
      </p:sp>
      <p:sp>
        <p:nvSpPr>
          <p:cNvPr id="15" name="text-189">
            <a:extLst xmlns:a="http://schemas.openxmlformats.org/drawingml/2006/main">
              <a:ext uri="{FF2B5EF4-FFF2-40B4-BE49-F238E27FC236}">
                <a16:creationId xmlns:a16="http://schemas.microsoft.com/office/drawing/2014/main" id="{E6D0F860-1009-42B5-8143-A3DA400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905125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average comments per post</a:t>
            </a:r>
          </a:p>
        </p:txBody>
      </p:sp>
      <p:sp>
        <p:nvSpPr>
          <p:cNvPr id="16" name="rule-190">
            <a:extLst xmlns:a="http://schemas.openxmlformats.org/drawingml/2006/main">
              <a:ext uri="{FF2B5EF4-FFF2-40B4-BE49-F238E27FC236}">
                <a16:creationId xmlns:a16="http://schemas.microsoft.com/office/drawing/2014/main" id="{E63F2785-14A9-41F4-BCFE-2EC9FAAA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7" name="text-191">
            <a:extLst xmlns:a="http://schemas.openxmlformats.org/drawingml/2006/main">
              <a:ext uri="{FF2B5EF4-FFF2-40B4-BE49-F238E27FC236}">
                <a16:creationId xmlns:a16="http://schemas.microsoft.com/office/drawing/2014/main" id="{D2E0D46A-DF2A-4901-8F4C-987ACE43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538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37.9K</a:t>
            </a:r>
          </a:p>
        </p:txBody>
      </p:sp>
      <p:sp>
        <p:nvSpPr>
          <p:cNvPr id="18" name="text-192">
            <a:extLst xmlns:a="http://schemas.openxmlformats.org/drawingml/2006/main">
              <a:ext uri="{FF2B5EF4-FFF2-40B4-BE49-F238E27FC236}">
                <a16:creationId xmlns:a16="http://schemas.microsoft.com/office/drawing/2014/main" id="{7B3A10D6-0993-4C43-A7DE-C73EDC18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views in the last 30 days</a:t>
            </a:r>
          </a:p>
        </p:txBody>
      </p:sp>
      <p:sp>
        <p:nvSpPr>
          <p:cNvPr id="19" name="text-193">
            <a:extLst xmlns:a="http://schemas.openxmlformats.org/drawingml/2006/main">
              <a:ext uri="{FF2B5EF4-FFF2-40B4-BE49-F238E27FC236}">
                <a16:creationId xmlns:a16="http://schemas.microsoft.com/office/drawing/2014/main" id="{65F4E24F-AF9C-4463-8FCB-CC03FCCF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57550"/>
            <a:ext cx="538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9,090</a:t>
            </a:r>
          </a:p>
        </p:txBody>
      </p:sp>
      <p:sp>
        <p:nvSpPr>
          <p:cNvPr id="20" name="text-194">
            <a:extLst xmlns:a="http://schemas.openxmlformats.org/drawingml/2006/main">
              <a:ext uri="{FF2B5EF4-FFF2-40B4-BE49-F238E27FC236}">
                <a16:creationId xmlns:a16="http://schemas.microsoft.com/office/drawing/2014/main" id="{C647A612-A7F4-46FE-99B7-6CF41D9E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38600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accounts that viewed the content</a:t>
            </a:r>
          </a:p>
        </p:txBody>
      </p:sp>
      <p:sp>
        <p:nvSpPr>
          <p:cNvPr id="21" name="rule-195">
            <a:extLst xmlns:a="http://schemas.openxmlformats.org/drawingml/2006/main">
              <a:ext uri="{FF2B5EF4-FFF2-40B4-BE49-F238E27FC236}">
                <a16:creationId xmlns:a16="http://schemas.microsoft.com/office/drawing/2014/main" id="{5AB742E1-F7B3-428E-BF08-193673EE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2" name="text-196">
            <a:extLst xmlns:a="http://schemas.openxmlformats.org/drawingml/2006/main">
              <a:ext uri="{FF2B5EF4-FFF2-40B4-BE49-F238E27FC236}">
                <a16:creationId xmlns:a16="http://schemas.microsoft.com/office/drawing/2014/main" id="{9F03A6CB-C25D-4676-B92E-6968D59D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339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AUDIENCE PROFILE</a:t>
            </a:r>
          </a:p>
        </p:txBody>
      </p:sp>
      <p:sp>
        <p:nvSpPr>
          <p:cNvPr id="23" name="text-197">
            <a:extLst xmlns:a="http://schemas.openxmlformats.org/drawingml/2006/main">
              <a:ext uri="{FF2B5EF4-FFF2-40B4-BE49-F238E27FC236}">
                <a16:creationId xmlns:a16="http://schemas.microsoft.com/office/drawing/2014/main" id="{5CB46FD6-1D2B-4A8A-BFE1-76267964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8632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13–24</a:t>
            </a:r>
          </a:p>
        </p:txBody>
      </p:sp>
      <p:sp>
        <p:nvSpPr>
          <p:cNvPr id="24" name="box-198">
            <a:extLst xmlns:a="http://schemas.openxmlformats.org/drawingml/2006/main">
              <a:ext uri="{FF2B5EF4-FFF2-40B4-BE49-F238E27FC236}">
                <a16:creationId xmlns:a16="http://schemas.microsoft.com/office/drawing/2014/main" id="{1A9F1224-210D-4509-8568-FFF4F6E0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493395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25" name="box-199">
            <a:extLst xmlns:a="http://schemas.openxmlformats.org/drawingml/2006/main">
              <a:ext uri="{FF2B5EF4-FFF2-40B4-BE49-F238E27FC236}">
                <a16:creationId xmlns:a16="http://schemas.microsoft.com/office/drawing/2014/main" id="{BF4F4C3C-113D-488C-864F-063C6A49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4933950"/>
            <a:ext cx="343929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6" name="text-200">
            <a:extLst xmlns:a="http://schemas.openxmlformats.org/drawingml/2006/main">
              <a:ext uri="{FF2B5EF4-FFF2-40B4-BE49-F238E27FC236}">
                <a16:creationId xmlns:a16="http://schemas.microsoft.com/office/drawing/2014/main" id="{35927D30-14CE-4D8E-8E2E-1787CE1A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88632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23.6%</a:t>
            </a:r>
          </a:p>
        </p:txBody>
      </p:sp>
      <p:sp>
        <p:nvSpPr>
          <p:cNvPr id="27" name="text-201">
            <a:extLst xmlns:a="http://schemas.openxmlformats.org/drawingml/2006/main">
              <a:ext uri="{FF2B5EF4-FFF2-40B4-BE49-F238E27FC236}">
                <a16:creationId xmlns:a16="http://schemas.microsoft.com/office/drawing/2014/main" id="{F34E24FF-24C7-4E79-A4F0-20C4D706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017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25–34</a:t>
            </a:r>
          </a:p>
        </p:txBody>
      </p:sp>
      <p:sp>
        <p:nvSpPr>
          <p:cNvPr id="28" name="box-202">
            <a:extLst xmlns:a="http://schemas.openxmlformats.org/drawingml/2006/main">
              <a:ext uri="{FF2B5EF4-FFF2-40B4-BE49-F238E27FC236}">
                <a16:creationId xmlns:a16="http://schemas.microsoft.com/office/drawing/2014/main" id="{1C104623-C674-4E6C-B983-A266BB89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25780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29" name="box-203">
            <a:extLst xmlns:a="http://schemas.openxmlformats.org/drawingml/2006/main">
              <a:ext uri="{FF2B5EF4-FFF2-40B4-BE49-F238E27FC236}">
                <a16:creationId xmlns:a16="http://schemas.microsoft.com/office/drawing/2014/main" id="{3961659A-49C7-4EE5-8CAA-274F12B1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257800"/>
            <a:ext cx="807358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30" name="text-204">
            <a:extLst xmlns:a="http://schemas.openxmlformats.org/drawingml/2006/main">
              <a:ext uri="{FF2B5EF4-FFF2-40B4-BE49-F238E27FC236}">
                <a16:creationId xmlns:a16="http://schemas.microsoft.com/office/drawing/2014/main" id="{8E1E98E4-B956-432D-8D28-B5012BCF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21017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55.4%</a:t>
            </a:r>
          </a:p>
        </p:txBody>
      </p:sp>
      <p:sp>
        <p:nvSpPr>
          <p:cNvPr id="31" name="text-205">
            <a:extLst xmlns:a="http://schemas.openxmlformats.org/drawingml/2006/main">
              <a:ext uri="{FF2B5EF4-FFF2-40B4-BE49-F238E27FC236}">
                <a16:creationId xmlns:a16="http://schemas.microsoft.com/office/drawing/2014/main" id="{6A1DF0BA-AAE7-4786-8A4B-B659AB06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3402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35–44</a:t>
            </a:r>
          </a:p>
        </p:txBody>
      </p:sp>
      <p:sp>
        <p:nvSpPr>
          <p:cNvPr id="32" name="box-206">
            <a:extLst xmlns:a="http://schemas.openxmlformats.org/drawingml/2006/main">
              <a:ext uri="{FF2B5EF4-FFF2-40B4-BE49-F238E27FC236}">
                <a16:creationId xmlns:a16="http://schemas.microsoft.com/office/drawing/2014/main" id="{4C9FED9C-B92C-4C52-8A19-D98A0140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58165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33" name="box-207">
            <a:extLst xmlns:a="http://schemas.openxmlformats.org/drawingml/2006/main">
              <a:ext uri="{FF2B5EF4-FFF2-40B4-BE49-F238E27FC236}">
                <a16:creationId xmlns:a16="http://schemas.microsoft.com/office/drawing/2014/main" id="{DADFCCC7-D1CC-45EA-9512-24488D64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581650"/>
            <a:ext cx="246288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34" name="text-208">
            <a:extLst xmlns:a="http://schemas.openxmlformats.org/drawingml/2006/main">
              <a:ext uri="{FF2B5EF4-FFF2-40B4-BE49-F238E27FC236}">
                <a16:creationId xmlns:a16="http://schemas.microsoft.com/office/drawing/2014/main" id="{FAD2E21A-4C95-4ADB-8565-B91DEF58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53402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16.9%</a:t>
            </a:r>
          </a:p>
        </p:txBody>
      </p:sp>
      <p:sp>
        <p:nvSpPr>
          <p:cNvPr id="35" name="text-209">
            <a:extLst xmlns:a="http://schemas.openxmlformats.org/drawingml/2006/main">
              <a:ext uri="{FF2B5EF4-FFF2-40B4-BE49-F238E27FC236}">
                <a16:creationId xmlns:a16="http://schemas.microsoft.com/office/drawing/2014/main" id="{029A6F06-BB52-4920-9286-5AB6BD0F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45+</a:t>
            </a:r>
          </a:p>
        </p:txBody>
      </p:sp>
      <p:sp>
        <p:nvSpPr>
          <p:cNvPr id="36" name="box-210">
            <a:extLst xmlns:a="http://schemas.openxmlformats.org/drawingml/2006/main">
              <a:ext uri="{FF2B5EF4-FFF2-40B4-BE49-F238E27FC236}">
                <a16:creationId xmlns:a16="http://schemas.microsoft.com/office/drawing/2014/main" id="{C64B1C4F-7272-45F2-ACC3-F87A1001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90550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37" name="box-211">
            <a:extLst xmlns:a="http://schemas.openxmlformats.org/drawingml/2006/main">
              <a:ext uri="{FF2B5EF4-FFF2-40B4-BE49-F238E27FC236}">
                <a16:creationId xmlns:a16="http://schemas.microsoft.com/office/drawing/2014/main" id="{38F9EFD8-3F38-40E8-92A5-87C014C0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5905500"/>
            <a:ext cx="61208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38" name="text-212">
            <a:extLst xmlns:a="http://schemas.openxmlformats.org/drawingml/2006/main">
              <a:ext uri="{FF2B5EF4-FFF2-40B4-BE49-F238E27FC236}">
                <a16:creationId xmlns:a16="http://schemas.microsoft.com/office/drawing/2014/main" id="{F8752513-FEB6-47FD-BED0-22B41CA6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85787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4.2%</a:t>
            </a:r>
          </a:p>
        </p:txBody>
      </p:sp>
      <p:sp>
        <p:nvSpPr>
          <p:cNvPr id="39" name="text-213">
            <a:extLst xmlns:a="http://schemas.openxmlformats.org/drawingml/2006/main">
              <a:ext uri="{FF2B5EF4-FFF2-40B4-BE49-F238E27FC236}">
                <a16:creationId xmlns:a16="http://schemas.microsoft.com/office/drawing/2014/main" id="{AFAC6EF3-E423-4E49-9E07-A45A18A7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8632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Women</a:t>
            </a:r>
          </a:p>
        </p:txBody>
      </p:sp>
      <p:sp>
        <p:nvSpPr>
          <p:cNvPr id="40" name="box-214">
            <a:extLst xmlns:a="http://schemas.openxmlformats.org/drawingml/2006/main">
              <a:ext uri="{FF2B5EF4-FFF2-40B4-BE49-F238E27FC236}">
                <a16:creationId xmlns:a16="http://schemas.microsoft.com/office/drawing/2014/main" id="{B36DE807-50B3-415D-B411-4BEB9A73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493395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41" name="box-215">
            <a:extLst xmlns:a="http://schemas.openxmlformats.org/drawingml/2006/main">
              <a:ext uri="{FF2B5EF4-FFF2-40B4-BE49-F238E27FC236}">
                <a16:creationId xmlns:a16="http://schemas.microsoft.com/office/drawing/2014/main" id="{E0C15202-564B-4F07-90F4-BD6A113D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4933950"/>
            <a:ext cx="89917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2" name="text-216">
            <a:extLst xmlns:a="http://schemas.openxmlformats.org/drawingml/2006/main">
              <a:ext uri="{FF2B5EF4-FFF2-40B4-BE49-F238E27FC236}">
                <a16:creationId xmlns:a16="http://schemas.microsoft.com/office/drawing/2014/main" id="{C3B19F9D-B8A8-4087-B2C9-91E72101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390" y="488632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61.7%</a:t>
            </a:r>
          </a:p>
        </p:txBody>
      </p:sp>
      <p:sp>
        <p:nvSpPr>
          <p:cNvPr id="43" name="text-217">
            <a:extLst xmlns:a="http://schemas.openxmlformats.org/drawingml/2006/main">
              <a:ext uri="{FF2B5EF4-FFF2-40B4-BE49-F238E27FC236}">
                <a16:creationId xmlns:a16="http://schemas.microsoft.com/office/drawing/2014/main" id="{0B0F8245-EF48-430D-93A1-11B5B234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210175"/>
            <a:ext cx="110109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Men</a:t>
            </a:r>
          </a:p>
        </p:txBody>
      </p:sp>
      <p:sp>
        <p:nvSpPr>
          <p:cNvPr id="44" name="box-218">
            <a:extLst xmlns:a="http://schemas.openxmlformats.org/drawingml/2006/main">
              <a:ext uri="{FF2B5EF4-FFF2-40B4-BE49-F238E27FC236}">
                <a16:creationId xmlns:a16="http://schemas.microsoft.com/office/drawing/2014/main" id="{D898F1BD-BF03-4365-A6E4-50135062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5257800"/>
            <a:ext cx="14573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F"/>
          </a:solidFill>
          <a:ln xmlns:a="http://schemas.openxmlformats.org/drawingml/2006/main" w="0">
            <a:noFill/>
          </a:ln>
        </p:spPr>
      </p:sp>
      <p:sp>
        <p:nvSpPr>
          <p:cNvPr id="45" name="box-219">
            <a:extLst xmlns:a="http://schemas.openxmlformats.org/drawingml/2006/main">
              <a:ext uri="{FF2B5EF4-FFF2-40B4-BE49-F238E27FC236}">
                <a16:creationId xmlns:a16="http://schemas.microsoft.com/office/drawing/2014/main" id="{E3F4EC9F-3EE5-41B1-93CC-AB985930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295" y="5257800"/>
            <a:ext cx="55815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6" name="text-220">
            <a:extLst xmlns:a="http://schemas.openxmlformats.org/drawingml/2006/main">
              <a:ext uri="{FF2B5EF4-FFF2-40B4-BE49-F238E27FC236}">
                <a16:creationId xmlns:a16="http://schemas.microsoft.com/office/drawing/2014/main" id="{FF78AA6A-54EC-483B-AC5F-630197B1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390" y="5210175"/>
            <a:ext cx="51816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D0B10"/>
                </a:solidFill>
                <a:latin typeface="Arial"/>
                <a:ea typeface="Arial"/>
                <a:cs typeface="Arial"/>
              </a:rPr>
              <a:t>38.3%</a:t>
            </a:r>
          </a:p>
        </p:txBody>
      </p:sp>
      <p:sp>
        <p:nvSpPr>
          <p:cNvPr id="47" name="text-221">
            <a:extLst xmlns:a="http://schemas.openxmlformats.org/drawingml/2006/main">
              <a:ext uri="{FF2B5EF4-FFF2-40B4-BE49-F238E27FC236}">
                <a16:creationId xmlns:a16="http://schemas.microsoft.com/office/drawing/2014/main" id="{A3DDD432-8052-46E4-B405-4A5BE92F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6482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PATREON</a:t>
            </a:r>
          </a:p>
        </p:txBody>
      </p:sp>
      <p:sp>
        <p:nvSpPr>
          <p:cNvPr id="48" name="text-222">
            <a:extLst xmlns:a="http://schemas.openxmlformats.org/drawingml/2006/main">
              <a:ext uri="{FF2B5EF4-FFF2-40B4-BE49-F238E27FC236}">
                <a16:creationId xmlns:a16="http://schemas.microsoft.com/office/drawing/2014/main" id="{98039B0C-14F5-4932-A726-073D8891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933950"/>
            <a:ext cx="1476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6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86</a:t>
            </a:r>
          </a:p>
        </p:txBody>
      </p:sp>
      <p:sp>
        <p:nvSpPr>
          <p:cNvPr id="49" name="text-223">
            <a:extLst xmlns:a="http://schemas.openxmlformats.org/drawingml/2006/main">
              <a:ext uri="{FF2B5EF4-FFF2-40B4-BE49-F238E27FC236}">
                <a16:creationId xmlns:a16="http://schemas.microsoft.com/office/drawing/2014/main" id="{177B8C2A-D1F5-4274-9362-DAF4B3D6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933950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600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17</a:t>
            </a:r>
          </a:p>
        </p:txBody>
      </p:sp>
      <p:sp>
        <p:nvSpPr>
          <p:cNvPr id="50" name="text-224">
            <a:extLst xmlns:a="http://schemas.openxmlformats.org/drawingml/2006/main">
              <a:ext uri="{FF2B5EF4-FFF2-40B4-BE49-F238E27FC236}">
                <a16:creationId xmlns:a16="http://schemas.microsoft.com/office/drawing/2014/main" id="{6CCEAD19-A286-45A4-9F9E-F7DC2820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5925"/>
            <a:ext cx="147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followers</a:t>
            </a:r>
          </a:p>
        </p:txBody>
      </p:sp>
      <p:sp>
        <p:nvSpPr>
          <p:cNvPr id="51" name="text-225">
            <a:extLst xmlns:a="http://schemas.openxmlformats.org/drawingml/2006/main">
              <a:ext uri="{FF2B5EF4-FFF2-40B4-BE49-F238E27FC236}">
                <a16:creationId xmlns:a16="http://schemas.microsoft.com/office/drawing/2014/main" id="{7DF7D705-AD2B-489C-8CE5-FEFFE9DA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495925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paid subscribers</a:t>
            </a:r>
          </a:p>
        </p:txBody>
      </p:sp>
      <p:sp>
        <p:nvSpPr>
          <p:cNvPr id="52" name="text-226">
            <a:extLst xmlns:a="http://schemas.openxmlformats.org/drawingml/2006/main">
              <a:ext uri="{FF2B5EF4-FFF2-40B4-BE49-F238E27FC236}">
                <a16:creationId xmlns:a16="http://schemas.microsoft.com/office/drawing/2014/main" id="{BF07C2F8-C918-4540-878C-BCC4547D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6048375"/>
            <a:ext cx="342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Source: Instagram Insights · Oct 2026</a:t>
            </a:r>
          </a:p>
        </p:txBody>
      </p:sp>
    </p:spTree>
    <p:extLst>
      <p:ext uri="{BB962C8B-B14F-4D97-AF65-F5344CB8AC3E}">
        <p14:creationId xmlns:p14="http://schemas.microsoft.com/office/powerpoint/2010/main" val="19200429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227">
            <a:extLst xmlns:a="http://schemas.openxmlformats.org/drawingml/2006/main">
              <a:ext uri="{FF2B5EF4-FFF2-40B4-BE49-F238E27FC236}">
                <a16:creationId xmlns:a16="http://schemas.microsoft.com/office/drawing/2014/main" id="{E0D06FEE-C82D-4F1E-9FDB-CF020278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28">
            <a:extLst xmlns:a="http://schemas.openxmlformats.org/drawingml/2006/main">
              <a:ext uri="{FF2B5EF4-FFF2-40B4-BE49-F238E27FC236}">
                <a16:creationId xmlns:a16="http://schemas.microsoft.com/office/drawing/2014/main" id="{BC61F228-97E9-4388-8D60-9C66B985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229">
            <a:extLst xmlns:a="http://schemas.openxmlformats.org/drawingml/2006/main">
              <a:ext uri="{FF2B5EF4-FFF2-40B4-BE49-F238E27FC236}">
                <a16:creationId xmlns:a16="http://schemas.microsoft.com/office/drawing/2014/main" id="{BD3E0A52-9C1F-4CCC-B62E-E988C9EC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230">
            <a:extLst xmlns:a="http://schemas.openxmlformats.org/drawingml/2006/main">
              <a:ext uri="{FF2B5EF4-FFF2-40B4-BE49-F238E27FC236}">
                <a16:creationId xmlns:a16="http://schemas.microsoft.com/office/drawing/2014/main" id="{486C9670-04B6-4FE4-BC13-7B049554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Brands she has worked with</a:t>
            </a:r>
          </a:p>
        </p:txBody>
      </p:sp>
      <p:sp>
        <p:nvSpPr>
          <p:cNvPr id="5" name="text-231">
            <a:extLst xmlns:a="http://schemas.openxmlformats.org/drawingml/2006/main">
              <a:ext uri="{FF2B5EF4-FFF2-40B4-BE49-F238E27FC236}">
                <a16:creationId xmlns:a16="http://schemas.microsoft.com/office/drawing/2014/main" id="{A96DFC19-5618-4D12-A1DB-EC47DC81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5 / 6</a:t>
            </a:r>
          </a:p>
        </p:txBody>
      </p:sp>
      <p:sp>
        <p:nvSpPr>
          <p:cNvPr id="6" name="text-232">
            <a:extLst xmlns:a="http://schemas.openxmlformats.org/drawingml/2006/main">
              <a:ext uri="{FF2B5EF4-FFF2-40B4-BE49-F238E27FC236}">
                <a16:creationId xmlns:a16="http://schemas.microsoft.com/office/drawing/2014/main" id="{84D4EB3E-D4F0-477A-8F28-27AFC2AB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defPPr>
            <a:lvl1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1pPr>
            <a:lvl2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2pPr>
            <a:lvl3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3pPr>
            <a:lvl4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4pPr>
            <a:lvl5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5pPr>
            <a:lvl6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6pPr>
            <a:lvl7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7pPr>
            <a:lvl8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8pPr>
            <a:lvl9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C2142F"/>
                </a:solidFill>
                <a:latin typeface="Georgia"/>
                <a:ea typeface="Georgia"/>
                <a:cs typeface="Georgia"/>
              </a:defRPr>
            </a:pPr>
            <a:r>
              <a:rPr sz="2475" b="0">
                <a:solidFill>
                  <a:srgbClr val="C2142F"/>
                </a:solidFill>
                <a:latin typeface="Georgia"/>
                <a:ea typeface="Georgia"/>
                <a:cs typeface="Georgia"/>
              </a:rPr>
              <a:t>XP-Pen</a:t>
            </a:r>
          </a:p>
        </p:txBody>
      </p:sp>
      <p:sp>
        <p:nvSpPr>
          <p:cNvPr id="7" name="text-233">
            <a:extLst xmlns:a="http://schemas.openxmlformats.org/drawingml/2006/main">
              <a:ext uri="{FF2B5EF4-FFF2-40B4-BE49-F238E27FC236}">
                <a16:creationId xmlns:a16="http://schemas.microsoft.com/office/drawing/2014/main" id="{7D4B8494-C714-4056-BC01-BB30E1CE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885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Deco 03 review and giveaway · 2021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8CFC2-BD5F-4746-89FD-4C2423F38C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688e54bc944a6"/>
          <a:stretch xmlns:a="http://schemas.openxmlformats.org/drawingml/2006/main"/>
        </p:blipFill>
        <p:spPr>
          <a:xfrm xmlns:a="http://schemas.openxmlformats.org/drawingml/2006/main">
            <a:off x="574014" y="2800350"/>
            <a:ext cx="4614598" cy="310515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E5FBB8-B95B-43AC-AF6C-4E3B962B86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e5069ed294b0c"/>
          <a:stretch xmlns:a="http://schemas.openxmlformats.org/drawingml/2006/main"/>
        </p:blipFill>
        <p:spPr>
          <a:xfrm xmlns:a="http://schemas.openxmlformats.org/drawingml/2006/main">
            <a:off x="3676650" y="5078866"/>
            <a:ext cx="1514475" cy="1081768"/>
          </a:xfrm>
          <a:prstGeom xmlns:a="http://schemas.openxmlformats.org/drawingml/2006/main" prst="rect">
            <a:avLst/>
          </a:prstGeom>
        </p:spPr>
      </p:pic>
      <p:sp>
        <p:nvSpPr>
          <p:cNvPr id="10" name="text-234">
            <a:extLst xmlns:a="http://schemas.openxmlformats.org/drawingml/2006/main">
              <a:ext uri="{FF2B5EF4-FFF2-40B4-BE49-F238E27FC236}">
                <a16:creationId xmlns:a16="http://schemas.microsoft.com/office/drawing/2014/main" id="{A84BE554-EE5D-4361-808B-D32AD8D5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90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BRIEF</a:t>
            </a:r>
          </a:p>
        </p:txBody>
      </p:sp>
      <p:sp>
        <p:nvSpPr>
          <p:cNvPr id="11" name="text-235">
            <a:extLst xmlns:a="http://schemas.openxmlformats.org/drawingml/2006/main">
              <a:ext uri="{FF2B5EF4-FFF2-40B4-BE49-F238E27FC236}">
                <a16:creationId xmlns:a16="http://schemas.microsoft.com/office/drawing/2014/main" id="{190C22CA-1762-401F-A6A4-8834F844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95500"/>
            <a:ext cx="59817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XP-Pen Brasil sent the Deco 03 to Giums for testing and evaluation. The artist created a review, promoted the giveaway and shared her feedback with the brand.</a:t>
            </a:r>
          </a:p>
        </p:txBody>
      </p:sp>
      <p:sp>
        <p:nvSpPr>
          <p:cNvPr id="12" name="text-236">
            <a:extLst xmlns:a="http://schemas.openxmlformats.org/drawingml/2006/main">
              <a:ext uri="{FF2B5EF4-FFF2-40B4-BE49-F238E27FC236}">
                <a16:creationId xmlns:a16="http://schemas.microsoft.com/office/drawing/2014/main" id="{38B88F9D-1B2A-45E0-B904-17C75E75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143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PERIOD</a:t>
            </a:r>
          </a:p>
        </p:txBody>
      </p:sp>
      <p:sp>
        <p:nvSpPr>
          <p:cNvPr id="13" name="text-237">
            <a:extLst xmlns:a="http://schemas.openxmlformats.org/drawingml/2006/main">
              <a:ext uri="{FF2B5EF4-FFF2-40B4-BE49-F238E27FC236}">
                <a16:creationId xmlns:a16="http://schemas.microsoft.com/office/drawing/2014/main" id="{B24B7ECB-EE61-4C3F-846C-8C3FE237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19475"/>
            <a:ext cx="595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June – July 2021</a:t>
            </a:r>
          </a:p>
        </p:txBody>
      </p:sp>
      <p:sp>
        <p:nvSpPr>
          <p:cNvPr id="14" name="text-238">
            <a:extLst xmlns:a="http://schemas.openxmlformats.org/drawingml/2006/main">
              <a:ext uri="{FF2B5EF4-FFF2-40B4-BE49-F238E27FC236}">
                <a16:creationId xmlns:a16="http://schemas.microsoft.com/office/drawing/2014/main" id="{54FE63C6-ED5B-4395-B423-D824952C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71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DELIVERABLES</a:t>
            </a:r>
          </a:p>
        </p:txBody>
      </p:sp>
      <p:sp>
        <p:nvSpPr>
          <p:cNvPr id="15" name="text-239">
            <a:extLst xmlns:a="http://schemas.openxmlformats.org/drawingml/2006/main">
              <a:ext uri="{FF2B5EF4-FFF2-40B4-BE49-F238E27FC236}">
                <a16:creationId xmlns:a16="http://schemas.microsoft.com/office/drawing/2014/main" id="{036BCA56-1C3A-4B61-B385-C216B0ED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57650"/>
            <a:ext cx="5981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Instagram reel announcing the review and giveaway; YouTube video (9:53) with the XP-Pen Deco 03 review and a Yone fan art sketch; tablet giveaway with exclusive art; discount code for her audience.</a:t>
            </a:r>
          </a:p>
        </p:txBody>
      </p:sp>
      <p:sp>
        <p:nvSpPr>
          <p:cNvPr id="16" name="text-240">
            <a:extLst xmlns:a="http://schemas.openxmlformats.org/drawingml/2006/main">
              <a:ext uri="{FF2B5EF4-FFF2-40B4-BE49-F238E27FC236}">
                <a16:creationId xmlns:a16="http://schemas.microsoft.com/office/drawing/2014/main" id="{BBEF3C53-2B6C-479D-8CC8-53444E4F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863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RESULTS</a:t>
            </a:r>
          </a:p>
        </p:txBody>
      </p:sp>
      <p:sp>
        <p:nvSpPr>
          <p:cNvPr id="17" name="text-241">
            <a:extLst xmlns:a="http://schemas.openxmlformats.org/drawingml/2006/main">
              <a:ext uri="{FF2B5EF4-FFF2-40B4-BE49-F238E27FC236}">
                <a16:creationId xmlns:a16="http://schemas.microsoft.com/office/drawing/2014/main" id="{E42F6C60-2A9E-4C12-8591-321B2662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543550"/>
            <a:ext cx="5981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0D0B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D0B10"/>
                </a:solidFill>
                <a:latin typeface="Arial"/>
                <a:ea typeface="Arial"/>
                <a:cs typeface="Arial"/>
              </a:rPr>
              <a:t>YouTube: 3.2K views, 161 likes. Instagram reel: 221 likes, 10 comments (Oct 2026).</a:t>
            </a:r>
          </a:p>
        </p:txBody>
      </p:sp>
      <p:sp>
        <p:nvSpPr>
          <p:cNvPr id="18" name="text-242">
            <a:extLst xmlns:a="http://schemas.openxmlformats.org/drawingml/2006/main">
              <a:ext uri="{FF2B5EF4-FFF2-40B4-BE49-F238E27FC236}">
                <a16:creationId xmlns:a16="http://schemas.microsoft.com/office/drawing/2014/main" id="{E0EA9850-43C2-490B-91A4-18F7114A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6162675"/>
            <a:ext cx="1695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YouTube</a:t>
            </a:r>
          </a:p>
        </p:txBody>
      </p:sp>
      <p:sp>
        <p:nvSpPr>
          <p:cNvPr id="19" name="rule-243">
            <a:extLst xmlns:a="http://schemas.openxmlformats.org/drawingml/2006/main">
              <a:ext uri="{FF2B5EF4-FFF2-40B4-BE49-F238E27FC236}">
                <a16:creationId xmlns:a16="http://schemas.microsoft.com/office/drawing/2014/main" id="{26DF393B-8F24-4DEB-BC59-C17C14C5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6515100"/>
            <a:ext cx="67208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0" name="hotspot-1">
            <a:extLst xmlns:a="http://schemas.openxmlformats.org/drawingml/2006/main">
              <a:ext uri="{FF2B5EF4-FFF2-40B4-BE49-F238E27FC236}">
                <a16:creationId xmlns:a16="http://schemas.microsoft.com/office/drawing/2014/main" id="{894A161D-1EFF-40DF-98BF-3D56DE88993A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6162675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1" name="text-245">
            <a:extLst xmlns:a="http://schemas.openxmlformats.org/drawingml/2006/main">
              <a:ext uri="{FF2B5EF4-FFF2-40B4-BE49-F238E27FC236}">
                <a16:creationId xmlns:a16="http://schemas.microsoft.com/office/drawing/2014/main" id="{06B758A9-F8CC-4314-B564-7C3B6EFE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162675"/>
            <a:ext cx="1695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Instagram</a:t>
            </a:r>
          </a:p>
        </p:txBody>
      </p:sp>
      <p:sp>
        <p:nvSpPr>
          <p:cNvPr id="22" name="rule-246">
            <a:extLst xmlns:a="http://schemas.openxmlformats.org/drawingml/2006/main">
              <a:ext uri="{FF2B5EF4-FFF2-40B4-BE49-F238E27FC236}">
                <a16:creationId xmlns:a16="http://schemas.microsoft.com/office/drawing/2014/main" id="{BE636E77-69F5-460B-BE7D-86BF5571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515100"/>
            <a:ext cx="86410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23" name="hotspot-2">
            <a:extLst xmlns:a="http://schemas.openxmlformats.org/drawingml/2006/main">
              <a:ext uri="{FF2B5EF4-FFF2-40B4-BE49-F238E27FC236}">
                <a16:creationId xmlns:a16="http://schemas.microsoft.com/office/drawing/2014/main" id="{AE5AA133-DD4B-4405-BBAF-737E70151A26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162675"/>
            <a:ext cx="1695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956132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248">
            <a:extLst xmlns:a="http://schemas.openxmlformats.org/drawingml/2006/main">
              <a:ext uri="{FF2B5EF4-FFF2-40B4-BE49-F238E27FC236}">
                <a16:creationId xmlns:a16="http://schemas.microsoft.com/office/drawing/2014/main" id="{3569F92E-A9DF-40CE-AC85-5DFCF6C5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GIUMS</a:t>
            </a:r>
          </a:p>
        </p:txBody>
      </p:sp>
      <p:sp>
        <p:nvSpPr>
          <p:cNvPr id="2" name="text-249">
            <a:extLst xmlns:a="http://schemas.openxmlformats.org/drawingml/2006/main">
              <a:ext uri="{FF2B5EF4-FFF2-40B4-BE49-F238E27FC236}">
                <a16:creationId xmlns:a16="http://schemas.microsoft.com/office/drawing/2014/main" id="{369C320B-D7F9-4ED4-B76D-2349D2DB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0050"/>
            <a:ext cx="490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D555A"/>
                </a:solidFill>
                <a:latin typeface="Arial"/>
                <a:ea typeface="Arial"/>
                <a:cs typeface="Arial"/>
              </a:rPr>
              <a:t>MEDIA KIT · BRANDS &amp; PARTNERSHIPS · 2026</a:t>
            </a:r>
          </a:p>
        </p:txBody>
      </p:sp>
      <p:sp>
        <p:nvSpPr>
          <p:cNvPr id="3" name="rule-250">
            <a:extLst xmlns:a="http://schemas.openxmlformats.org/drawingml/2006/main">
              <a:ext uri="{FF2B5EF4-FFF2-40B4-BE49-F238E27FC236}">
                <a16:creationId xmlns:a16="http://schemas.microsoft.com/office/drawing/2014/main" id="{85BD1396-070C-4DEB-B307-1AAB6E99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4" name="text-251">
            <a:extLst xmlns:a="http://schemas.openxmlformats.org/drawingml/2006/main">
              <a:ext uri="{FF2B5EF4-FFF2-40B4-BE49-F238E27FC236}">
                <a16:creationId xmlns:a16="http://schemas.microsoft.com/office/drawing/2014/main" id="{D82EBFC3-E505-4D5B-9A66-F35909C3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11049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3300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Work with Giums</a:t>
            </a:r>
          </a:p>
        </p:txBody>
      </p:sp>
      <p:sp>
        <p:nvSpPr>
          <p:cNvPr id="5" name="text-252">
            <a:extLst xmlns:a="http://schemas.openxmlformats.org/drawingml/2006/main">
              <a:ext uri="{FF2B5EF4-FFF2-40B4-BE49-F238E27FC236}">
                <a16:creationId xmlns:a16="http://schemas.microsoft.com/office/drawing/2014/main" id="{EA0A9A7E-A96E-4000-9D60-FFDD2E11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6 / 6</a:t>
            </a:r>
          </a:p>
        </p:txBody>
      </p:sp>
      <p:sp>
        <p:nvSpPr>
          <p:cNvPr id="6" name="text-253">
            <a:extLst xmlns:a="http://schemas.openxmlformats.org/drawingml/2006/main">
              <a:ext uri="{FF2B5EF4-FFF2-40B4-BE49-F238E27FC236}">
                <a16:creationId xmlns:a16="http://schemas.microsoft.com/office/drawing/2014/main" id="{868E209E-DBE5-4493-9866-B3328301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ILLUSTRATED CAMPAIGNS</a:t>
            </a:r>
          </a:p>
        </p:txBody>
      </p:sp>
      <p:sp>
        <p:nvSpPr>
          <p:cNvPr id="7" name="text-254">
            <a:extLst xmlns:a="http://schemas.openxmlformats.org/drawingml/2006/main">
              <a:ext uri="{FF2B5EF4-FFF2-40B4-BE49-F238E27FC236}">
                <a16:creationId xmlns:a16="http://schemas.microsoft.com/office/drawing/2014/main" id="{B412E5BF-0EFD-44B7-84DD-316C59BD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60102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Test illustrations for traditional or digital products.</a:t>
            </a:r>
          </a:p>
        </p:txBody>
      </p:sp>
      <p:sp>
        <p:nvSpPr>
          <p:cNvPr id="8" name="rule-255">
            <a:extLst xmlns:a="http://schemas.openxmlformats.org/drawingml/2006/main">
              <a:ext uri="{FF2B5EF4-FFF2-40B4-BE49-F238E27FC236}">
                <a16:creationId xmlns:a16="http://schemas.microsoft.com/office/drawing/2014/main" id="{C43C3293-F383-4CC0-9084-7B12E0DF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596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D"/>
          </a:solidFill>
          <a:ln xmlns:a="http://schemas.openxmlformats.org/drawingml/2006/main" w="0">
            <a:noFill/>
          </a:ln>
        </p:spPr>
      </p:sp>
      <p:sp>
        <p:nvSpPr>
          <p:cNvPr id="9" name="text-256">
            <a:extLst xmlns:a="http://schemas.openxmlformats.org/drawingml/2006/main">
              <a:ext uri="{FF2B5EF4-FFF2-40B4-BE49-F238E27FC236}">
                <a16:creationId xmlns:a16="http://schemas.microsoft.com/office/drawing/2014/main" id="{9B96CBF6-3892-4493-BC35-79C55E80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REVIEWS &amp; GIVEAWAYS</a:t>
            </a:r>
          </a:p>
        </p:txBody>
      </p:sp>
      <p:sp>
        <p:nvSpPr>
          <p:cNvPr id="10" name="text-257">
            <a:extLst xmlns:a="http://schemas.openxmlformats.org/drawingml/2006/main">
              <a:ext uri="{FF2B5EF4-FFF2-40B4-BE49-F238E27FC236}">
                <a16:creationId xmlns:a16="http://schemas.microsoft.com/office/drawing/2014/main" id="{EC3A2579-42BF-453C-83AD-CA2DAA38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60102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Product reviews and giveaways for her community, as in the XP-Pen partnership.</a:t>
            </a:r>
          </a:p>
        </p:txBody>
      </p:sp>
      <p:sp>
        <p:nvSpPr>
          <p:cNvPr id="11" name="rule-258">
            <a:extLst xmlns:a="http://schemas.openxmlformats.org/drawingml/2006/main">
              <a:ext uri="{FF2B5EF4-FFF2-40B4-BE49-F238E27FC236}">
                <a16:creationId xmlns:a16="http://schemas.microsoft.com/office/drawing/2014/main" id="{0F4775DD-FAFA-414C-BD59-2CC535E1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05275"/>
            <a:ext cx="596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D"/>
          </a:solidFill>
          <a:ln xmlns:a="http://schemas.openxmlformats.org/drawingml/2006/main" w="0">
            <a:noFill/>
          </a:ln>
        </p:spPr>
      </p:sp>
      <p:sp>
        <p:nvSpPr>
          <p:cNvPr id="12" name="text-259">
            <a:extLst xmlns:a="http://schemas.openxmlformats.org/drawingml/2006/main">
              <a:ext uri="{FF2B5EF4-FFF2-40B4-BE49-F238E27FC236}">
                <a16:creationId xmlns:a16="http://schemas.microsoft.com/office/drawing/2014/main" id="{5AB1F38E-79C3-4E45-87C9-A5BBCF6D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C2142F"/>
                </a:solidFill>
                <a:latin typeface="Arial"/>
                <a:ea typeface="Arial"/>
                <a:cs typeface="Arial"/>
              </a:rPr>
              <a:t>PROCESS CONTENT</a:t>
            </a:r>
          </a:p>
        </p:txBody>
      </p:sp>
      <p:sp>
        <p:nvSpPr>
          <p:cNvPr id="13" name="text-260">
            <a:extLst xmlns:a="http://schemas.openxmlformats.org/drawingml/2006/main">
              <a:ext uri="{FF2B5EF4-FFF2-40B4-BE49-F238E27FC236}">
                <a16:creationId xmlns:a16="http://schemas.microsoft.com/office/drawing/2014/main" id="{23C24A90-F8E7-490E-B803-BC9BB536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9625"/>
            <a:ext cx="60102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D555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D555A"/>
                </a:solidFill>
                <a:latin typeface="Arial"/>
                <a:ea typeface="Arial"/>
                <a:cs typeface="Arial"/>
              </a:rPr>
              <a:t>Sketches, timelapses and making-of for Instagram and YouTube.</a:t>
            </a:r>
          </a:p>
        </p:txBody>
      </p:sp>
      <p:sp>
        <p:nvSpPr>
          <p:cNvPr id="14" name="rule-261">
            <a:extLst xmlns:a="http://schemas.openxmlformats.org/drawingml/2006/main">
              <a:ext uri="{FF2B5EF4-FFF2-40B4-BE49-F238E27FC236}">
                <a16:creationId xmlns:a16="http://schemas.microsoft.com/office/drawing/2014/main" id="{7B3C4B17-FF22-48E1-AA36-353C4C3B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38325"/>
            <a:ext cx="19050" cy="387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5" name="text-262">
            <a:extLst xmlns:a="http://schemas.openxmlformats.org/drawingml/2006/main">
              <a:ext uri="{FF2B5EF4-FFF2-40B4-BE49-F238E27FC236}">
                <a16:creationId xmlns:a16="http://schemas.microsoft.com/office/drawing/2014/main" id="{E66AC68B-C946-46FD-9D6E-3B73ABEA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076450"/>
            <a:ext cx="390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defPPr>
            <a:lvl1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1pPr>
            <a:lvl2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2pPr>
            <a:lvl3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3pPr>
            <a:lvl4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4pPr>
            <a:lvl5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5pPr>
            <a:lvl6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6pPr>
            <a:lvl7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7pPr>
            <a:lvl8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8pPr>
            <a:lvl9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925" b="0">
                <a:solidFill>
                  <a:srgbClr val="0D0B10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0D0B10"/>
                </a:solidFill>
                <a:latin typeface="Georgia"/>
                <a:ea typeface="Georgia"/>
                <a:cs typeface="Georgia"/>
              </a:rPr>
              <a:t>Let’s Create Together</a:t>
            </a:r>
          </a:p>
        </p:txBody>
      </p:sp>
      <p:sp>
        <p:nvSpPr>
          <p:cNvPr id="16" name="text-263">
            <a:extLst xmlns:a="http://schemas.openxmlformats.org/drawingml/2006/main">
              <a:ext uri="{FF2B5EF4-FFF2-40B4-BE49-F238E27FC236}">
                <a16:creationId xmlns:a16="http://schemas.microsoft.com/office/drawing/2014/main" id="{62278B63-2B18-46B8-A557-564E8D39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62325"/>
            <a:ext cx="381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C2142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C2142F"/>
                </a:solidFill>
                <a:latin typeface="Arial"/>
                <a:ea typeface="Arial"/>
                <a:cs typeface="Arial"/>
              </a:rPr>
              <a:t>giumsart@gmail.com</a:t>
            </a:r>
          </a:p>
        </p:txBody>
      </p:sp>
      <p:sp>
        <p:nvSpPr>
          <p:cNvPr id="17" name="rule-264">
            <a:extLst xmlns:a="http://schemas.openxmlformats.org/drawingml/2006/main">
              <a:ext uri="{FF2B5EF4-FFF2-40B4-BE49-F238E27FC236}">
                <a16:creationId xmlns:a16="http://schemas.microsoft.com/office/drawing/2014/main" id="{08EF4E58-3179-4AD8-B8F2-D6A24297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14750"/>
            <a:ext cx="249631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  <p:sp>
        <p:nvSpPr>
          <p:cNvPr id="18" name="hotspot-1">
            <a:extLst xmlns:a="http://schemas.openxmlformats.org/drawingml/2006/main">
              <a:ext uri="{FF2B5EF4-FFF2-40B4-BE49-F238E27FC236}">
                <a16:creationId xmlns:a16="http://schemas.microsoft.com/office/drawing/2014/main" id="{5E826CD3-50EF-4B27-B7C8-0FBFDE452B88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62325"/>
            <a:ext cx="3810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rule-266">
            <a:extLst xmlns:a="http://schemas.openxmlformats.org/drawingml/2006/main">
              <a:ext uri="{FF2B5EF4-FFF2-40B4-BE49-F238E27FC236}">
                <a16:creationId xmlns:a16="http://schemas.microsoft.com/office/drawing/2014/main" id="{BF354788-3C49-4A20-9889-6A7A296D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34125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142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442538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2026-10-17T00:23:25.7420000Z</dcterms:created>
  <dcterms:modified xsi:type="dcterms:W3CDTF">2026-10-17T00:23:25.7420000Z</dcterms:modified>
</coreProperties>
</file>