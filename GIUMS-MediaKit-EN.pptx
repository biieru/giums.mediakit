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73885c614c94cba" /><Relationship Type="http://schemas.openxmlformats.org/officeDocument/2006/relationships/extended-properties" Target="/docProps/app.xml" Id="R080e78887e9d4792" /><Relationship Type="http://schemas.openxmlformats.org/officeDocument/2006/relationships/officeDocument" Target="/ppt/presentation.xml" Id="R435fd81a76d44dc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6252e9f644d41f9"/>
  </p:sldMasterIdLst>
  <p:notesMasterIdLst>
    <p:notesMasterId xmlns:r="http://schemas.openxmlformats.org/officeDocument/2006/relationships" r:id="Rb51b9a4ea1c84eaf"/>
  </p:notesMasterIdLst>
  <p:sldIdLst>
    <p:sldId xmlns:r="http://schemas.openxmlformats.org/officeDocument/2006/relationships" id="256" r:id="R4e776163f38d418f"/>
    <p:sldId xmlns:r="http://schemas.openxmlformats.org/officeDocument/2006/relationships" id="257" r:id="Rc8124e6b013041d5"/>
    <p:sldId xmlns:r="http://schemas.openxmlformats.org/officeDocument/2006/relationships" id="258" r:id="R619579fc907a4041"/>
    <p:sldId xmlns:r="http://schemas.openxmlformats.org/officeDocument/2006/relationships" id="259" r:id="R761a8912e413429b"/>
    <p:sldId xmlns:r="http://schemas.openxmlformats.org/officeDocument/2006/relationships" id="260" r:id="R5a4e92a883304a57"/>
    <p:sldId xmlns:r="http://schemas.openxmlformats.org/officeDocument/2006/relationships" id="261" r:id="R55c1b2865a774054"/>
    <p:sldId xmlns:r="http://schemas.openxmlformats.org/officeDocument/2006/relationships" id="262" r:id="R5b82ed7fc0694109"/>
    <p:sldId xmlns:r="http://schemas.openxmlformats.org/officeDocument/2006/relationships" id="263" r:id="R4d7fcc99b1a3472a"/>
    <p:sldId xmlns:r="http://schemas.openxmlformats.org/officeDocument/2006/relationships" id="264" r:id="R2c6e4b9639784798"/>
    <p:sldId xmlns:r="http://schemas.openxmlformats.org/officeDocument/2006/relationships" id="265" r:id="Rd16cc6372fc54de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a7b77908f6a47ad" /><Relationship Type="http://schemas.openxmlformats.org/officeDocument/2006/relationships/slideMaster" Target="/ppt/slideMasters/slideMaster1.xml" Id="R56252e9f644d41f9" /><Relationship Type="http://schemas.openxmlformats.org/officeDocument/2006/relationships/notesMaster" Target="/ppt/notesMasters/notesMaster1.xml" Id="Rb51b9a4ea1c84eaf" /><Relationship Type="http://schemas.openxmlformats.org/officeDocument/2006/relationships/presProps" Target="/ppt/presProps.xml" Id="Rb56b6042729743a9" /><Relationship Type="http://schemas.openxmlformats.org/officeDocument/2006/relationships/tableStyles" Target="/ppt/tableStyles.xml" Id="R1438808ca49044fd" /><Relationship Type="http://schemas.openxmlformats.org/officeDocument/2006/relationships/slide" Target="/ppt/slides/slide1.xml" Id="R4e776163f38d418f" /><Relationship Type="http://schemas.openxmlformats.org/officeDocument/2006/relationships/slide" Target="/ppt/slides/slide2.xml" Id="Rc8124e6b013041d5" /><Relationship Type="http://schemas.openxmlformats.org/officeDocument/2006/relationships/slide" Target="/ppt/slides/slide3.xml" Id="R619579fc907a4041" /><Relationship Type="http://schemas.openxmlformats.org/officeDocument/2006/relationships/slide" Target="/ppt/slides/slide4.xml" Id="R761a8912e413429b" /><Relationship Type="http://schemas.openxmlformats.org/officeDocument/2006/relationships/slide" Target="/ppt/slides/slide5.xml" Id="R5a4e92a883304a57" /><Relationship Type="http://schemas.openxmlformats.org/officeDocument/2006/relationships/slide" Target="/ppt/slides/slide6.xml" Id="R55c1b2865a774054" /><Relationship Type="http://schemas.openxmlformats.org/officeDocument/2006/relationships/slide" Target="/ppt/slides/slide7.xml" Id="R5b82ed7fc0694109" /><Relationship Type="http://schemas.openxmlformats.org/officeDocument/2006/relationships/slide" Target="/ppt/slides/slide8.xml" Id="R4d7fcc99b1a3472a" /><Relationship Type="http://schemas.openxmlformats.org/officeDocument/2006/relationships/slide" Target="/ppt/slides/slide9.xml" Id="R2c6e4b9639784798" /><Relationship Type="http://schemas.openxmlformats.org/officeDocument/2006/relationships/slide" Target="/ppt/slides/slide10.xml" Id="Rd16cc6372fc54de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ff3bee62a7e479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e49315d808b4d22" /><Relationship Type="http://schemas.openxmlformats.org/officeDocument/2006/relationships/notesMaster" Target="/ppt/notesMasters/notesMaster1.xml" Id="Rddaafe081e67448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4b8427a7d754854" /><Relationship Type="http://schemas.openxmlformats.org/officeDocument/2006/relationships/notesMaster" Target="/ppt/notesMasters/notesMaster1.xml" Id="Rcc0ce301a8d24eb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8243c6c9a36419d" /><Relationship Type="http://schemas.openxmlformats.org/officeDocument/2006/relationships/notesMaster" Target="/ppt/notesMasters/notesMaster1.xml" Id="R595f429dd025414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b5cbbca5c4e490c" /><Relationship Type="http://schemas.openxmlformats.org/officeDocument/2006/relationships/notesMaster" Target="/ppt/notesMasters/notesMaster1.xml" Id="R2effbad91d4e41c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4d541d805944bb9" /><Relationship Type="http://schemas.openxmlformats.org/officeDocument/2006/relationships/notesMaster" Target="/ppt/notesMasters/notesMaster1.xml" Id="R350584d5499a466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8ebe72210de4506" /><Relationship Type="http://schemas.openxmlformats.org/officeDocument/2006/relationships/notesMaster" Target="/ppt/notesMasters/notesMaster1.xml" Id="Ref8fbb080083469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eb7bfcd93b545cf" /><Relationship Type="http://schemas.openxmlformats.org/officeDocument/2006/relationships/notesMaster" Target="/ppt/notesMasters/notesMaster1.xml" Id="Rbf54f1393f50423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b5f4c3625a447f7" /><Relationship Type="http://schemas.openxmlformats.org/officeDocument/2006/relationships/notesMaster" Target="/ppt/notesMasters/notesMaster1.xml" Id="R3f616ae4f75a43e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3835febb5de4bbc" /><Relationship Type="http://schemas.openxmlformats.org/officeDocument/2006/relationships/notesMaster" Target="/ppt/notesMasters/notesMaster1.xml" Id="Rf4fb8cc6ce9844b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f11817094544c6f" /><Relationship Type="http://schemas.openxmlformats.org/officeDocument/2006/relationships/notesMaster" Target="/ppt/notesMasters/notesMaster1.xml" Id="Ra92b42ffb0514fd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5fe4005a044c3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da6e6eb436443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2cbb95f29147b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70d3f48fd34b0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b34f8c92f241e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8ce888178d422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75A6797-3061-4B7E-9A45-008876BD84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EBCF1C2-C9D4-4DD1-9D4B-2B78E46CB97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088DEA2-F1E9-4E68-8AB2-44426B5379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2D03DD6-6FB3-41CB-A17F-6CDB5CBC49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06C1524-9C02-49B3-BE34-CC936AA659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1C33600-8FA2-4080-9A95-560235C510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584FAEA-9A95-4AF1-AFD4-D81550AE08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958D725-233B-4BD0-B5A8-7316A324445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D069F36-BB54-4E38-8DCA-27460473021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C1FF87E-7948-4EC5-A09D-1A036394F5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785a84eecac41e3" /><Relationship Type="http://schemas.openxmlformats.org/officeDocument/2006/relationships/slideLayout" Target="/ppt/slideLayouts/slideLayout1.xml" Id="R7db53c5d1ddf49dc" /><Relationship Type="http://schemas.openxmlformats.org/officeDocument/2006/relationships/slideLayout" Target="/ppt/slideLayouts/slideLayout2.xml" Id="Re82f3164e14a4ff1" /><Relationship Type="http://schemas.openxmlformats.org/officeDocument/2006/relationships/slideLayout" Target="/ppt/slideLayouts/slideLayout3.xml" Id="Raf7a4253d78e4770" /><Relationship Type="http://schemas.openxmlformats.org/officeDocument/2006/relationships/slideLayout" Target="/ppt/slideLayouts/slideLayout4.xml" Id="Rd5707afdfc474960" /><Relationship Type="http://schemas.openxmlformats.org/officeDocument/2006/relationships/slideLayout" Target="/ppt/slideLayouts/slideLayout5.xml" Id="Rd447ab1b9dbd4ad5" /><Relationship Type="http://schemas.openxmlformats.org/officeDocument/2006/relationships/slideLayout" Target="/ppt/slideLayouts/slideLayout6.xml" Id="Rb83178b50334496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db53c5d1ddf49dc"/>
    <p:sldLayoutId xmlns:r="http://schemas.openxmlformats.org/officeDocument/2006/relationships" id="2147483650" r:id="Re82f3164e14a4ff1"/>
    <p:sldLayoutId xmlns:r="http://schemas.openxmlformats.org/officeDocument/2006/relationships" id="2147483651" r:id="Raf7a4253d78e4770"/>
    <p:sldLayoutId xmlns:r="http://schemas.openxmlformats.org/officeDocument/2006/relationships" id="2147483652" r:id="Rd5707afdfc474960"/>
    <p:sldLayoutId xmlns:r="http://schemas.openxmlformats.org/officeDocument/2006/relationships" id="2147483653" r:id="Rd447ab1b9dbd4ad5"/>
    <p:sldLayoutId xmlns:r="http://schemas.openxmlformats.org/officeDocument/2006/relationships" id="2147483654" r:id="Rb83178b50334496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deca78200849b8" /><Relationship Type="http://schemas.openxmlformats.org/officeDocument/2006/relationships/image" Target="/ppt/media/image.png" Id="Rd2e434ead5974fee" /><Relationship Type="http://schemas.openxmlformats.org/officeDocument/2006/relationships/notesSlide" Target="/ppt/notesSlides/notesSlide1.xml" Id="R4e3cb590ff2d4a3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1a748d2e72404f" /><Relationship Type="http://schemas.openxmlformats.org/officeDocument/2006/relationships/image" Target="/ppt/media/image2.png" Id="R5b4617db55c9483c" /><Relationship Type="http://schemas.openxmlformats.org/officeDocument/2006/relationships/notesSlide" Target="/ppt/notesSlides/notesSlide2.xml" Id="R54ae0bbe4715460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ca95dfdd064227" /><Relationship Type="http://schemas.openxmlformats.org/officeDocument/2006/relationships/notesSlide" Target="/ppt/notesSlides/notesSlide3.xml" Id="R0fe6c80a3051407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2d4dc2ebda4810" /><Relationship Type="http://schemas.openxmlformats.org/officeDocument/2006/relationships/hyperlink" Target="https://www.patreon.com/giums" TargetMode="External" Id="R41f3cd98f293483a" /><Relationship Type="http://schemas.openxmlformats.org/officeDocument/2006/relationships/image" Target="/ppt/media/image3.png" Id="R1cbc551951034666" /><Relationship Type="http://schemas.openxmlformats.org/officeDocument/2006/relationships/image" Target="/ppt/media/image4.png" Id="R0f5afd90ebc049ea" /><Relationship Type="http://schemas.openxmlformats.org/officeDocument/2006/relationships/image" Target="/ppt/media/image5.png" Id="Recb466898ba24024" /><Relationship Type="http://schemas.openxmlformats.org/officeDocument/2006/relationships/notesSlide" Target="/ppt/notesSlides/notesSlide4.xml" Id="R3b6e05e3d66f49b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fb707125384129" /><Relationship Type="http://schemas.openxmlformats.org/officeDocument/2006/relationships/notesSlide" Target="/ppt/notesSlides/notesSlide5.xml" Id="R8fc27619cdcd419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bb12aee9df4d17" /><Relationship Type="http://schemas.openxmlformats.org/officeDocument/2006/relationships/notesSlide" Target="/ppt/notesSlides/notesSlide6.xml" Id="Rbdf1ef1cb61a4ef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5d05be26164261" /><Relationship Type="http://schemas.openxmlformats.org/officeDocument/2006/relationships/notesSlide" Target="/ppt/notesSlides/notesSlide7.xml" Id="Rf1792bae3f55432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dfd970c6e94b2b" /><Relationship Type="http://schemas.openxmlformats.org/officeDocument/2006/relationships/notesSlide" Target="/ppt/notesSlides/notesSlide8.xml" Id="Ref87ed7d397c4c0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fa81cf43214e17" /><Relationship Type="http://schemas.openxmlformats.org/officeDocument/2006/relationships/image" Target="/ppt/media/image6.png" Id="Rffe600d863444af8" /><Relationship Type="http://schemas.openxmlformats.org/officeDocument/2006/relationships/image" Target="/ppt/media/image7.png" Id="R2fc1a6b63ce24a51" /><Relationship Type="http://schemas.openxmlformats.org/officeDocument/2006/relationships/hyperlink" Target="https://youtu.be/1wZL_RG2Ma4" TargetMode="External" Id="R1997139d77d34fc8" /><Relationship Type="http://schemas.openxmlformats.org/officeDocument/2006/relationships/hyperlink" Target="https://www.instagram.com/reels/CQjiu2mBFcf/" TargetMode="External" Id="R33cd0831a8d2489b" /><Relationship Type="http://schemas.openxmlformats.org/officeDocument/2006/relationships/notesSlide" Target="/ppt/notesSlides/notesSlide9.xml" Id="R2d39952079724f5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fb6956a2824786" /><Relationship Type="http://schemas.openxmlformats.org/officeDocument/2006/relationships/hyperlink" Target="mailto:giumsart@gmail.com" TargetMode="External" Id="R4a747ca6f9fb4253" /><Relationship Type="http://schemas.openxmlformats.org/officeDocument/2006/relationships/hyperlink" Target="https://giums.onrender.com" TargetMode="External" Id="R6b35421299d640a5" /><Relationship Type="http://schemas.openxmlformats.org/officeDocument/2006/relationships/hyperlink" Target="https://www.instagram.com/giums/" TargetMode="External" Id="R3b4a5c4bf6014c7c" /><Relationship Type="http://schemas.openxmlformats.org/officeDocument/2006/relationships/hyperlink" Target="https://bsky.app/profile/giums.bsky.social" TargetMode="External" Id="Rc2cd6434081a4043" /><Relationship Type="http://schemas.openxmlformats.org/officeDocument/2006/relationships/hyperlink" Target="https://www.youtube.com/@GIUMSyt" TargetMode="External" Id="Rc1419398ce6c42af" /><Relationship Type="http://schemas.openxmlformats.org/officeDocument/2006/relationships/hyperlink" Target="https://www.twitch.tv/giums" TargetMode="External" Id="R5b27fc9996df43b8" /><Relationship Type="http://schemas.openxmlformats.org/officeDocument/2006/relationships/hyperlink" Target="https://www.patreon.com/giums" TargetMode="External" Id="R08bb78178c2142be" /><Relationship Type="http://schemas.openxmlformats.org/officeDocument/2006/relationships/notesSlide" Target="/ppt/notesSlides/notesSlide10.xml" Id="R46e1dde55fdc47d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1">
            <a:extLst xmlns:a="http://schemas.openxmlformats.org/drawingml/2006/main">
              <a:ext uri="{FF2B5EF4-FFF2-40B4-BE49-F238E27FC236}">
                <a16:creationId xmlns:a16="http://schemas.microsoft.com/office/drawing/2014/main" id="{6383778D-7BF1-4F4A-924C-7BF46E46D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EFE9DF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AFAECE55-2584-441B-8C00-F911BDE0A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MEDIA KIT · BRANDS &amp; PARTNERSHIPS · 2026</a:t>
            </a:r>
          </a:p>
        </p:txBody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A17EF742-542A-4820-9DAD-E3182FE6C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1 / 10</a:t>
            </a:r>
          </a:p>
        </p:txBody>
      </p:sp>
      <p:sp>
        <p:nvSpPr>
          <p:cNvPr id="4" name="text-4">
            <a:extLst xmlns:a="http://schemas.openxmlformats.org/drawingml/2006/main">
              <a:ext uri="{FF2B5EF4-FFF2-40B4-BE49-F238E27FC236}">
                <a16:creationId xmlns:a16="http://schemas.microsoft.com/office/drawing/2014/main" id="{17CDF557-B478-4BE2-A8B1-381418B79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7A1A"/>
                </a:solidFill>
                <a:latin typeface="Arial"/>
                <a:ea typeface="Arial"/>
                <a:cs typeface="Arial"/>
              </a:rPr>
              <a:t>Media kit · Brands &amp; partnerships</a:t>
            </a:r>
          </a:p>
        </p:txBody>
      </p:sp>
      <p:sp>
        <p:nvSpPr>
          <p:cNvPr id="5" name="text-5">
            <a:extLst xmlns:a="http://schemas.openxmlformats.org/drawingml/2006/main">
              <a:ext uri="{FF2B5EF4-FFF2-40B4-BE49-F238E27FC236}">
                <a16:creationId xmlns:a16="http://schemas.microsoft.com/office/drawing/2014/main" id="{5F58DDEA-0A26-44B6-94A5-86F9A01D9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14525"/>
            <a:ext cx="714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8100" b="1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defPPr>
            <a:lvl1pPr>
              <a:defRPr sz="8100" b="1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1pPr>
            <a:lvl2pPr>
              <a:defRPr sz="8100" b="1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2pPr>
            <a:lvl3pPr>
              <a:defRPr sz="8100" b="1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3pPr>
            <a:lvl4pPr>
              <a:defRPr sz="8100" b="1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4pPr>
            <a:lvl5pPr>
              <a:defRPr sz="8100" b="1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5pPr>
            <a:lvl6pPr>
              <a:defRPr sz="8100" b="1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6pPr>
            <a:lvl7pPr>
              <a:defRPr sz="8100" b="1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7pPr>
            <a:lvl8pPr>
              <a:defRPr sz="8100" b="1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8pPr>
            <a:lvl9pPr>
              <a:defRPr sz="8100" b="1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8100" b="1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pPr>
            <a:r>
              <a:rPr sz="8100" b="1">
                <a:solidFill>
                  <a:srgbClr val="FF7A1A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6" name="text-6">
            <a:extLst xmlns:a="http://schemas.openxmlformats.org/drawingml/2006/main">
              <a:ext uri="{FF2B5EF4-FFF2-40B4-BE49-F238E27FC236}">
                <a16:creationId xmlns:a16="http://schemas.microsoft.com/office/drawing/2014/main" id="{210E4616-4585-4CF4-BC7F-2D3CD5E6A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647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7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defPPr>
            <a:lvl1pPr>
              <a:defRPr sz="27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1pPr>
            <a:lvl2pPr>
              <a:defRPr sz="27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2pPr>
            <a:lvl3pPr>
              <a:defRPr sz="27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3pPr>
            <a:lvl4pPr>
              <a:defRPr sz="27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4pPr>
            <a:lvl5pPr>
              <a:defRPr sz="27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5pPr>
            <a:lvl6pPr>
              <a:defRPr sz="27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6pPr>
            <a:lvl7pPr>
              <a:defRPr sz="27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7pPr>
            <a:lvl8pPr>
              <a:defRPr sz="27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8pPr>
            <a:lvl9pPr>
              <a:defRPr sz="27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pPr>
            <a:r>
              <a:rPr sz="2700" b="0">
                <a:solidFill>
                  <a:srgbClr val="EFE9DF"/>
                </a:solidFill>
                <a:latin typeface="Georgia"/>
                <a:ea typeface="Georgia"/>
                <a:cs typeface="Georgia"/>
              </a:rPr>
              <a:t>Character &amp; Creature Artist</a:t>
            </a:r>
          </a:p>
        </p:txBody>
      </p:sp>
      <p:sp>
        <p:nvSpPr>
          <p:cNvPr id="7" name="text-7">
            <a:extLst xmlns:a="http://schemas.openxmlformats.org/drawingml/2006/main">
              <a:ext uri="{FF2B5EF4-FFF2-40B4-BE49-F238E27FC236}">
                <a16:creationId xmlns:a16="http://schemas.microsoft.com/office/drawing/2014/main" id="{4FBB934F-EBE5-45DF-BAD9-1FCA76929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590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Dark fantasy character &amp; creature art, and YATHRA, her original draconic universe.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29D65F-ACB8-49D7-A46C-C1307E04EE5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e434ead5974fee"/>
          <a:stretch xmlns:a="http://schemas.openxmlformats.org/drawingml/2006/main"/>
        </p:blipFill>
        <p:spPr>
          <a:xfrm xmlns:a="http://schemas.openxmlformats.org/drawingml/2006/main">
            <a:off x="7915275" y="1042866"/>
            <a:ext cx="3314700" cy="4715118"/>
          </a:xfrm>
          <a:prstGeom xmlns:a="http://schemas.openxmlformats.org/drawingml/2006/main" prst="rect">
            <a:avLst/>
          </a:prstGeom>
        </p:spPr>
      </p:pic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D048A44F-890C-4A9B-AF9E-00B762B59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6038850"/>
            <a:ext cx="3476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Art of IGNAVRAK! Breath of the First Sun!</a:t>
            </a:r>
          </a:p>
        </p:txBody>
      </p:sp>
    </p:spTree>
    <p:extLst>
      <p:ext uri="{BB962C8B-B14F-4D97-AF65-F5344CB8AC3E}">
        <p14:creationId xmlns:p14="http://schemas.microsoft.com/office/powerpoint/2010/main" val="5987361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B2976120-3141-45DF-B292-D5CE0C294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0">
            <a:extLst xmlns:a="http://schemas.openxmlformats.org/drawingml/2006/main">
              <a:ext uri="{FF2B5EF4-FFF2-40B4-BE49-F238E27FC236}">
                <a16:creationId xmlns:a16="http://schemas.microsoft.com/office/drawing/2014/main" id="{DFB0DC33-38A2-4281-87C1-6048FD29F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BRANDS &amp; PARTNERSHIPS · 2026</a:t>
            </a:r>
          </a:p>
        </p:txBody>
      </p:sp>
      <p:sp>
        <p:nvSpPr>
          <p:cNvPr id="3" name="text-11">
            <a:extLst xmlns:a="http://schemas.openxmlformats.org/drawingml/2006/main">
              <a:ext uri="{FF2B5EF4-FFF2-40B4-BE49-F238E27FC236}">
                <a16:creationId xmlns:a16="http://schemas.microsoft.com/office/drawing/2014/main" id="{609A878D-76AD-4A48-9623-1A7041CCA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Who she is</a:t>
            </a:r>
          </a:p>
        </p:txBody>
      </p:sp>
      <p:sp>
        <p:nvSpPr>
          <p:cNvPr id="4" name="text-12">
            <a:extLst xmlns:a="http://schemas.openxmlformats.org/drawingml/2006/main">
              <a:ext uri="{FF2B5EF4-FFF2-40B4-BE49-F238E27FC236}">
                <a16:creationId xmlns:a16="http://schemas.microsoft.com/office/drawing/2014/main" id="{A33F16F9-98A3-4731-AB43-20031C0AD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2 / 10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93657B-6CEF-45BB-9938-C9B3125DED5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4617db55c9483c"/>
          <a:srcRect xmlns:a="http://schemas.openxmlformats.org/drawingml/2006/main" l="0" t="4591" r="0" b="45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800225"/>
            <a:ext cx="2619375" cy="4229100"/>
          </a:xfrm>
          <a:prstGeom xmlns:a="http://schemas.openxmlformats.org/drawingml/2006/main" prst="rect">
            <a:avLst/>
          </a:prstGeom>
        </p:spPr>
      </p:pic>
      <p:sp>
        <p:nvSpPr>
          <p:cNvPr id="6" name="text-13">
            <a:extLst xmlns:a="http://schemas.openxmlformats.org/drawingml/2006/main">
              <a:ext uri="{FF2B5EF4-FFF2-40B4-BE49-F238E27FC236}">
                <a16:creationId xmlns:a16="http://schemas.microsoft.com/office/drawing/2014/main" id="{EAF7C8B8-45FB-45E2-B8F7-A01220EDA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762125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315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GIUMS (Giu)</a:t>
            </a:r>
          </a:p>
        </p:txBody>
      </p:sp>
      <p:sp>
        <p:nvSpPr>
          <p:cNvPr id="7" name="text-14">
            <a:extLst xmlns:a="http://schemas.openxmlformats.org/drawingml/2006/main">
              <a:ext uri="{FF2B5EF4-FFF2-40B4-BE49-F238E27FC236}">
                <a16:creationId xmlns:a16="http://schemas.microsoft.com/office/drawing/2014/main" id="{7239D469-C1D9-4F2F-859F-760AFDEC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600325"/>
            <a:ext cx="75819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Visual artist and illustrator focused on character design for over 15 years, working both in Brazil and internationally, with a strong influence from geek culture, high fantasy, TCG and, above all, RPG.</a:t>
            </a:r>
          </a:p>
        </p:txBody>
      </p:sp>
      <p:sp>
        <p:nvSpPr>
          <p:cNvPr id="8" name="text-15">
            <a:extLst xmlns:a="http://schemas.openxmlformats.org/drawingml/2006/main">
              <a:ext uri="{FF2B5EF4-FFF2-40B4-BE49-F238E27FC236}">
                <a16:creationId xmlns:a16="http://schemas.microsoft.com/office/drawing/2014/main" id="{834B1E54-DDDF-446C-B26F-248DCA0D0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210050"/>
            <a:ext cx="75819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She is currently building a community on Patreon while developing her original project YATHRA: a concept art book and high fantasy swashbuckling RPG setting book, embracing queer culture (LGBTQIAPN+) and dragons. Lots of dragons!</a:t>
            </a:r>
          </a:p>
        </p:txBody>
      </p:sp>
      <p:sp>
        <p:nvSpPr>
          <p:cNvPr id="9" name="text-16">
            <a:extLst xmlns:a="http://schemas.openxmlformats.org/drawingml/2006/main">
              <a:ext uri="{FF2B5EF4-FFF2-40B4-BE49-F238E27FC236}">
                <a16:creationId xmlns:a16="http://schemas.microsoft.com/office/drawing/2014/main" id="{C2309285-CF87-4B79-9778-FCAA031F4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943600"/>
            <a:ext cx="7581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Languages: Portuguese · English</a:t>
            </a:r>
          </a:p>
        </p:txBody>
      </p:sp>
    </p:spTree>
    <p:extLst>
      <p:ext uri="{BB962C8B-B14F-4D97-AF65-F5344CB8AC3E}">
        <p14:creationId xmlns:p14="http://schemas.microsoft.com/office/powerpoint/2010/main" val="708995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7">
            <a:extLst xmlns:a="http://schemas.openxmlformats.org/drawingml/2006/main">
              <a:ext uri="{FF2B5EF4-FFF2-40B4-BE49-F238E27FC236}">
                <a16:creationId xmlns:a16="http://schemas.microsoft.com/office/drawing/2014/main" id="{BE15930A-7AFA-4D5F-BB4C-E5FEA0632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8">
            <a:extLst xmlns:a="http://schemas.openxmlformats.org/drawingml/2006/main">
              <a:ext uri="{FF2B5EF4-FFF2-40B4-BE49-F238E27FC236}">
                <a16:creationId xmlns:a16="http://schemas.microsoft.com/office/drawing/2014/main" id="{8E303DDB-5153-4D73-8DC5-3EAF33CF0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BRANDS &amp; PARTNERSHIPS · 2026</a:t>
            </a:r>
          </a:p>
        </p:txBody>
      </p:sp>
      <p:sp>
        <p:nvSpPr>
          <p:cNvPr id="3" name="text-19">
            <a:extLst xmlns:a="http://schemas.openxmlformats.org/drawingml/2006/main">
              <a:ext uri="{FF2B5EF4-FFF2-40B4-BE49-F238E27FC236}">
                <a16:creationId xmlns:a16="http://schemas.microsoft.com/office/drawing/2014/main" id="{176F45F8-3E43-4A36-BEA5-0FA50BBE4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Natural fits</a:t>
            </a:r>
          </a:p>
        </p:txBody>
      </p:sp>
      <p:sp>
        <p:nvSpPr>
          <p:cNvPr id="4" name="text-20">
            <a:extLst xmlns:a="http://schemas.openxmlformats.org/drawingml/2006/main">
              <a:ext uri="{FF2B5EF4-FFF2-40B4-BE49-F238E27FC236}">
                <a16:creationId xmlns:a16="http://schemas.microsoft.com/office/drawing/2014/main" id="{D90DE17D-859F-4D21-94B8-4A516CCD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3 / 10</a:t>
            </a:r>
          </a:p>
        </p:txBody>
      </p:sp>
      <p:sp>
        <p:nvSpPr>
          <p:cNvPr id="5" name="text-21">
            <a:extLst xmlns:a="http://schemas.openxmlformats.org/drawingml/2006/main">
              <a:ext uri="{FF2B5EF4-FFF2-40B4-BE49-F238E27FC236}">
                <a16:creationId xmlns:a16="http://schemas.microsoft.com/office/drawing/2014/main" id="{406D9E43-F900-4258-8681-D5AECCFA7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Tabletop RPG &amp; games</a:t>
            </a:r>
          </a:p>
        </p:txBody>
      </p:sp>
      <p:sp>
        <p:nvSpPr>
          <p:cNvPr id="6" name="text-22">
            <a:extLst xmlns:a="http://schemas.openxmlformats.org/drawingml/2006/main">
              <a:ext uri="{FF2B5EF4-FFF2-40B4-BE49-F238E27FC236}">
                <a16:creationId xmlns:a16="http://schemas.microsoft.com/office/drawing/2014/main" id="{C0E62B35-7E13-41C1-8A1E-D2B1DED40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523875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Designed for your project: characters, creatures and settings with visual consistency, ready to publish, serving publishers, game studios, TCG creators and independent community projects.</a:t>
            </a:r>
          </a:p>
        </p:txBody>
      </p:sp>
      <p:sp>
        <p:nvSpPr>
          <p:cNvPr id="7" name="text-23">
            <a:extLst xmlns:a="http://schemas.openxmlformats.org/drawingml/2006/main">
              <a:ext uri="{FF2B5EF4-FFF2-40B4-BE49-F238E27FC236}">
                <a16:creationId xmlns:a16="http://schemas.microsoft.com/office/drawing/2014/main" id="{CBCDA0AD-E408-457F-932F-D89786530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526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Content for brands</a:t>
            </a:r>
          </a:p>
        </p:txBody>
      </p:sp>
      <p:sp>
        <p:nvSpPr>
          <p:cNvPr id="8" name="text-24">
            <a:extLst xmlns:a="http://schemas.openxmlformats.org/drawingml/2006/main">
              <a:ext uri="{FF2B5EF4-FFF2-40B4-BE49-F238E27FC236}">
                <a16:creationId xmlns:a16="http://schemas.microsoft.com/office/drawing/2014/main" id="{18DF19F7-E676-472F-8EB8-DAB487A37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19350"/>
            <a:ext cx="523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Specialized content on products and tools for artists, connecting brands to the audience.</a:t>
            </a:r>
          </a:p>
        </p:txBody>
      </p:sp>
      <p:sp>
        <p:nvSpPr>
          <p:cNvPr id="9" name="text-25">
            <a:extLst xmlns:a="http://schemas.openxmlformats.org/drawingml/2006/main">
              <a:ext uri="{FF2B5EF4-FFF2-40B4-BE49-F238E27FC236}">
                <a16:creationId xmlns:a16="http://schemas.microsoft.com/office/drawing/2014/main" id="{2E0BE9B8-DF02-4FE1-A9F9-A287FFC7A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Art for books and games</a:t>
            </a:r>
          </a:p>
        </p:txBody>
      </p:sp>
      <p:sp>
        <p:nvSpPr>
          <p:cNvPr id="10" name="text-26">
            <a:extLst xmlns:a="http://schemas.openxmlformats.org/drawingml/2006/main">
              <a:ext uri="{FF2B5EF4-FFF2-40B4-BE49-F238E27FC236}">
                <a16:creationId xmlns:a16="http://schemas.microsoft.com/office/drawing/2014/main" id="{DD9D72EB-5F42-4FB8-B1E4-ED75A05C9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91025"/>
            <a:ext cx="523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Illustrations that help tell your story: covers, interior pages, cards and environment art.</a:t>
            </a:r>
          </a:p>
        </p:txBody>
      </p:sp>
      <p:sp>
        <p:nvSpPr>
          <p:cNvPr id="11" name="text-27">
            <a:extLst xmlns:a="http://schemas.openxmlformats.org/drawingml/2006/main">
              <a:ext uri="{FF2B5EF4-FFF2-40B4-BE49-F238E27FC236}">
                <a16:creationId xmlns:a16="http://schemas.microsoft.com/office/drawing/2014/main" id="{0EC04FC5-0D0D-4D1B-8CEB-3B4AAE5A0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From brief to final art</a:t>
            </a:r>
          </a:p>
        </p:txBody>
      </p:sp>
      <p:sp>
        <p:nvSpPr>
          <p:cNvPr id="12" name="text-28">
            <a:extLst xmlns:a="http://schemas.openxmlformats.org/drawingml/2006/main">
              <a:ext uri="{FF2B5EF4-FFF2-40B4-BE49-F238E27FC236}">
                <a16:creationId xmlns:a16="http://schemas.microsoft.com/office/drawing/2014/main" id="{EB7ABFF6-A1D3-48A3-A037-0B534C06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523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Original characters, creatures and complete reference sheets, with different angles, expressions, color palette, clothing and item details.</a:t>
            </a:r>
          </a:p>
        </p:txBody>
      </p:sp>
      <p:sp>
        <p:nvSpPr>
          <p:cNvPr id="13" name="text-29">
            <a:extLst xmlns:a="http://schemas.openxmlformats.org/drawingml/2006/main">
              <a:ext uri="{FF2B5EF4-FFF2-40B4-BE49-F238E27FC236}">
                <a16:creationId xmlns:a16="http://schemas.microsoft.com/office/drawing/2014/main" id="{A48FBD22-CA4C-4958-84A9-1A0867516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81375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Product reviews &amp; tests</a:t>
            </a:r>
          </a:p>
        </p:txBody>
      </p:sp>
      <p:sp>
        <p:nvSpPr>
          <p:cNvPr id="14" name="text-30">
            <a:extLst xmlns:a="http://schemas.openxmlformats.org/drawingml/2006/main">
              <a:ext uri="{FF2B5EF4-FFF2-40B4-BE49-F238E27FC236}">
                <a16:creationId xmlns:a16="http://schemas.microsoft.com/office/drawing/2014/main" id="{70BC557A-1D09-48C2-914A-6D49F761A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90950"/>
            <a:ext cx="523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Reviews of tools and materials for digital and traditional art, including drawing tablets, pen displays, digital pens, software, paints, brushes and other art supplies, exploring quality, performance and user experience.</a:t>
            </a:r>
          </a:p>
        </p:txBody>
      </p:sp>
      <p:sp>
        <p:nvSpPr>
          <p:cNvPr id="15" name="text-31">
            <a:extLst xmlns:a="http://schemas.openxmlformats.org/drawingml/2006/main">
              <a:ext uri="{FF2B5EF4-FFF2-40B4-BE49-F238E27FC236}">
                <a16:creationId xmlns:a16="http://schemas.microsoft.com/office/drawing/2014/main" id="{EBA2A14D-10D7-455D-9534-45C8FA0DE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38750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Art content &amp; demonstrations</a:t>
            </a:r>
          </a:p>
        </p:txBody>
      </p:sp>
      <p:sp>
        <p:nvSpPr>
          <p:cNvPr id="16" name="text-32">
            <a:extLst xmlns:a="http://schemas.openxmlformats.org/drawingml/2006/main">
              <a:ext uri="{FF2B5EF4-FFF2-40B4-BE49-F238E27FC236}">
                <a16:creationId xmlns:a16="http://schemas.microsoft.com/office/drawing/2014/main" id="{58B29AAC-89E5-4142-B464-5E6712470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648325"/>
            <a:ext cx="523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Production of illustrations, tutorials and demonstrations with digital and traditional products, highlighting their creative applications in promotional content.</a:t>
            </a:r>
          </a:p>
        </p:txBody>
      </p:sp>
    </p:spTree>
    <p:extLst>
      <p:ext uri="{BB962C8B-B14F-4D97-AF65-F5344CB8AC3E}">
        <p14:creationId xmlns:p14="http://schemas.microsoft.com/office/powerpoint/2010/main" val="16446665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33">
            <a:extLst xmlns:a="http://schemas.openxmlformats.org/drawingml/2006/main">
              <a:ext uri="{FF2B5EF4-FFF2-40B4-BE49-F238E27FC236}">
                <a16:creationId xmlns:a16="http://schemas.microsoft.com/office/drawing/2014/main" id="{0CDE83F3-AB21-48C0-9073-37946DD57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EFE9DF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34">
            <a:extLst xmlns:a="http://schemas.openxmlformats.org/drawingml/2006/main">
              <a:ext uri="{FF2B5EF4-FFF2-40B4-BE49-F238E27FC236}">
                <a16:creationId xmlns:a16="http://schemas.microsoft.com/office/drawing/2014/main" id="{B11E3B1F-5E45-48D8-971C-8C8F5F946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MEDIA KIT · BRANDS &amp; PARTNERSHIPS · 2026</a:t>
            </a:r>
          </a:p>
        </p:txBody>
      </p:sp>
      <p:sp>
        <p:nvSpPr>
          <p:cNvPr id="3" name="text-35">
            <a:extLst xmlns:a="http://schemas.openxmlformats.org/drawingml/2006/main">
              <a:ext uri="{FF2B5EF4-FFF2-40B4-BE49-F238E27FC236}">
                <a16:creationId xmlns:a16="http://schemas.microsoft.com/office/drawing/2014/main" id="{06D65B52-B05F-49EB-ABBE-E890D786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EFE9DF"/>
                </a:solidFill>
                <a:latin typeface="Georgia"/>
                <a:ea typeface="Georgia"/>
                <a:cs typeface="Georgia"/>
              </a:rPr>
              <a:t>YATHRA</a:t>
            </a:r>
          </a:p>
        </p:txBody>
      </p:sp>
      <p:sp>
        <p:nvSpPr>
          <p:cNvPr id="4" name="text-36">
            <a:extLst xmlns:a="http://schemas.openxmlformats.org/drawingml/2006/main">
              <a:ext uri="{FF2B5EF4-FFF2-40B4-BE49-F238E27FC236}">
                <a16:creationId xmlns:a16="http://schemas.microsoft.com/office/drawing/2014/main" id="{73D25F10-ADC7-4B5F-84C1-731BE9622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4 / 10</a:t>
            </a:r>
          </a:p>
        </p:txBody>
      </p:sp>
      <p:sp>
        <p:nvSpPr>
          <p:cNvPr id="5" name="text-37">
            <a:extLst xmlns:a="http://schemas.openxmlformats.org/drawingml/2006/main">
              <a:ext uri="{FF2B5EF4-FFF2-40B4-BE49-F238E27FC236}">
                <a16:creationId xmlns:a16="http://schemas.microsoft.com/office/drawing/2014/main" id="{C9E31FA0-B2C5-4D06-A37F-0D6969F80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4857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7A1A"/>
                </a:solidFill>
                <a:latin typeface="Arial"/>
                <a:ea typeface="Arial"/>
                <a:cs typeface="Arial"/>
              </a:rPr>
              <a:t>An original universe</a:t>
            </a:r>
          </a:p>
        </p:txBody>
      </p:sp>
      <p:sp>
        <p:nvSpPr>
          <p:cNvPr id="6" name="text-38">
            <a:extLst xmlns:a="http://schemas.openxmlformats.org/drawingml/2006/main">
              <a:ext uri="{FF2B5EF4-FFF2-40B4-BE49-F238E27FC236}">
                <a16:creationId xmlns:a16="http://schemas.microsoft.com/office/drawing/2014/main" id="{63157E17-4D24-4DAB-B159-DE3F12EAE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95300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FE9DF"/>
                </a:solidFill>
                <a:latin typeface="Arial"/>
                <a:ea typeface="Arial"/>
                <a:cs typeface="Arial"/>
              </a:rPr>
              <a:t>A lore &amp; tabletop RPG worldbuilding project, three years in the making: a draconic world of conflict, LGBTQIAPN+ relationships and fantastic artifacts.</a:t>
            </a:r>
          </a:p>
        </p:txBody>
      </p:sp>
      <p:sp>
        <p:nvSpPr>
          <p:cNvPr id="7" name="text-39">
            <a:extLst xmlns:a="http://schemas.openxmlformats.org/drawingml/2006/main">
              <a:ext uri="{FF2B5EF4-FFF2-40B4-BE49-F238E27FC236}">
                <a16:creationId xmlns:a16="http://schemas.microsoft.com/office/drawing/2014/main" id="{9F73E07A-7EFD-447A-81E3-9450E5A29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4953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Supporters join through Patreon tiers, with physical items from the universe and original sketches of their own OCs.</a:t>
            </a:r>
          </a:p>
        </p:txBody>
      </p:sp>
      <p:sp>
        <p:nvSpPr>
          <p:cNvPr id="8" name="text-40">
            <a:extLst xmlns:a="http://schemas.openxmlformats.org/drawingml/2006/main">
              <a:ext uri="{FF2B5EF4-FFF2-40B4-BE49-F238E27FC236}">
                <a16:creationId xmlns:a16="http://schemas.microsoft.com/office/drawing/2014/main" id="{5D38803C-6134-408D-B8EE-39247E646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7A1A"/>
                </a:solidFill>
                <a:latin typeface="Arial"/>
                <a:ea typeface="Arial"/>
                <a:cs typeface="Arial"/>
                <a:hlinkClick xmlns:r="http://schemas.openxmlformats.org/officeDocument/2006/relationships" r:id="R41f3cd98f293483a"/>
              </a:rPr>
              <a:t>patreon.com/giums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CB2A2F-9655-4C14-B10D-508410245E7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bc551951034666"/>
          <a:srcRect xmlns:a="http://schemas.openxmlformats.org/drawingml/2006/main" l="10811" t="0" r="1081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76950" y="1790700"/>
            <a:ext cx="1657350" cy="3171825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170596-3BB4-4780-AA79-0834968E06A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5afd90ebc049ea"/>
          <a:srcRect xmlns:a="http://schemas.openxmlformats.org/drawingml/2006/main" l="10811" t="0" r="1081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72425" y="2333625"/>
            <a:ext cx="1657350" cy="3171825"/>
          </a:xfrm>
          <a:prstGeom xmlns:a="http://schemas.openxmlformats.org/drawingml/2006/main" prst="rect">
            <a:avLst/>
          </a:prstGeom>
        </p:spPr>
      </p:pic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31C516-A0F8-4139-9289-2F5355F1B40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b466898ba24024"/>
          <a:srcRect xmlns:a="http://schemas.openxmlformats.org/drawingml/2006/main" l="10811" t="0" r="1081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867900" y="2009775"/>
            <a:ext cx="1657350" cy="31718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41351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41">
            <a:extLst xmlns:a="http://schemas.openxmlformats.org/drawingml/2006/main">
              <a:ext uri="{FF2B5EF4-FFF2-40B4-BE49-F238E27FC236}">
                <a16:creationId xmlns:a16="http://schemas.microsoft.com/office/drawing/2014/main" id="{FCEC5B26-28AA-4986-8AFC-9439F2AF4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42">
            <a:extLst xmlns:a="http://schemas.openxmlformats.org/drawingml/2006/main">
              <a:ext uri="{FF2B5EF4-FFF2-40B4-BE49-F238E27FC236}">
                <a16:creationId xmlns:a16="http://schemas.microsoft.com/office/drawing/2014/main" id="{A5C234E5-ADB6-49F0-8ADA-FF936F254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BRANDS &amp; PARTNERSHIPS · 2026</a:t>
            </a:r>
          </a:p>
        </p:txBody>
      </p:sp>
      <p:sp>
        <p:nvSpPr>
          <p:cNvPr id="3" name="text-43">
            <a:extLst xmlns:a="http://schemas.openxmlformats.org/drawingml/2006/main">
              <a:ext uri="{FF2B5EF4-FFF2-40B4-BE49-F238E27FC236}">
                <a16:creationId xmlns:a16="http://schemas.microsoft.com/office/drawing/2014/main" id="{9664A07C-FBC8-4769-8C59-CA7735F1B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Audience &amp; reach</a:t>
            </a:r>
          </a:p>
        </p:txBody>
      </p:sp>
      <p:sp>
        <p:nvSpPr>
          <p:cNvPr id="4" name="text-44">
            <a:extLst xmlns:a="http://schemas.openxmlformats.org/drawingml/2006/main">
              <a:ext uri="{FF2B5EF4-FFF2-40B4-BE49-F238E27FC236}">
                <a16:creationId xmlns:a16="http://schemas.microsoft.com/office/drawing/2014/main" id="{42365B0A-B738-47B5-9522-33CD535D0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5 / 10</a:t>
            </a:r>
          </a:p>
        </p:txBody>
      </p:sp>
      <p:sp>
        <p:nvSpPr>
          <p:cNvPr id="5" name="text-45">
            <a:extLst xmlns:a="http://schemas.openxmlformats.org/drawingml/2006/main">
              <a:ext uri="{FF2B5EF4-FFF2-40B4-BE49-F238E27FC236}">
                <a16:creationId xmlns:a16="http://schemas.microsoft.com/office/drawing/2014/main" id="{0E9702A1-31A7-423C-838F-AB2F2650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Figures as of Oct 2026.</a:t>
            </a:r>
          </a:p>
        </p:txBody>
      </p:sp>
      <p:sp>
        <p:nvSpPr>
          <p:cNvPr id="6" name="text-46">
            <a:extLst xmlns:a="http://schemas.openxmlformats.org/drawingml/2006/main">
              <a:ext uri="{FF2B5EF4-FFF2-40B4-BE49-F238E27FC236}">
                <a16:creationId xmlns:a16="http://schemas.microsoft.com/office/drawing/2014/main" id="{5F0EF97D-AF1D-4A7B-8AA6-1776671E7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609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Instagram</a:t>
            </a:r>
          </a:p>
        </p:txBody>
      </p:sp>
      <p:sp>
        <p:nvSpPr>
          <p:cNvPr id="7" name="text-47">
            <a:extLst xmlns:a="http://schemas.openxmlformats.org/drawingml/2006/main">
              <a:ext uri="{FF2B5EF4-FFF2-40B4-BE49-F238E27FC236}">
                <a16:creationId xmlns:a16="http://schemas.microsoft.com/office/drawing/2014/main" id="{9ACC2CB5-D575-42E3-A432-B9838F311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6096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555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16.4K</a:t>
            </a:r>
          </a:p>
        </p:txBody>
      </p:sp>
      <p:sp>
        <p:nvSpPr>
          <p:cNvPr id="8" name="text-48">
            <a:extLst xmlns:a="http://schemas.openxmlformats.org/drawingml/2006/main">
              <a:ext uri="{FF2B5EF4-FFF2-40B4-BE49-F238E27FC236}">
                <a16:creationId xmlns:a16="http://schemas.microsoft.com/office/drawing/2014/main" id="{DB5C5217-FB23-450D-946C-96F336A66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590925"/>
            <a:ext cx="609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followers</a:t>
            </a:r>
          </a:p>
        </p:txBody>
      </p:sp>
      <p:sp>
        <p:nvSpPr>
          <p:cNvPr id="9" name="text-49">
            <a:extLst xmlns:a="http://schemas.openxmlformats.org/drawingml/2006/main">
              <a:ext uri="{FF2B5EF4-FFF2-40B4-BE49-F238E27FC236}">
                <a16:creationId xmlns:a16="http://schemas.microsoft.com/office/drawing/2014/main" id="{9C93EC65-A9DD-46D9-9E2D-C976123EA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924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92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5.08%</a:t>
            </a:r>
          </a:p>
        </p:txBody>
      </p:sp>
      <p:sp>
        <p:nvSpPr>
          <p:cNvPr id="10" name="text-50">
            <a:extLst xmlns:a="http://schemas.openxmlformats.org/drawingml/2006/main">
              <a:ext uri="{FF2B5EF4-FFF2-40B4-BE49-F238E27FC236}">
                <a16:creationId xmlns:a16="http://schemas.microsoft.com/office/drawing/2014/main" id="{1585FAAC-1598-4255-9F1C-85DF649AB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866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average engagement rate</a:t>
            </a:r>
          </a:p>
        </p:txBody>
      </p:sp>
      <p:sp>
        <p:nvSpPr>
          <p:cNvPr id="11" name="text-51">
            <a:extLst xmlns:a="http://schemas.openxmlformats.org/drawingml/2006/main">
              <a:ext uri="{FF2B5EF4-FFF2-40B4-BE49-F238E27FC236}">
                <a16:creationId xmlns:a16="http://schemas.microsoft.com/office/drawing/2014/main" id="{7DE98A1F-D85A-4A30-B62F-25D0CF97E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4286250"/>
            <a:ext cx="1924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92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835</a:t>
            </a:r>
          </a:p>
        </p:txBody>
      </p:sp>
      <p:sp>
        <p:nvSpPr>
          <p:cNvPr id="12" name="text-52">
            <a:extLst xmlns:a="http://schemas.openxmlformats.org/drawingml/2006/main">
              <a:ext uri="{FF2B5EF4-FFF2-40B4-BE49-F238E27FC236}">
                <a16:creationId xmlns:a16="http://schemas.microsoft.com/office/drawing/2014/main" id="{60697968-2A22-4992-B678-71AE70B3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4905375"/>
            <a:ext cx="1866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average likes per post</a:t>
            </a:r>
          </a:p>
        </p:txBody>
      </p:sp>
      <p:sp>
        <p:nvSpPr>
          <p:cNvPr id="13" name="text-53">
            <a:extLst xmlns:a="http://schemas.openxmlformats.org/drawingml/2006/main">
              <a:ext uri="{FF2B5EF4-FFF2-40B4-BE49-F238E27FC236}">
                <a16:creationId xmlns:a16="http://schemas.microsoft.com/office/drawing/2014/main" id="{84DBD052-3015-40AD-956E-1A614DB61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286250"/>
            <a:ext cx="1924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92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31</a:t>
            </a:r>
          </a:p>
        </p:txBody>
      </p:sp>
      <p:sp>
        <p:nvSpPr>
          <p:cNvPr id="14" name="text-54">
            <a:extLst xmlns:a="http://schemas.openxmlformats.org/drawingml/2006/main">
              <a:ext uri="{FF2B5EF4-FFF2-40B4-BE49-F238E27FC236}">
                <a16:creationId xmlns:a16="http://schemas.microsoft.com/office/drawing/2014/main" id="{98E0EFB6-BC79-4240-BE75-C208F03DC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905375"/>
            <a:ext cx="1866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average comments per post</a:t>
            </a:r>
          </a:p>
        </p:txBody>
      </p:sp>
      <p:sp>
        <p:nvSpPr>
          <p:cNvPr id="15" name="text-55">
            <a:extLst xmlns:a="http://schemas.openxmlformats.org/drawingml/2006/main">
              <a:ext uri="{FF2B5EF4-FFF2-40B4-BE49-F238E27FC236}">
                <a16:creationId xmlns:a16="http://schemas.microsoft.com/office/drawing/2014/main" id="{D84A4461-6CA2-48D5-8210-360310B2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76450"/>
            <a:ext cx="381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Patreon</a:t>
            </a:r>
          </a:p>
        </p:txBody>
      </p:sp>
      <p:sp>
        <p:nvSpPr>
          <p:cNvPr id="16" name="text-56">
            <a:extLst xmlns:a="http://schemas.openxmlformats.org/drawingml/2006/main">
              <a:ext uri="{FF2B5EF4-FFF2-40B4-BE49-F238E27FC236}">
                <a16:creationId xmlns:a16="http://schemas.microsoft.com/office/drawing/2014/main" id="{AA83C17C-341E-4246-9DF0-D6DF249CE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00350"/>
            <a:ext cx="381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48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86 / 17</a:t>
            </a:r>
          </a:p>
        </p:txBody>
      </p:sp>
      <p:sp>
        <p:nvSpPr>
          <p:cNvPr id="17" name="text-57">
            <a:extLst xmlns:a="http://schemas.openxmlformats.org/drawingml/2006/main">
              <a:ext uri="{FF2B5EF4-FFF2-40B4-BE49-F238E27FC236}">
                <a16:creationId xmlns:a16="http://schemas.microsoft.com/office/drawing/2014/main" id="{E880AE6C-F9DE-4423-ACE7-D6E8EE1DB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686175"/>
            <a:ext cx="3714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followers / paid subscribers</a:t>
            </a:r>
          </a:p>
        </p:txBody>
      </p:sp>
      <p:sp>
        <p:nvSpPr>
          <p:cNvPr id="18" name="text-58">
            <a:extLst xmlns:a="http://schemas.openxmlformats.org/drawingml/2006/main">
              <a:ext uri="{FF2B5EF4-FFF2-40B4-BE49-F238E27FC236}">
                <a16:creationId xmlns:a16="http://schemas.microsoft.com/office/drawing/2014/main" id="{6BCBA463-A850-469F-8AA1-49FC7FFAF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610100"/>
            <a:ext cx="3714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1 in 5 followers is a paid subscriber.</a:t>
            </a:r>
          </a:p>
        </p:txBody>
      </p:sp>
      <p:sp>
        <p:nvSpPr>
          <p:cNvPr id="19" name="text-59">
            <a:extLst xmlns:a="http://schemas.openxmlformats.org/drawingml/2006/main">
              <a:ext uri="{FF2B5EF4-FFF2-40B4-BE49-F238E27FC236}">
                <a16:creationId xmlns:a16="http://schemas.microsoft.com/office/drawing/2014/main" id="{5F82B815-2834-4317-A006-F40B2CEA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2142F"/>
                </a:solidFill>
                <a:latin typeface="Arial"/>
                <a:ea typeface="Arial"/>
                <a:cs typeface="Arial"/>
              </a:rPr>
              <a:t>total audience · Instagram + Patreon: 16.5K</a:t>
            </a:r>
          </a:p>
        </p:txBody>
      </p:sp>
    </p:spTree>
    <p:extLst>
      <p:ext uri="{BB962C8B-B14F-4D97-AF65-F5344CB8AC3E}">
        <p14:creationId xmlns:p14="http://schemas.microsoft.com/office/powerpoint/2010/main" val="13258552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60">
            <a:extLst xmlns:a="http://schemas.openxmlformats.org/drawingml/2006/main">
              <a:ext uri="{FF2B5EF4-FFF2-40B4-BE49-F238E27FC236}">
                <a16:creationId xmlns:a16="http://schemas.microsoft.com/office/drawing/2014/main" id="{CB9FBF6A-9632-46DD-A691-C3C4F1728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61">
            <a:extLst xmlns:a="http://schemas.openxmlformats.org/drawingml/2006/main">
              <a:ext uri="{FF2B5EF4-FFF2-40B4-BE49-F238E27FC236}">
                <a16:creationId xmlns:a16="http://schemas.microsoft.com/office/drawing/2014/main" id="{2CF2BA72-C3B7-47F3-B33B-6ECA8609E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BRANDS &amp; PARTNERSHIPS · 2026</a:t>
            </a:r>
          </a:p>
        </p:txBody>
      </p:sp>
      <p:sp>
        <p:nvSpPr>
          <p:cNvPr id="3" name="text-62">
            <a:extLst xmlns:a="http://schemas.openxmlformats.org/drawingml/2006/main">
              <a:ext uri="{FF2B5EF4-FFF2-40B4-BE49-F238E27FC236}">
                <a16:creationId xmlns:a16="http://schemas.microsoft.com/office/drawing/2014/main" id="{141775CE-D91E-43A0-834D-BF07B5AA2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Reach and community</a:t>
            </a:r>
          </a:p>
        </p:txBody>
      </p:sp>
      <p:sp>
        <p:nvSpPr>
          <p:cNvPr id="4" name="text-63">
            <a:extLst xmlns:a="http://schemas.openxmlformats.org/drawingml/2006/main">
              <a:ext uri="{FF2B5EF4-FFF2-40B4-BE49-F238E27FC236}">
                <a16:creationId xmlns:a16="http://schemas.microsoft.com/office/drawing/2014/main" id="{FA073CEE-BB39-49E5-81CB-DD4A6FC34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6 / 10</a:t>
            </a:r>
          </a:p>
        </p:txBody>
      </p:sp>
      <p:sp>
        <p:nvSpPr>
          <p:cNvPr id="5" name="text-64">
            <a:extLst xmlns:a="http://schemas.openxmlformats.org/drawingml/2006/main">
              <a:ext uri="{FF2B5EF4-FFF2-40B4-BE49-F238E27FC236}">
                <a16:creationId xmlns:a16="http://schemas.microsoft.com/office/drawing/2014/main" id="{09358D6D-A446-49EA-94C2-277DAC43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342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4875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37.9K</a:t>
            </a:r>
          </a:p>
        </p:txBody>
      </p:sp>
      <p:sp>
        <p:nvSpPr>
          <p:cNvPr id="6" name="text-65">
            <a:extLst xmlns:a="http://schemas.openxmlformats.org/drawingml/2006/main">
              <a:ext uri="{FF2B5EF4-FFF2-40B4-BE49-F238E27FC236}">
                <a16:creationId xmlns:a16="http://schemas.microsoft.com/office/drawing/2014/main" id="{856544F4-A869-4DDB-A4AB-839C5C098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2766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views in the last 30 days</a:t>
            </a:r>
          </a:p>
        </p:txBody>
      </p:sp>
      <p:sp>
        <p:nvSpPr>
          <p:cNvPr id="7" name="text-66">
            <a:extLst xmlns:a="http://schemas.openxmlformats.org/drawingml/2006/main">
              <a:ext uri="{FF2B5EF4-FFF2-40B4-BE49-F238E27FC236}">
                <a16:creationId xmlns:a16="http://schemas.microsoft.com/office/drawing/2014/main" id="{730BF252-ECDD-4D3F-A720-4EF2B5F41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71675"/>
            <a:ext cx="342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4875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9,090</a:t>
            </a:r>
          </a:p>
        </p:txBody>
      </p:sp>
      <p:sp>
        <p:nvSpPr>
          <p:cNvPr id="8" name="text-67">
            <a:extLst xmlns:a="http://schemas.openxmlformats.org/drawingml/2006/main">
              <a:ext uri="{FF2B5EF4-FFF2-40B4-BE49-F238E27FC236}">
                <a16:creationId xmlns:a16="http://schemas.microsoft.com/office/drawing/2014/main" id="{137CAE85-A202-4902-AD9B-DB3290E7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09900"/>
            <a:ext cx="32766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accounts that viewed the content</a:t>
            </a:r>
          </a:p>
        </p:txBody>
      </p:sp>
      <p:sp>
        <p:nvSpPr>
          <p:cNvPr id="9" name="text-68">
            <a:extLst xmlns:a="http://schemas.openxmlformats.org/drawingml/2006/main">
              <a:ext uri="{FF2B5EF4-FFF2-40B4-BE49-F238E27FC236}">
                <a16:creationId xmlns:a16="http://schemas.microsoft.com/office/drawing/2014/main" id="{7D07CA3E-3E7E-4E2A-9E82-B709E482C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1675"/>
            <a:ext cx="342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4875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+116</a:t>
            </a:r>
          </a:p>
        </p:txBody>
      </p:sp>
      <p:sp>
        <p:nvSpPr>
          <p:cNvPr id="10" name="text-69">
            <a:extLst xmlns:a="http://schemas.openxmlformats.org/drawingml/2006/main">
              <a:ext uri="{FF2B5EF4-FFF2-40B4-BE49-F238E27FC236}">
                <a16:creationId xmlns:a16="http://schemas.microsoft.com/office/drawing/2014/main" id="{C621CEE1-7AFC-4383-9CD5-A74D06E54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09900"/>
            <a:ext cx="32766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net followers in 30 days</a:t>
            </a:r>
          </a:p>
        </p:txBody>
      </p:sp>
      <p:sp>
        <p:nvSpPr>
          <p:cNvPr id="11" name="text-70">
            <a:extLst xmlns:a="http://schemas.openxmlformats.org/drawingml/2006/main">
              <a:ext uri="{FF2B5EF4-FFF2-40B4-BE49-F238E27FC236}">
                <a16:creationId xmlns:a16="http://schemas.microsoft.com/office/drawing/2014/main" id="{097FBEE9-0E29-4493-8A73-E0863276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3810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Patreon</a:t>
            </a:r>
          </a:p>
        </p:txBody>
      </p:sp>
      <p:sp>
        <p:nvSpPr>
          <p:cNvPr id="12" name="text-71">
            <a:extLst xmlns:a="http://schemas.openxmlformats.org/drawingml/2006/main">
              <a:ext uri="{FF2B5EF4-FFF2-40B4-BE49-F238E27FC236}">
                <a16:creationId xmlns:a16="http://schemas.microsoft.com/office/drawing/2014/main" id="{BEA9BD64-63F1-460E-971C-BCE202DD2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5727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Supporters get monthly wallpapers, world lore, sketches, exclusive stickers &amp; prints, WIPs, GIFs, brush packs and access to the Discord community.</a:t>
            </a:r>
          </a:p>
        </p:txBody>
      </p:sp>
      <p:sp>
        <p:nvSpPr>
          <p:cNvPr id="13" name="text-72">
            <a:extLst xmlns:a="http://schemas.openxmlformats.org/drawingml/2006/main">
              <a:ext uri="{FF2B5EF4-FFF2-40B4-BE49-F238E27FC236}">
                <a16:creationId xmlns:a16="http://schemas.microsoft.com/office/drawing/2014/main" id="{CA351868-A778-4E78-AF5B-2BB82FE21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Figures as of Oct 2026.</a:t>
            </a:r>
          </a:p>
        </p:txBody>
      </p:sp>
    </p:spTree>
    <p:extLst>
      <p:ext uri="{BB962C8B-B14F-4D97-AF65-F5344CB8AC3E}">
        <p14:creationId xmlns:p14="http://schemas.microsoft.com/office/powerpoint/2010/main" val="17498201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73">
            <a:extLst xmlns:a="http://schemas.openxmlformats.org/drawingml/2006/main">
              <a:ext uri="{FF2B5EF4-FFF2-40B4-BE49-F238E27FC236}">
                <a16:creationId xmlns:a16="http://schemas.microsoft.com/office/drawing/2014/main" id="{4D6C8A43-6B30-4102-99BA-E116E1B9C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74">
            <a:extLst xmlns:a="http://schemas.openxmlformats.org/drawingml/2006/main">
              <a:ext uri="{FF2B5EF4-FFF2-40B4-BE49-F238E27FC236}">
                <a16:creationId xmlns:a16="http://schemas.microsoft.com/office/drawing/2014/main" id="{FEEF7ECB-5B7B-46AD-B6DE-3CD4B6153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BRANDS &amp; PARTNERSHIPS · 2026</a:t>
            </a:r>
          </a:p>
        </p:txBody>
      </p:sp>
      <p:sp>
        <p:nvSpPr>
          <p:cNvPr id="3" name="text-75">
            <a:extLst xmlns:a="http://schemas.openxmlformats.org/drawingml/2006/main">
              <a:ext uri="{FF2B5EF4-FFF2-40B4-BE49-F238E27FC236}">
                <a16:creationId xmlns:a16="http://schemas.microsoft.com/office/drawing/2014/main" id="{CBBCF0E9-5719-43E2-B35F-76DEE7F5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Audience profile</a:t>
            </a:r>
          </a:p>
        </p:txBody>
      </p:sp>
      <p:sp>
        <p:nvSpPr>
          <p:cNvPr id="4" name="text-76">
            <a:extLst xmlns:a="http://schemas.openxmlformats.org/drawingml/2006/main">
              <a:ext uri="{FF2B5EF4-FFF2-40B4-BE49-F238E27FC236}">
                <a16:creationId xmlns:a16="http://schemas.microsoft.com/office/drawing/2014/main" id="{CC009BA4-B65A-46D7-A04E-84EA13023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7 / 10</a:t>
            </a:r>
          </a:p>
        </p:txBody>
      </p:sp>
      <p:sp>
        <p:nvSpPr>
          <p:cNvPr id="5" name="text-77">
            <a:extLst xmlns:a="http://schemas.openxmlformats.org/drawingml/2006/main">
              <a:ext uri="{FF2B5EF4-FFF2-40B4-BE49-F238E27FC236}">
                <a16:creationId xmlns:a16="http://schemas.microsoft.com/office/drawing/2014/main" id="{A7BE2B9D-3749-4B1C-872B-33B734E0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81175"/>
            <a:ext cx="3524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Age</a:t>
            </a:r>
          </a:p>
        </p:txBody>
      </p:sp>
      <p:sp>
        <p:nvSpPr>
          <p:cNvPr id="6" name="text-78">
            <a:extLst xmlns:a="http://schemas.openxmlformats.org/drawingml/2006/main">
              <a:ext uri="{FF2B5EF4-FFF2-40B4-BE49-F238E27FC236}">
                <a16:creationId xmlns:a16="http://schemas.microsoft.com/office/drawing/2014/main" id="{49C410EE-1E1E-4C5F-9693-99410338E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6975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13–24</a:t>
            </a:r>
          </a:p>
        </p:txBody>
      </p:sp>
      <p:sp>
        <p:nvSpPr>
          <p:cNvPr id="7" name="text-79">
            <a:extLst xmlns:a="http://schemas.openxmlformats.org/drawingml/2006/main">
              <a:ext uri="{FF2B5EF4-FFF2-40B4-BE49-F238E27FC236}">
                <a16:creationId xmlns:a16="http://schemas.microsoft.com/office/drawing/2014/main" id="{0F4D1264-1AFF-4E64-8820-47419DD6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466975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23.6%</a:t>
            </a:r>
          </a:p>
        </p:txBody>
      </p:sp>
      <p:sp>
        <p:nvSpPr>
          <p:cNvPr id="8" name="text-80">
            <a:extLst xmlns:a="http://schemas.openxmlformats.org/drawingml/2006/main">
              <a:ext uri="{FF2B5EF4-FFF2-40B4-BE49-F238E27FC236}">
                <a16:creationId xmlns:a16="http://schemas.microsoft.com/office/drawing/2014/main" id="{E1CA49BF-6B19-4415-851E-F986C59E7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25–34</a:t>
            </a:r>
          </a:p>
        </p:txBody>
      </p:sp>
      <p:sp>
        <p:nvSpPr>
          <p:cNvPr id="9" name="text-81">
            <a:extLst xmlns:a="http://schemas.openxmlformats.org/drawingml/2006/main">
              <a:ext uri="{FF2B5EF4-FFF2-40B4-BE49-F238E27FC236}">
                <a16:creationId xmlns:a16="http://schemas.microsoft.com/office/drawing/2014/main" id="{9CBDD8BB-C747-48C3-9EC4-29562220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1051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55.4%</a:t>
            </a:r>
          </a:p>
        </p:txBody>
      </p:sp>
      <p:sp>
        <p:nvSpPr>
          <p:cNvPr id="10" name="text-82">
            <a:extLst xmlns:a="http://schemas.openxmlformats.org/drawingml/2006/main">
              <a:ext uri="{FF2B5EF4-FFF2-40B4-BE49-F238E27FC236}">
                <a16:creationId xmlns:a16="http://schemas.microsoft.com/office/drawing/2014/main" id="{E7D082AE-8AFE-49C5-862C-2690DAE6F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35–44</a:t>
            </a:r>
          </a:p>
        </p:txBody>
      </p:sp>
      <p:sp>
        <p:nvSpPr>
          <p:cNvPr id="11" name="text-83">
            <a:extLst xmlns:a="http://schemas.openxmlformats.org/drawingml/2006/main">
              <a:ext uri="{FF2B5EF4-FFF2-40B4-BE49-F238E27FC236}">
                <a16:creationId xmlns:a16="http://schemas.microsoft.com/office/drawing/2014/main" id="{85BE7818-3578-41B4-BEE1-A05B37DAC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743325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16.9%</a:t>
            </a:r>
          </a:p>
        </p:txBody>
      </p:sp>
      <p:sp>
        <p:nvSpPr>
          <p:cNvPr id="12" name="text-84">
            <a:extLst xmlns:a="http://schemas.openxmlformats.org/drawingml/2006/main">
              <a:ext uri="{FF2B5EF4-FFF2-40B4-BE49-F238E27FC236}">
                <a16:creationId xmlns:a16="http://schemas.microsoft.com/office/drawing/2014/main" id="{FCC5A3CA-A4F9-47D9-8252-BEDE3D00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45+</a:t>
            </a:r>
          </a:p>
        </p:txBody>
      </p:sp>
      <p:sp>
        <p:nvSpPr>
          <p:cNvPr id="13" name="text-85">
            <a:extLst xmlns:a="http://schemas.openxmlformats.org/drawingml/2006/main">
              <a:ext uri="{FF2B5EF4-FFF2-40B4-BE49-F238E27FC236}">
                <a16:creationId xmlns:a16="http://schemas.microsoft.com/office/drawing/2014/main" id="{2B6B9D50-E696-46FC-980A-469B372B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38150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4.2%</a:t>
            </a:r>
          </a:p>
        </p:txBody>
      </p:sp>
      <p:sp>
        <p:nvSpPr>
          <p:cNvPr id="14" name="text-86">
            <a:extLst xmlns:a="http://schemas.openxmlformats.org/drawingml/2006/main">
              <a:ext uri="{FF2B5EF4-FFF2-40B4-BE49-F238E27FC236}">
                <a16:creationId xmlns:a16="http://schemas.microsoft.com/office/drawing/2014/main" id="{45AAFF9E-E49A-4540-B49D-3E3D631FE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78117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Gender</a:t>
            </a:r>
          </a:p>
        </p:txBody>
      </p:sp>
      <p:sp>
        <p:nvSpPr>
          <p:cNvPr id="15" name="text-87">
            <a:extLst xmlns:a="http://schemas.openxmlformats.org/drawingml/2006/main">
              <a:ext uri="{FF2B5EF4-FFF2-40B4-BE49-F238E27FC236}">
                <a16:creationId xmlns:a16="http://schemas.microsoft.com/office/drawing/2014/main" id="{4CCE2749-FDD6-4CB0-9F06-77BB25CF5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66975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Women</a:t>
            </a:r>
          </a:p>
        </p:txBody>
      </p:sp>
      <p:sp>
        <p:nvSpPr>
          <p:cNvPr id="16" name="text-88">
            <a:extLst xmlns:a="http://schemas.openxmlformats.org/drawingml/2006/main">
              <a:ext uri="{FF2B5EF4-FFF2-40B4-BE49-F238E27FC236}">
                <a16:creationId xmlns:a16="http://schemas.microsoft.com/office/drawing/2014/main" id="{5555D214-E083-4272-8056-2B4B0020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66975"/>
            <a:ext cx="114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61.7%</a:t>
            </a:r>
          </a:p>
        </p:txBody>
      </p:sp>
      <p:sp>
        <p:nvSpPr>
          <p:cNvPr id="17" name="text-89">
            <a:extLst xmlns:a="http://schemas.openxmlformats.org/drawingml/2006/main">
              <a:ext uri="{FF2B5EF4-FFF2-40B4-BE49-F238E27FC236}">
                <a16:creationId xmlns:a16="http://schemas.microsoft.com/office/drawing/2014/main" id="{DFFFA642-77B5-435E-9F58-40AC7A9A1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10515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Men</a:t>
            </a:r>
          </a:p>
        </p:txBody>
      </p:sp>
      <p:sp>
        <p:nvSpPr>
          <p:cNvPr id="18" name="text-90">
            <a:extLst xmlns:a="http://schemas.openxmlformats.org/drawingml/2006/main">
              <a:ext uri="{FF2B5EF4-FFF2-40B4-BE49-F238E27FC236}">
                <a16:creationId xmlns:a16="http://schemas.microsoft.com/office/drawing/2014/main" id="{4621DFBA-BD7E-43D0-A6E8-55976470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05150"/>
            <a:ext cx="114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38.3%</a:t>
            </a:r>
          </a:p>
        </p:txBody>
      </p:sp>
      <p:sp>
        <p:nvSpPr>
          <p:cNvPr id="19" name="text-91">
            <a:extLst xmlns:a="http://schemas.openxmlformats.org/drawingml/2006/main">
              <a:ext uri="{FF2B5EF4-FFF2-40B4-BE49-F238E27FC236}">
                <a16:creationId xmlns:a16="http://schemas.microsoft.com/office/drawing/2014/main" id="{5EC48FB3-9BF5-4050-BEAE-686C2ABFC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3524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Top countries</a:t>
            </a:r>
          </a:p>
        </p:txBody>
      </p:sp>
      <p:sp>
        <p:nvSpPr>
          <p:cNvPr id="20" name="text-92">
            <a:extLst xmlns:a="http://schemas.openxmlformats.org/drawingml/2006/main">
              <a:ext uri="{FF2B5EF4-FFF2-40B4-BE49-F238E27FC236}">
                <a16:creationId xmlns:a16="http://schemas.microsoft.com/office/drawing/2014/main" id="{52926945-EB72-42B6-91F0-F396A775C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466975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United States</a:t>
            </a:r>
          </a:p>
        </p:txBody>
      </p:sp>
      <p:sp>
        <p:nvSpPr>
          <p:cNvPr id="21" name="text-93">
            <a:extLst xmlns:a="http://schemas.openxmlformats.org/drawingml/2006/main">
              <a:ext uri="{FF2B5EF4-FFF2-40B4-BE49-F238E27FC236}">
                <a16:creationId xmlns:a16="http://schemas.microsoft.com/office/drawing/2014/main" id="{4854F582-3527-4D76-BBE5-A8717915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46697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7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28.7%</a:t>
            </a:r>
          </a:p>
        </p:txBody>
      </p:sp>
      <p:sp>
        <p:nvSpPr>
          <p:cNvPr id="22" name="text-94">
            <a:extLst xmlns:a="http://schemas.openxmlformats.org/drawingml/2006/main">
              <a:ext uri="{FF2B5EF4-FFF2-40B4-BE49-F238E27FC236}">
                <a16:creationId xmlns:a16="http://schemas.microsoft.com/office/drawing/2014/main" id="{73C96714-D3E4-4DD4-ABDC-05C0B9341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57525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Brazil</a:t>
            </a:r>
          </a:p>
        </p:txBody>
      </p:sp>
      <p:sp>
        <p:nvSpPr>
          <p:cNvPr id="23" name="text-95">
            <a:extLst xmlns:a="http://schemas.openxmlformats.org/drawingml/2006/main">
              <a:ext uri="{FF2B5EF4-FFF2-40B4-BE49-F238E27FC236}">
                <a16:creationId xmlns:a16="http://schemas.microsoft.com/office/drawing/2014/main" id="{FA4A3753-59D5-428A-862C-C7721B64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05752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7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23.9%</a:t>
            </a:r>
          </a:p>
        </p:txBody>
      </p:sp>
      <p:sp>
        <p:nvSpPr>
          <p:cNvPr id="24" name="text-96">
            <a:extLst xmlns:a="http://schemas.openxmlformats.org/drawingml/2006/main">
              <a:ext uri="{FF2B5EF4-FFF2-40B4-BE49-F238E27FC236}">
                <a16:creationId xmlns:a16="http://schemas.microsoft.com/office/drawing/2014/main" id="{857D1135-DBF0-4439-A2F1-268D3862B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648075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Italy</a:t>
            </a:r>
          </a:p>
        </p:txBody>
      </p:sp>
      <p:sp>
        <p:nvSpPr>
          <p:cNvPr id="25" name="text-97">
            <a:extLst xmlns:a="http://schemas.openxmlformats.org/drawingml/2006/main">
              <a:ext uri="{FF2B5EF4-FFF2-40B4-BE49-F238E27FC236}">
                <a16:creationId xmlns:a16="http://schemas.microsoft.com/office/drawing/2014/main" id="{C227B4FE-0DBD-497E-9D69-6B1F0DDED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64807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7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3.6%</a:t>
            </a:r>
          </a:p>
        </p:txBody>
      </p:sp>
      <p:sp>
        <p:nvSpPr>
          <p:cNvPr id="26" name="text-98">
            <a:extLst xmlns:a="http://schemas.openxmlformats.org/drawingml/2006/main">
              <a:ext uri="{FF2B5EF4-FFF2-40B4-BE49-F238E27FC236}">
                <a16:creationId xmlns:a16="http://schemas.microsoft.com/office/drawing/2014/main" id="{40AFE6EB-0D6C-4513-81AB-CF0BE659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238625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Germany</a:t>
            </a:r>
          </a:p>
        </p:txBody>
      </p:sp>
      <p:sp>
        <p:nvSpPr>
          <p:cNvPr id="27" name="text-99">
            <a:extLst xmlns:a="http://schemas.openxmlformats.org/drawingml/2006/main">
              <a:ext uri="{FF2B5EF4-FFF2-40B4-BE49-F238E27FC236}">
                <a16:creationId xmlns:a16="http://schemas.microsoft.com/office/drawing/2014/main" id="{6764D171-E766-4D56-94F8-E6C95CDBC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23862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7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3.4%</a:t>
            </a:r>
          </a:p>
        </p:txBody>
      </p:sp>
      <p:sp>
        <p:nvSpPr>
          <p:cNvPr id="28" name="text-100">
            <a:extLst xmlns:a="http://schemas.openxmlformats.org/drawingml/2006/main">
              <a:ext uri="{FF2B5EF4-FFF2-40B4-BE49-F238E27FC236}">
                <a16:creationId xmlns:a16="http://schemas.microsoft.com/office/drawing/2014/main" id="{2E472B57-49B0-45D7-9815-66282D6A2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9175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France</a:t>
            </a:r>
          </a:p>
        </p:txBody>
      </p:sp>
      <p:sp>
        <p:nvSpPr>
          <p:cNvPr id="29" name="text-101">
            <a:extLst xmlns:a="http://schemas.openxmlformats.org/drawingml/2006/main">
              <a:ext uri="{FF2B5EF4-FFF2-40B4-BE49-F238E27FC236}">
                <a16:creationId xmlns:a16="http://schemas.microsoft.com/office/drawing/2014/main" id="{16120328-A560-4CD5-80AC-4007D7BE3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82917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7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3.2%</a:t>
            </a:r>
          </a:p>
        </p:txBody>
      </p:sp>
      <p:sp>
        <p:nvSpPr>
          <p:cNvPr id="30" name="text-102">
            <a:extLst xmlns:a="http://schemas.openxmlformats.org/drawingml/2006/main">
              <a:ext uri="{FF2B5EF4-FFF2-40B4-BE49-F238E27FC236}">
                <a16:creationId xmlns:a16="http://schemas.microsoft.com/office/drawing/2014/main" id="{557D65B6-3DEA-4C89-923D-897389B1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Source: Instagram Insights · Oct 2026</a:t>
            </a:r>
          </a:p>
        </p:txBody>
      </p:sp>
    </p:spTree>
    <p:extLst>
      <p:ext uri="{BB962C8B-B14F-4D97-AF65-F5344CB8AC3E}">
        <p14:creationId xmlns:p14="http://schemas.microsoft.com/office/powerpoint/2010/main" val="85220740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3">
            <a:extLst xmlns:a="http://schemas.openxmlformats.org/drawingml/2006/main">
              <a:ext uri="{FF2B5EF4-FFF2-40B4-BE49-F238E27FC236}">
                <a16:creationId xmlns:a16="http://schemas.microsoft.com/office/drawing/2014/main" id="{0AC0FDA1-3B17-46C8-9B22-F14F6D5E7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04">
            <a:extLst xmlns:a="http://schemas.openxmlformats.org/drawingml/2006/main">
              <a:ext uri="{FF2B5EF4-FFF2-40B4-BE49-F238E27FC236}">
                <a16:creationId xmlns:a16="http://schemas.microsoft.com/office/drawing/2014/main" id="{5E8C2F31-0A43-44D7-B6A8-6F2B34719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BRANDS &amp; PARTNERSHIPS · 2026</a:t>
            </a:r>
          </a:p>
        </p:txBody>
      </p:sp>
      <p:sp>
        <p:nvSpPr>
          <p:cNvPr id="3" name="text-105">
            <a:extLst xmlns:a="http://schemas.openxmlformats.org/drawingml/2006/main">
              <a:ext uri="{FF2B5EF4-FFF2-40B4-BE49-F238E27FC236}">
                <a16:creationId xmlns:a16="http://schemas.microsoft.com/office/drawing/2014/main" id="{680C6614-17E2-4938-BE58-4409BA1DD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Work with Giums</a:t>
            </a:r>
          </a:p>
        </p:txBody>
      </p:sp>
      <p:sp>
        <p:nvSpPr>
          <p:cNvPr id="4" name="text-106">
            <a:extLst xmlns:a="http://schemas.openxmlformats.org/drawingml/2006/main">
              <a:ext uri="{FF2B5EF4-FFF2-40B4-BE49-F238E27FC236}">
                <a16:creationId xmlns:a16="http://schemas.microsoft.com/office/drawing/2014/main" id="{54B35BE0-DCDB-43E3-830C-4030B03B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8 / 10</a:t>
            </a:r>
          </a:p>
        </p:txBody>
      </p:sp>
      <p:sp>
        <p:nvSpPr>
          <p:cNvPr id="5" name="text-107">
            <a:extLst xmlns:a="http://schemas.openxmlformats.org/drawingml/2006/main">
              <a:ext uri="{FF2B5EF4-FFF2-40B4-BE49-F238E27FC236}">
                <a16:creationId xmlns:a16="http://schemas.microsoft.com/office/drawing/2014/main" id="{C291E90E-0228-4EB5-B42C-F8C7CD41D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Formats</a:t>
            </a:r>
          </a:p>
        </p:txBody>
      </p:sp>
      <p:sp>
        <p:nvSpPr>
          <p:cNvPr id="6" name="text-108">
            <a:extLst xmlns:a="http://schemas.openxmlformats.org/drawingml/2006/main">
              <a:ext uri="{FF2B5EF4-FFF2-40B4-BE49-F238E27FC236}">
                <a16:creationId xmlns:a16="http://schemas.microsoft.com/office/drawing/2014/main" id="{ADAFD451-7A70-4AD4-999F-D27938185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4905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Stories (Instagram)</a:t>
            </a:r>
          </a:p>
        </p:txBody>
      </p:sp>
      <p:sp>
        <p:nvSpPr>
          <p:cNvPr id="7" name="text-109">
            <a:extLst xmlns:a="http://schemas.openxmlformats.org/drawingml/2006/main">
              <a:ext uri="{FF2B5EF4-FFF2-40B4-BE49-F238E27FC236}">
                <a16:creationId xmlns:a16="http://schemas.microsoft.com/office/drawing/2014/main" id="{DBAA60F3-5E6A-48DB-8F2D-5FC007B57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4905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Reels (Instagram)</a:t>
            </a:r>
          </a:p>
        </p:txBody>
      </p:sp>
      <p:sp>
        <p:nvSpPr>
          <p:cNvPr id="8" name="text-110">
            <a:extLst xmlns:a="http://schemas.openxmlformats.org/drawingml/2006/main">
              <a:ext uri="{FF2B5EF4-FFF2-40B4-BE49-F238E27FC236}">
                <a16:creationId xmlns:a16="http://schemas.microsoft.com/office/drawing/2014/main" id="{5F2771DF-0BA8-400F-9FF5-281AB7337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4905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Carousel (Instagram)</a:t>
            </a:r>
          </a:p>
        </p:txBody>
      </p:sp>
      <p:sp>
        <p:nvSpPr>
          <p:cNvPr id="9" name="text-111">
            <a:extLst xmlns:a="http://schemas.openxmlformats.org/drawingml/2006/main">
              <a:ext uri="{FF2B5EF4-FFF2-40B4-BE49-F238E27FC236}">
                <a16:creationId xmlns:a16="http://schemas.microsoft.com/office/drawing/2014/main" id="{6CB061E3-648D-4003-A369-89CE86271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4905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Live on Twitch and VODs</a:t>
            </a:r>
          </a:p>
        </p:txBody>
      </p:sp>
      <p:sp>
        <p:nvSpPr>
          <p:cNvPr id="10" name="text-112">
            <a:extLst xmlns:a="http://schemas.openxmlformats.org/drawingml/2006/main">
              <a:ext uri="{FF2B5EF4-FFF2-40B4-BE49-F238E27FC236}">
                <a16:creationId xmlns:a16="http://schemas.microsoft.com/office/drawing/2014/main" id="{B768B594-3371-4808-9F3F-EA1D1C928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3950"/>
            <a:ext cx="4905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YouTube (long-form videos)</a:t>
            </a:r>
          </a:p>
        </p:txBody>
      </p:sp>
      <p:sp>
        <p:nvSpPr>
          <p:cNvPr id="11" name="text-113">
            <a:extLst xmlns:a="http://schemas.openxmlformats.org/drawingml/2006/main">
              <a:ext uri="{FF2B5EF4-FFF2-40B4-BE49-F238E27FC236}">
                <a16:creationId xmlns:a16="http://schemas.microsoft.com/office/drawing/2014/main" id="{D268F4C4-F1D2-4D58-9346-9AE2F229B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809750"/>
            <a:ext cx="5276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Illustrated campaigns</a:t>
            </a:r>
          </a:p>
        </p:txBody>
      </p:sp>
      <p:sp>
        <p:nvSpPr>
          <p:cNvPr id="12" name="text-114">
            <a:extLst xmlns:a="http://schemas.openxmlformats.org/drawingml/2006/main">
              <a:ext uri="{FF2B5EF4-FFF2-40B4-BE49-F238E27FC236}">
                <a16:creationId xmlns:a16="http://schemas.microsoft.com/office/drawing/2014/main" id="{A6395713-6D4B-4664-AC04-1DB81E580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333625"/>
            <a:ext cx="52768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Test illustrations for products, traditional or digital.</a:t>
            </a:r>
          </a:p>
        </p:txBody>
      </p:sp>
      <p:sp>
        <p:nvSpPr>
          <p:cNvPr id="13" name="text-115">
            <a:extLst xmlns:a="http://schemas.openxmlformats.org/drawingml/2006/main">
              <a:ext uri="{FF2B5EF4-FFF2-40B4-BE49-F238E27FC236}">
                <a16:creationId xmlns:a16="http://schemas.microsoft.com/office/drawing/2014/main" id="{47758D21-394B-4F95-B191-9AF0DF08D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181350"/>
            <a:ext cx="5276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Reviews &amp; giveaways</a:t>
            </a:r>
          </a:p>
        </p:txBody>
      </p:sp>
      <p:sp>
        <p:nvSpPr>
          <p:cNvPr id="14" name="text-116">
            <a:extLst xmlns:a="http://schemas.openxmlformats.org/drawingml/2006/main">
              <a:ext uri="{FF2B5EF4-FFF2-40B4-BE49-F238E27FC236}">
                <a16:creationId xmlns:a16="http://schemas.microsoft.com/office/drawing/2014/main" id="{F5C05175-16E6-4711-8E44-726A43945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05225"/>
            <a:ext cx="52768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Product reviews and giveaways for her community, as in the XP-Pen partnership.</a:t>
            </a:r>
          </a:p>
        </p:txBody>
      </p:sp>
      <p:sp>
        <p:nvSpPr>
          <p:cNvPr id="15" name="text-117">
            <a:extLst xmlns:a="http://schemas.openxmlformats.org/drawingml/2006/main">
              <a:ext uri="{FF2B5EF4-FFF2-40B4-BE49-F238E27FC236}">
                <a16:creationId xmlns:a16="http://schemas.microsoft.com/office/drawing/2014/main" id="{0839BF25-FE7A-4E31-833F-5E40471B0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552950"/>
            <a:ext cx="5276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Process content</a:t>
            </a:r>
          </a:p>
        </p:txBody>
      </p:sp>
      <p:sp>
        <p:nvSpPr>
          <p:cNvPr id="16" name="text-118">
            <a:extLst xmlns:a="http://schemas.openxmlformats.org/drawingml/2006/main">
              <a:ext uri="{FF2B5EF4-FFF2-40B4-BE49-F238E27FC236}">
                <a16:creationId xmlns:a16="http://schemas.microsoft.com/office/drawing/2014/main" id="{3E13264A-C5AC-47B0-A210-579674204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076825"/>
            <a:ext cx="52768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Sketches, timelapses and making-of for Instagram and YouTube.</a:t>
            </a:r>
          </a:p>
        </p:txBody>
      </p:sp>
    </p:spTree>
    <p:extLst>
      <p:ext uri="{BB962C8B-B14F-4D97-AF65-F5344CB8AC3E}">
        <p14:creationId xmlns:p14="http://schemas.microsoft.com/office/powerpoint/2010/main" val="1208160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119">
            <a:extLst xmlns:a="http://schemas.openxmlformats.org/drawingml/2006/main">
              <a:ext uri="{FF2B5EF4-FFF2-40B4-BE49-F238E27FC236}">
                <a16:creationId xmlns:a16="http://schemas.microsoft.com/office/drawing/2014/main" id="{168C745E-5C42-42F7-A6CC-97767C1B7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20">
            <a:extLst xmlns:a="http://schemas.openxmlformats.org/drawingml/2006/main">
              <a:ext uri="{FF2B5EF4-FFF2-40B4-BE49-F238E27FC236}">
                <a16:creationId xmlns:a16="http://schemas.microsoft.com/office/drawing/2014/main" id="{7EB03380-A4E1-4A90-BB1A-8F2215C6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BRANDS &amp; PARTNERSHIPS · 2026</a:t>
            </a:r>
          </a:p>
        </p:txBody>
      </p:sp>
      <p:sp>
        <p:nvSpPr>
          <p:cNvPr id="3" name="text-121">
            <a:extLst xmlns:a="http://schemas.openxmlformats.org/drawingml/2006/main">
              <a:ext uri="{FF2B5EF4-FFF2-40B4-BE49-F238E27FC236}">
                <a16:creationId xmlns:a16="http://schemas.microsoft.com/office/drawing/2014/main" id="{48DD9BC4-BD5D-4955-8722-E9B5635D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XP-Pen · Deco 03 review &amp; giveaway</a:t>
            </a:r>
          </a:p>
        </p:txBody>
      </p:sp>
      <p:sp>
        <p:nvSpPr>
          <p:cNvPr id="4" name="text-122">
            <a:extLst xmlns:a="http://schemas.openxmlformats.org/drawingml/2006/main">
              <a:ext uri="{FF2B5EF4-FFF2-40B4-BE49-F238E27FC236}">
                <a16:creationId xmlns:a16="http://schemas.microsoft.com/office/drawing/2014/main" id="{B4BF4FF3-CF6C-4C17-883A-8B2998F2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9 / 10</a:t>
            </a:r>
          </a:p>
        </p:txBody>
      </p:sp>
      <p:sp>
        <p:nvSpPr>
          <p:cNvPr id="5" name="text-123">
            <a:extLst xmlns:a="http://schemas.openxmlformats.org/drawingml/2006/main">
              <a:ext uri="{FF2B5EF4-FFF2-40B4-BE49-F238E27FC236}">
                <a16:creationId xmlns:a16="http://schemas.microsoft.com/office/drawing/2014/main" id="{D8B43120-6A74-4436-82F4-94FA5025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2142F"/>
                </a:solidFill>
                <a:latin typeface="Arial"/>
                <a:ea typeface="Arial"/>
                <a:cs typeface="Arial"/>
              </a:rPr>
              <a:t>June – July 2021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EABD84-6514-445A-A345-441345972B0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e600d863444af8"/>
          <a:stretch xmlns:a="http://schemas.openxmlformats.org/drawingml/2006/main"/>
        </p:blipFill>
        <p:spPr>
          <a:xfrm xmlns:a="http://schemas.openxmlformats.org/drawingml/2006/main">
            <a:off x="609600" y="2116998"/>
            <a:ext cx="4819650" cy="3243129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4976CB-CCA5-486E-BFE5-828AEA16345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c1a6b63ce24a51"/>
          <a:stretch xmlns:a="http://schemas.openxmlformats.org/drawingml/2006/main"/>
        </p:blipFill>
        <p:spPr>
          <a:xfrm xmlns:a="http://schemas.openxmlformats.org/drawingml/2006/main">
            <a:off x="3746183" y="4657725"/>
            <a:ext cx="1680210" cy="1200150"/>
          </a:xfrm>
          <a:prstGeom xmlns:a="http://schemas.openxmlformats.org/drawingml/2006/main" prst="rect">
            <a:avLst/>
          </a:prstGeom>
        </p:spPr>
      </p:pic>
      <p:sp>
        <p:nvSpPr>
          <p:cNvPr id="8" name="text-124">
            <a:extLst xmlns:a="http://schemas.openxmlformats.org/drawingml/2006/main">
              <a:ext uri="{FF2B5EF4-FFF2-40B4-BE49-F238E27FC236}">
                <a16:creationId xmlns:a16="http://schemas.microsoft.com/office/drawing/2014/main" id="{516B5EFF-3850-484F-8D87-EAB847F6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Frame from the YouTube video</a:t>
            </a:r>
          </a:p>
        </p:txBody>
      </p:sp>
      <p:sp>
        <p:nvSpPr>
          <p:cNvPr id="9" name="text-125">
            <a:extLst xmlns:a="http://schemas.openxmlformats.org/drawingml/2006/main">
              <a:ext uri="{FF2B5EF4-FFF2-40B4-BE49-F238E27FC236}">
                <a16:creationId xmlns:a16="http://schemas.microsoft.com/office/drawing/2014/main" id="{E77E0A6E-96DF-4B70-902F-56C355415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809750"/>
            <a:ext cx="5524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Product tester, reviewer and content creator. XP-Pen Brasil sent the tablet and she sent them her feedback.</a:t>
            </a:r>
          </a:p>
        </p:txBody>
      </p:sp>
      <p:sp>
        <p:nvSpPr>
          <p:cNvPr id="10" name="text-126">
            <a:extLst xmlns:a="http://schemas.openxmlformats.org/drawingml/2006/main">
              <a:ext uri="{FF2B5EF4-FFF2-40B4-BE49-F238E27FC236}">
                <a16:creationId xmlns:a16="http://schemas.microsoft.com/office/drawing/2014/main" id="{689CB7CB-C5E2-4645-B477-BA51D4723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905125"/>
            <a:ext cx="552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Deliverables</a:t>
            </a:r>
          </a:p>
        </p:txBody>
      </p:sp>
      <p:sp>
        <p:nvSpPr>
          <p:cNvPr id="11" name="text-127">
            <a:extLst xmlns:a="http://schemas.openxmlformats.org/drawingml/2006/main">
              <a:ext uri="{FF2B5EF4-FFF2-40B4-BE49-F238E27FC236}">
                <a16:creationId xmlns:a16="http://schemas.microsoft.com/office/drawing/2014/main" id="{2220933F-B3C1-4D6F-89DC-22930D2C9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333750"/>
            <a:ext cx="5524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Instagram reel announcing the review and giveaway; YouTube video (9:53) with the XP-Pen Deco 03 review and a Yone fan art sketch; tablet giveaway with exclusive art; discount code for her audience.</a:t>
            </a:r>
          </a:p>
        </p:txBody>
      </p:sp>
      <p:sp>
        <p:nvSpPr>
          <p:cNvPr id="12" name="text-128">
            <a:extLst xmlns:a="http://schemas.openxmlformats.org/drawingml/2006/main">
              <a:ext uri="{FF2B5EF4-FFF2-40B4-BE49-F238E27FC236}">
                <a16:creationId xmlns:a16="http://schemas.microsoft.com/office/drawing/2014/main" id="{7EAD1E12-518F-4AA1-8A28-2A34D485F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914900"/>
            <a:ext cx="552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Results</a:t>
            </a:r>
          </a:p>
        </p:txBody>
      </p:sp>
      <p:sp>
        <p:nvSpPr>
          <p:cNvPr id="13" name="text-129">
            <a:extLst xmlns:a="http://schemas.openxmlformats.org/drawingml/2006/main">
              <a:ext uri="{FF2B5EF4-FFF2-40B4-BE49-F238E27FC236}">
                <a16:creationId xmlns:a16="http://schemas.microsoft.com/office/drawing/2014/main" id="{901304C7-1BFD-4678-8E7D-FE30C7B72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324475"/>
            <a:ext cx="552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YouTube: 3.2K views, 161 likes. Instagram reel: 221 likes, 10 comments (Oct 2026).</a:t>
            </a:r>
          </a:p>
        </p:txBody>
      </p:sp>
      <p:sp>
        <p:nvSpPr>
          <p:cNvPr id="14" name="text-130">
            <a:extLst xmlns:a="http://schemas.openxmlformats.org/drawingml/2006/main">
              <a:ext uri="{FF2B5EF4-FFF2-40B4-BE49-F238E27FC236}">
                <a16:creationId xmlns:a16="http://schemas.microsoft.com/office/drawing/2014/main" id="{EF906531-1411-4C4E-BFF7-5EF411192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29325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2142F"/>
                </a:solidFill>
                <a:latin typeface="Arial"/>
                <a:ea typeface="Arial"/>
                <a:cs typeface="Arial"/>
                <a:hlinkClick xmlns:r="http://schemas.openxmlformats.org/officeDocument/2006/relationships" r:id="R1997139d77d34fc8"/>
              </a:rPr>
              <a:t>YouTube</a:t>
            </a:r>
          </a:p>
        </p:txBody>
      </p:sp>
      <p:sp>
        <p:nvSpPr>
          <p:cNvPr id="15" name="text-131">
            <a:extLst xmlns:a="http://schemas.openxmlformats.org/drawingml/2006/main">
              <a:ext uri="{FF2B5EF4-FFF2-40B4-BE49-F238E27FC236}">
                <a16:creationId xmlns:a16="http://schemas.microsoft.com/office/drawing/2014/main" id="{822B6558-42FA-439E-A419-D58FBBF52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6029325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2142F"/>
                </a:solidFill>
                <a:latin typeface="Arial"/>
                <a:ea typeface="Arial"/>
                <a:cs typeface="Arial"/>
                <a:hlinkClick xmlns:r="http://schemas.openxmlformats.org/officeDocument/2006/relationships" r:id="R33cd0831a8d2489b"/>
              </a:rPr>
              <a:t>Instagram</a:t>
            </a:r>
          </a:p>
        </p:txBody>
      </p:sp>
    </p:spTree>
    <p:extLst>
      <p:ext uri="{BB962C8B-B14F-4D97-AF65-F5344CB8AC3E}">
        <p14:creationId xmlns:p14="http://schemas.microsoft.com/office/powerpoint/2010/main" val="7515197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32">
            <a:extLst xmlns:a="http://schemas.openxmlformats.org/drawingml/2006/main">
              <a:ext uri="{FF2B5EF4-FFF2-40B4-BE49-F238E27FC236}">
                <a16:creationId xmlns:a16="http://schemas.microsoft.com/office/drawing/2014/main" id="{602C782C-63C9-453A-BBD7-63DA1B46C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EFE9DF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33">
            <a:extLst xmlns:a="http://schemas.openxmlformats.org/drawingml/2006/main">
              <a:ext uri="{FF2B5EF4-FFF2-40B4-BE49-F238E27FC236}">
                <a16:creationId xmlns:a16="http://schemas.microsoft.com/office/drawing/2014/main" id="{52C25C53-63C3-4DCF-BEC5-2BD4895A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MEDIA KIT · BRANDS &amp; PARTNERSHIPS · 2026</a:t>
            </a:r>
          </a:p>
        </p:txBody>
      </p:sp>
      <p:sp>
        <p:nvSpPr>
          <p:cNvPr id="3" name="text-134">
            <a:extLst xmlns:a="http://schemas.openxmlformats.org/drawingml/2006/main">
              <a:ext uri="{FF2B5EF4-FFF2-40B4-BE49-F238E27FC236}">
                <a16:creationId xmlns:a16="http://schemas.microsoft.com/office/drawing/2014/main" id="{347C4BD2-C385-424F-B857-A33CB85DC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EFE9DF"/>
                </a:solidFill>
                <a:latin typeface="Georgia"/>
                <a:ea typeface="Georgia"/>
                <a:cs typeface="Georgia"/>
              </a:rPr>
              <a:t>Contact</a:t>
            </a:r>
          </a:p>
        </p:txBody>
      </p:sp>
      <p:sp>
        <p:nvSpPr>
          <p:cNvPr id="4" name="text-135">
            <a:extLst xmlns:a="http://schemas.openxmlformats.org/drawingml/2006/main">
              <a:ext uri="{FF2B5EF4-FFF2-40B4-BE49-F238E27FC236}">
                <a16:creationId xmlns:a16="http://schemas.microsoft.com/office/drawing/2014/main" id="{9DD34B44-B187-4E0D-9549-D58E38892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10 / 10</a:t>
            </a:r>
          </a:p>
        </p:txBody>
      </p:sp>
      <p:sp>
        <p:nvSpPr>
          <p:cNvPr id="5" name="text-136">
            <a:extLst xmlns:a="http://schemas.openxmlformats.org/drawingml/2006/main">
              <a:ext uri="{FF2B5EF4-FFF2-40B4-BE49-F238E27FC236}">
                <a16:creationId xmlns:a16="http://schemas.microsoft.com/office/drawing/2014/main" id="{95F11AE1-7130-4230-ABFD-02B7558E2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defPPr>
            <a:lvl1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1pPr>
            <a:lvl2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2pPr>
            <a:lvl3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3pPr>
            <a:lvl4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4pPr>
            <a:lvl5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5pPr>
            <a:lvl6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6pPr>
            <a:lvl7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7pPr>
            <a:lvl8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8pPr>
            <a:lvl9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FF7A1A"/>
                </a:solidFill>
                <a:latin typeface="Georgia"/>
                <a:ea typeface="Georgia"/>
                <a:cs typeface="Georgia"/>
              </a:rPr>
              <a:t>How to start</a:t>
            </a:r>
          </a:p>
        </p:txBody>
      </p:sp>
      <p:sp>
        <p:nvSpPr>
          <p:cNvPr id="6" name="text-137">
            <a:extLst xmlns:a="http://schemas.openxmlformats.org/drawingml/2006/main">
              <a:ext uri="{FF2B5EF4-FFF2-40B4-BE49-F238E27FC236}">
                <a16:creationId xmlns:a16="http://schemas.microsoft.com/office/drawing/2014/main" id="{23647EE1-4DC0-44BC-B1F1-1BA4D20ED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6286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FE9DF"/>
                </a:solidFill>
                <a:latin typeface="Arial"/>
                <a:ea typeface="Arial"/>
                <a:cs typeface="Arial"/>
              </a:rPr>
              <a:t>Send a short brief with goals, deliverables, timeline and budget to the e-mail below.</a:t>
            </a:r>
          </a:p>
        </p:txBody>
      </p:sp>
      <p:sp>
        <p:nvSpPr>
          <p:cNvPr id="7" name="text-138">
            <a:extLst xmlns:a="http://schemas.openxmlformats.org/drawingml/2006/main">
              <a:ext uri="{FF2B5EF4-FFF2-40B4-BE49-F238E27FC236}">
                <a16:creationId xmlns:a16="http://schemas.microsoft.com/office/drawing/2014/main" id="{C0F6ED24-278E-4778-AA41-231366132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71875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defPPr>
            <a:lvl1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1pPr>
            <a:lvl2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2pPr>
            <a:lvl3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3pPr>
            <a:lvl4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4pPr>
            <a:lvl5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5pPr>
            <a:lvl6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6pPr>
            <a:lvl7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7pPr>
            <a:lvl8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8pPr>
            <a:lvl9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FF7A1A"/>
                </a:solidFill>
                <a:latin typeface="Arial"/>
                <a:ea typeface="Arial"/>
                <a:cs typeface="Arial"/>
                <a:hlinkClick xmlns:r="http://schemas.openxmlformats.org/officeDocument/2006/relationships" r:id="R4a747ca6f9fb4253"/>
              </a:rPr>
              <a:t>giumsart@gmail.com</a:t>
            </a:r>
          </a:p>
        </p:txBody>
      </p:sp>
      <p:sp>
        <p:nvSpPr>
          <p:cNvPr id="8" name="text-139">
            <a:extLst xmlns:a="http://schemas.openxmlformats.org/drawingml/2006/main">
              <a:ext uri="{FF2B5EF4-FFF2-40B4-BE49-F238E27FC236}">
                <a16:creationId xmlns:a16="http://schemas.microsoft.com/office/drawing/2014/main" id="{CCB18750-6D9C-4D24-8669-BB9F9C441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6b35421299d640a5"/>
              </a:rPr>
              <a:t>giums.onrender.com</a:t>
            </a:r>
          </a:p>
        </p:txBody>
      </p:sp>
      <p:sp>
        <p:nvSpPr>
          <p:cNvPr id="9" name="text-140">
            <a:extLst xmlns:a="http://schemas.openxmlformats.org/drawingml/2006/main">
              <a:ext uri="{FF2B5EF4-FFF2-40B4-BE49-F238E27FC236}">
                <a16:creationId xmlns:a16="http://schemas.microsoft.com/office/drawing/2014/main" id="{D0B5EF09-25A0-432D-A1F9-8116CB50A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47675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3b4a5c4bf6014c7c"/>
              </a:rPr>
              <a:t>@giums</a:t>
            </a:r>
          </a:p>
        </p:txBody>
      </p:sp>
      <p:sp>
        <p:nvSpPr>
          <p:cNvPr id="10" name="text-141">
            <a:extLst xmlns:a="http://schemas.openxmlformats.org/drawingml/2006/main">
              <a:ext uri="{FF2B5EF4-FFF2-40B4-BE49-F238E27FC236}">
                <a16:creationId xmlns:a16="http://schemas.microsoft.com/office/drawing/2014/main" id="{62F4F42B-2A47-4C75-8C86-BA906BEBB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c2cd6434081a4043"/>
              </a:rPr>
              <a:t>@giums.bsky.social</a:t>
            </a:r>
          </a:p>
        </p:txBody>
      </p:sp>
      <p:sp>
        <p:nvSpPr>
          <p:cNvPr id="11" name="text-142">
            <a:extLst xmlns:a="http://schemas.openxmlformats.org/drawingml/2006/main">
              <a:ext uri="{FF2B5EF4-FFF2-40B4-BE49-F238E27FC236}">
                <a16:creationId xmlns:a16="http://schemas.microsoft.com/office/drawing/2014/main" id="{6EE1BC5B-B2C0-48BF-A30A-28BB322E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981575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c1419398ce6c42af"/>
              </a:rPr>
              <a:t>@GIUMSyt</a:t>
            </a:r>
          </a:p>
        </p:txBody>
      </p:sp>
      <p:sp>
        <p:nvSpPr>
          <p:cNvPr id="12" name="text-143">
            <a:extLst xmlns:a="http://schemas.openxmlformats.org/drawingml/2006/main">
              <a:ext uri="{FF2B5EF4-FFF2-40B4-BE49-F238E27FC236}">
                <a16:creationId xmlns:a16="http://schemas.microsoft.com/office/drawing/2014/main" id="{83A290E4-DD85-41E8-875E-5975E7935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5b27fc9996df43b8"/>
              </a:rPr>
              <a:t>twitch.tv/giums</a:t>
            </a:r>
          </a:p>
        </p:txBody>
      </p:sp>
      <p:sp>
        <p:nvSpPr>
          <p:cNvPr id="13" name="text-144">
            <a:extLst xmlns:a="http://schemas.openxmlformats.org/drawingml/2006/main">
              <a:ext uri="{FF2B5EF4-FFF2-40B4-BE49-F238E27FC236}">
                <a16:creationId xmlns:a16="http://schemas.microsoft.com/office/drawing/2014/main" id="{4DFA3505-6EA8-4A73-8D6C-FE520EC8B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48640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08bb78178c2142be"/>
              </a:rPr>
              <a:t>patreon.com/giums</a:t>
            </a:r>
          </a:p>
        </p:txBody>
      </p:sp>
      <p:sp>
        <p:nvSpPr>
          <p:cNvPr id="14" name="text-145">
            <a:extLst xmlns:a="http://schemas.openxmlformats.org/drawingml/2006/main">
              <a:ext uri="{FF2B5EF4-FFF2-40B4-BE49-F238E27FC236}">
                <a16:creationId xmlns:a16="http://schemas.microsoft.com/office/drawing/2014/main" id="{6437BFAC-E91B-490B-AB20-677DF5EF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17526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FF7A1A"/>
                </a:solidFill>
                <a:latin typeface="Georgia"/>
                <a:ea typeface="Georgia"/>
                <a:cs typeface="Georgia"/>
              </a:rPr>
              <a:t>Usage rights</a:t>
            </a:r>
          </a:p>
        </p:txBody>
      </p:sp>
      <p:sp>
        <p:nvSpPr>
          <p:cNvPr id="15" name="text-146">
            <a:extLst xmlns:a="http://schemas.openxmlformats.org/drawingml/2006/main">
              <a:ext uri="{FF2B5EF4-FFF2-40B4-BE49-F238E27FC236}">
                <a16:creationId xmlns:a16="http://schemas.microsoft.com/office/drawing/2014/main" id="{88B35394-7AB6-4DC6-AA92-188D04829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495550"/>
            <a:ext cx="3429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FE9DF"/>
                </a:solidFill>
                <a:latin typeface="Arial"/>
                <a:ea typeface="Arial"/>
                <a:cs typeface="Arial"/>
              </a:rPr>
              <a:t>Commercial use and reuploads require the artist's permission; terms are agreed per project.</a:t>
            </a:r>
          </a:p>
        </p:txBody>
      </p:sp>
      <p:sp>
        <p:nvSpPr>
          <p:cNvPr id="16" name="text-147">
            <a:extLst xmlns:a="http://schemas.openxmlformats.org/drawingml/2006/main">
              <a:ext uri="{FF2B5EF4-FFF2-40B4-BE49-F238E27FC236}">
                <a16:creationId xmlns:a16="http://schemas.microsoft.com/office/drawing/2014/main" id="{4874607B-985A-4F33-8324-C928CC7C7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4352925"/>
            <a:ext cx="342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Using the artwork — including for similar-looking OCs — is not allowed.</a:t>
            </a:r>
          </a:p>
        </p:txBody>
      </p:sp>
    </p:spTree>
    <p:extLst>
      <p:ext uri="{BB962C8B-B14F-4D97-AF65-F5344CB8AC3E}">
        <p14:creationId xmlns:p14="http://schemas.microsoft.com/office/powerpoint/2010/main" val="12516957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2026-10-16T23:01:45.5630000Z</dcterms:created>
  <dcterms:modified xsi:type="dcterms:W3CDTF">2026-10-16T23:01:45.5630000Z</dcterms:modified>
</coreProperties>
</file>