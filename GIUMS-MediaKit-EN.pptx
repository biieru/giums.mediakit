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514151a5b340f5" /><Relationship Type="http://schemas.openxmlformats.org/officeDocument/2006/relationships/extended-properties" Target="/docProps/app.xml" Id="Rd55f2462446e48a9" /><Relationship Type="http://schemas.openxmlformats.org/officeDocument/2006/relationships/officeDocument" Target="/ppt/presentation.xml" Id="Rbe86612cfc754b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ce1cc69a584324"/>
  </p:sldMasterIdLst>
  <p:notesMasterIdLst>
    <p:notesMasterId xmlns:r="http://schemas.openxmlformats.org/officeDocument/2006/relationships" r:id="Ra30d3af13c61400c"/>
  </p:notesMasterIdLst>
  <p:sldIdLst>
    <p:sldId xmlns:r="http://schemas.openxmlformats.org/officeDocument/2006/relationships" id="256" r:id="R42665107bf464e83"/>
    <p:sldId xmlns:r="http://schemas.openxmlformats.org/officeDocument/2006/relationships" id="257" r:id="R5603f4ccbbf044a7"/>
    <p:sldId xmlns:r="http://schemas.openxmlformats.org/officeDocument/2006/relationships" id="258" r:id="R62b2054dd13d404e"/>
    <p:sldId xmlns:r="http://schemas.openxmlformats.org/officeDocument/2006/relationships" id="259" r:id="R0d9486795d794fc0"/>
    <p:sldId xmlns:r="http://schemas.openxmlformats.org/officeDocument/2006/relationships" id="260" r:id="R4ed5b108d50f465c"/>
    <p:sldId xmlns:r="http://schemas.openxmlformats.org/officeDocument/2006/relationships" id="261" r:id="Rd48602d07bd048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a3a1be5f254b8b" /><Relationship Type="http://schemas.openxmlformats.org/officeDocument/2006/relationships/slideMaster" Target="/ppt/slideMasters/slideMaster1.xml" Id="R0cce1cc69a584324" /><Relationship Type="http://schemas.openxmlformats.org/officeDocument/2006/relationships/notesMaster" Target="/ppt/notesMasters/notesMaster1.xml" Id="Ra30d3af13c61400c" /><Relationship Type="http://schemas.openxmlformats.org/officeDocument/2006/relationships/presProps" Target="/ppt/presProps.xml" Id="R4496809a51854a9a" /><Relationship Type="http://schemas.openxmlformats.org/officeDocument/2006/relationships/tableStyles" Target="/ppt/tableStyles.xml" Id="R6c76dcdf959d4749" /><Relationship Type="http://schemas.openxmlformats.org/officeDocument/2006/relationships/slide" Target="/ppt/slides/slide1.xml" Id="R42665107bf464e83" /><Relationship Type="http://schemas.openxmlformats.org/officeDocument/2006/relationships/slide" Target="/ppt/slides/slide2.xml" Id="R5603f4ccbbf044a7" /><Relationship Type="http://schemas.openxmlformats.org/officeDocument/2006/relationships/slide" Target="/ppt/slides/slide3.xml" Id="R62b2054dd13d404e" /><Relationship Type="http://schemas.openxmlformats.org/officeDocument/2006/relationships/slide" Target="/ppt/slides/slide4.xml" Id="R0d9486795d794fc0" /><Relationship Type="http://schemas.openxmlformats.org/officeDocument/2006/relationships/slide" Target="/ppt/slides/slide5.xml" Id="R4ed5b108d50f465c" /><Relationship Type="http://schemas.openxmlformats.org/officeDocument/2006/relationships/slide" Target="/ppt/slides/slide6.xml" Id="Rd48602d07bd048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fb6bdf55cd944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069cdb902a477c" /><Relationship Type="http://schemas.openxmlformats.org/officeDocument/2006/relationships/notesMaster" Target="/ppt/notesMasters/notesMaster1.xml" Id="R31a6053b6992452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134d7e64ad4dcd" /><Relationship Type="http://schemas.openxmlformats.org/officeDocument/2006/relationships/notesMaster" Target="/ppt/notesMasters/notesMaster1.xml" Id="Re58f105121ec4b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f13d8717bb43ce" /><Relationship Type="http://schemas.openxmlformats.org/officeDocument/2006/relationships/notesMaster" Target="/ppt/notesMasters/notesMaster1.xml" Id="R8943deb3b9af42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45581f555dc4ab0" /><Relationship Type="http://schemas.openxmlformats.org/officeDocument/2006/relationships/notesMaster" Target="/ppt/notesMasters/notesMaster1.xml" Id="R8e37a8190e2d44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2913ef3c4214fa6" /><Relationship Type="http://schemas.openxmlformats.org/officeDocument/2006/relationships/notesMaster" Target="/ppt/notesMasters/notesMaster1.xml" Id="R46ec417c6bb645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ddc42d9d2034a18" /><Relationship Type="http://schemas.openxmlformats.org/officeDocument/2006/relationships/notesMaster" Target="/ppt/notesMasters/notesMaster1.xml" Id="R25ef0c16351044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IGNAVRAK dragon artwork from the GIUMS media kit: https://github.com/Biieru/GIUMS.Mediakit/assets/hero.webp.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Content and original artwork: https://github.com/Biieru/GIUMS.Mediakit. Audience figures supplied in the media kit,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Content and original artwork: https://github.com/Biieru/GIUMS.Mediakit. Audience figures supplied in the media kit,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Content and original artwork: https://github.com/Biieru/GIUMS.Mediakit. Audience figures supplied in the media kit,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Content and original artwork: https://github.com/Biieru/GIUMS.Mediakit. Audience figures supplied in the media kit,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Content and original artwork: https://github.com/Biieru/GIUMS.Mediakit. Audience figures supplied in the media kit,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415eda8f45471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5bdf3b29d0444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7db2a1a9f8445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397e0f51f748f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24950bdf55454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e6fcccad69486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AD4D517-E74C-4C02-886F-F3CA18C331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31FDA71-F557-42B5-B7D4-2AB1994F68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8364DF9-9231-47DB-B9D6-BC8A5F4AAB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55485D8-2E32-4BFD-AB19-5EDAF28FE7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DB30232-3C12-402C-BB24-DC87F18941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6605522-76EC-4CDA-8933-DFC6689027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9273F5F-8106-453C-8748-85E9E51578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F7C8E20-E108-4FEF-8A47-C3B330A5C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EC7FCF-DC53-400F-A93F-6C1C79E688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FAF6C0F-D04B-4FD0-9439-9B0A1AF28D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1b27c1e58a4041" /><Relationship Type="http://schemas.openxmlformats.org/officeDocument/2006/relationships/slideLayout" Target="/ppt/slideLayouts/slideLayout1.xml" Id="Re469f2296e154062" /><Relationship Type="http://schemas.openxmlformats.org/officeDocument/2006/relationships/slideLayout" Target="/ppt/slideLayouts/slideLayout2.xml" Id="Rd637862b1dab4022" /><Relationship Type="http://schemas.openxmlformats.org/officeDocument/2006/relationships/slideLayout" Target="/ppt/slideLayouts/slideLayout3.xml" Id="Rcba2d2479100491b" /><Relationship Type="http://schemas.openxmlformats.org/officeDocument/2006/relationships/slideLayout" Target="/ppt/slideLayouts/slideLayout4.xml" Id="R83e931eb9b864744" /><Relationship Type="http://schemas.openxmlformats.org/officeDocument/2006/relationships/slideLayout" Target="/ppt/slideLayouts/slideLayout5.xml" Id="R2b92e1cc954f4d81" /><Relationship Type="http://schemas.openxmlformats.org/officeDocument/2006/relationships/slideLayout" Target="/ppt/slideLayouts/slideLayout6.xml" Id="R2dca8672064f45c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69f2296e154062"/>
    <p:sldLayoutId xmlns:r="http://schemas.openxmlformats.org/officeDocument/2006/relationships" id="2147483650" r:id="Rd637862b1dab4022"/>
    <p:sldLayoutId xmlns:r="http://schemas.openxmlformats.org/officeDocument/2006/relationships" id="2147483651" r:id="Rcba2d2479100491b"/>
    <p:sldLayoutId xmlns:r="http://schemas.openxmlformats.org/officeDocument/2006/relationships" id="2147483652" r:id="R83e931eb9b864744"/>
    <p:sldLayoutId xmlns:r="http://schemas.openxmlformats.org/officeDocument/2006/relationships" id="2147483653" r:id="R2b92e1cc954f4d81"/>
    <p:sldLayoutId xmlns:r="http://schemas.openxmlformats.org/officeDocument/2006/relationships" id="2147483654" r:id="R2dca8672064f45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44a21891594e12" /><Relationship Type="http://schemas.openxmlformats.org/officeDocument/2006/relationships/image" Target="/ppt/media/image.png" Id="R65249179533c4ef7" /><Relationship Type="http://schemas.openxmlformats.org/officeDocument/2006/relationships/notesSlide" Target="/ppt/notesSlides/notesSlide1.xml" Id="R2a8735fe76da4642" 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938df305f064ee2"/><Relationship Type="http://schemas.openxmlformats.org/officeDocument/2006/relationships/image" Target="/ppt/media/image2.png" Id="R466d34fd0d2c45fd"/><Relationship Type="http://schemas.openxmlformats.org/officeDocument/2006/relationships/notesSlide" Target="/ppt/notesSlides/notesSlide2.xml" Id="Rf40fc1b848594549"/><Relationship Id="rIdClick1" Type="http://schemas.openxmlformats.org/officeDocument/2006/relationships/hyperlink" Target="https://www.instagram.com/giums/" TargetMode="External"/><Relationship Id="rIdClick2" Type="http://schemas.openxmlformats.org/officeDocument/2006/relationships/hyperlink" Target="https://www.youtube.com/@GIUMSyt" TargetMode="External"/><Relationship Id="rIdClick3" Type="http://schemas.openxmlformats.org/officeDocument/2006/relationships/hyperlink" Target="https://www.patreon.com/giums" TargetMode="External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203622362a44c62"/><Relationship Type="http://schemas.openxmlformats.org/officeDocument/2006/relationships/image" Target="/ppt/media/image3.png" Id="R09921e5850f54d46"/><Relationship Type="http://schemas.openxmlformats.org/officeDocument/2006/relationships/image" Target="/ppt/media/image4.png" Id="Rd6e538c503db467e"/><Relationship Type="http://schemas.openxmlformats.org/officeDocument/2006/relationships/image" Target="/ppt/media/image5.png" Id="R453f82647745440e"/><Relationship Type="http://schemas.openxmlformats.org/officeDocument/2006/relationships/notesSlide" Target="/ppt/notesSlides/notesSlide3.xml" Id="Rb05082f00b0344fa"/><Relationship Id="rIdClick1" Type="http://schemas.openxmlformats.org/officeDocument/2006/relationships/hyperlink" Target="https://www.patreon.com/giums" TargetMode="External"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300dd5e8094717" /><Relationship Type="http://schemas.openxmlformats.org/officeDocument/2006/relationships/notesSlide" Target="/ppt/notesSlides/notesSlide4.xml" Id="Rd9a2a704ff7b4ba6" 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2c98dbad47d4aef"/><Relationship Type="http://schemas.openxmlformats.org/officeDocument/2006/relationships/image" Target="/ppt/media/image6.png" Id="R84575d3c667f4e10"/><Relationship Type="http://schemas.openxmlformats.org/officeDocument/2006/relationships/image" Target="/ppt/media/image7.png" Id="Rfb8a5ce31877461f"/><Relationship Type="http://schemas.openxmlformats.org/officeDocument/2006/relationships/notesSlide" Target="/ppt/notesSlides/notesSlide5.xml" Id="R4d00aac4d22c4c79"/><Relationship Id="rIdClick1" Type="http://schemas.openxmlformats.org/officeDocument/2006/relationships/hyperlink" Target="https://youtu.be/1wZL_RG2Ma4" TargetMode="External"/><Relationship Id="rIdClick2" Type="http://schemas.openxmlformats.org/officeDocument/2006/relationships/hyperlink" Target="https://www.instagram.com/reels/CQjiu2mBFcf/" TargetMode="External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29f3d3d21624288"/><Relationship Type="http://schemas.openxmlformats.org/officeDocument/2006/relationships/notesSlide" Target="/ppt/notesSlides/notesSlide6.xml" Id="Rb57dbe21af4141af"/><Relationship Id="rIdClick1" Type="http://schemas.openxmlformats.org/officeDocument/2006/relationships/hyperlink" Target="mailto:giumsart@gmail.com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ox-132">
            <a:extLst xmlns:a="http://schemas.openxmlformats.org/drawingml/2006/main">
              <a:ext uri="{FF2B5EF4-FFF2-40B4-BE49-F238E27FC236}">
                <a16:creationId xmlns:a16="http://schemas.microsoft.com/office/drawing/2014/main" id="{892ECB49-4AD4-4970-9B72-C54DF2AA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60A"/>
          </a:solidFill>
          <a:ln xmlns:a="http://schemas.openxmlformats.org/drawingml/2006/main" w="0">
            <a:noFill/>
          </a:ln>
        </p:spPr>
      </p:sp>
      <p:sp>
        <p:nvSpPr>
          <p:cNvPr id="2" name="text-133">
            <a:extLst xmlns:a="http://schemas.openxmlformats.org/drawingml/2006/main">
              <a:ext uri="{FF2B5EF4-FFF2-40B4-BE49-F238E27FC236}">
                <a16:creationId xmlns:a16="http://schemas.microsoft.com/office/drawing/2014/main" id="{2E991410-3856-4DE5-BDF3-3742CA03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6725"/>
            <a:ext cx="171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defPPr>
            <a:lvl1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1pPr>
            <a:lvl2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2pPr>
            <a:lvl3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3pPr>
            <a:lvl4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4pPr>
            <a:lvl5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5pPr>
            <a:lvl6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6pPr>
            <a:lvl7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7pPr>
            <a:lvl8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8pPr>
            <a:lvl9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FF5E7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3" name="text-134">
            <a:extLst xmlns:a="http://schemas.openxmlformats.org/drawingml/2006/main">
              <a:ext uri="{FF2B5EF4-FFF2-40B4-BE49-F238E27FC236}">
                <a16:creationId xmlns:a16="http://schemas.microsoft.com/office/drawing/2014/main" id="{D30FD3E2-F815-4005-8F3A-68568515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38325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781C"/>
                </a:solidFill>
                <a:latin typeface="Arial"/>
                <a:ea typeface="Arial"/>
                <a:cs typeface="Arial"/>
              </a:rPr>
              <a:t>MEDIA KIT · BRANDS &amp; PARTNERSHIPS</a:t>
            </a:r>
          </a:p>
        </p:txBody>
      </p:sp>
      <p:sp>
        <p:nvSpPr>
          <p:cNvPr id="4" name="text-135">
            <a:extLst xmlns:a="http://schemas.openxmlformats.org/drawingml/2006/main">
              <a:ext uri="{FF2B5EF4-FFF2-40B4-BE49-F238E27FC236}">
                <a16:creationId xmlns:a16="http://schemas.microsoft.com/office/drawing/2014/main" id="{A0BC0012-6027-4264-BB26-B605F744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57425"/>
            <a:ext cx="62579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defPPr>
            <a:lvl1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1pPr>
            <a:lvl2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2pPr>
            <a:lvl3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3pPr>
            <a:lvl4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4pPr>
            <a:lvl5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5pPr>
            <a:lvl6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6pPr>
            <a:lvl7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7pPr>
            <a:lvl8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8pPr>
            <a:lvl9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pPr>
            <a:r>
              <a:rPr sz="8400" b="0">
                <a:solidFill>
                  <a:srgbClr val="FFC23D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5" name="text-136">
            <a:extLst xmlns:a="http://schemas.openxmlformats.org/drawingml/2006/main">
              <a:ext uri="{FF2B5EF4-FFF2-40B4-BE49-F238E27FC236}">
                <a16:creationId xmlns:a16="http://schemas.microsoft.com/office/drawing/2014/main" id="{4E3158F9-BF78-4A16-A689-2CD250E4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24250"/>
            <a:ext cx="6286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FFF5E7"/>
                </a:solidFill>
                <a:latin typeface="Georgia"/>
                <a:ea typeface="Georgia"/>
                <a:cs typeface="Georgia"/>
              </a:rPr>
              <a:t>Character &amp; Creature Artist</a:t>
            </a:r>
          </a:p>
        </p:txBody>
      </p:sp>
      <p:sp>
        <p:nvSpPr>
          <p:cNvPr id="6" name="text-137">
            <a:extLst xmlns:a="http://schemas.openxmlformats.org/drawingml/2006/main">
              <a:ext uri="{FF2B5EF4-FFF2-40B4-BE49-F238E27FC236}">
                <a16:creationId xmlns:a16="http://schemas.microsoft.com/office/drawing/2014/main" id="{EA05390B-81D0-48EE-A861-B67F53F42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324350"/>
            <a:ext cx="552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8DFD7"/>
                </a:solidFill>
                <a:latin typeface="Arial"/>
                <a:ea typeface="Arial"/>
                <a:cs typeface="Arial"/>
              </a:rPr>
              <a:t>Dark fantasy character and creature art, and YATHRA, her original draconic universe.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00B9C9-53DB-4400-B082-6F69DB0CCA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249179533c4ef7"/>
          <a:stretch xmlns:a="http://schemas.openxmlformats.org/drawingml/2006/main"/>
        </p:blipFill>
        <p:spPr>
          <a:xfrm xmlns:a="http://schemas.openxmlformats.org/drawingml/2006/main">
            <a:off x="7331638" y="466725"/>
            <a:ext cx="3910474" cy="5562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825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138">
            <a:extLst xmlns:a="http://schemas.openxmlformats.org/drawingml/2006/main">
              <a:ext uri="{FF2B5EF4-FFF2-40B4-BE49-F238E27FC236}">
                <a16:creationId xmlns:a16="http://schemas.microsoft.com/office/drawing/2014/main" id="{E87A58C9-AE58-469E-8BBF-99949D32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39">
            <a:extLst xmlns:a="http://schemas.openxmlformats.org/drawingml/2006/main">
              <a:ext uri="{FF2B5EF4-FFF2-40B4-BE49-F238E27FC236}">
                <a16:creationId xmlns:a16="http://schemas.microsoft.com/office/drawing/2014/main" id="{503084A2-CDDE-44F9-8FD9-B63ED8315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00050"/>
            <a:ext cx="4905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D555A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rule-140">
            <a:extLst xmlns:a="http://schemas.openxmlformats.org/drawingml/2006/main">
              <a:ext uri="{FF2B5EF4-FFF2-40B4-BE49-F238E27FC236}">
                <a16:creationId xmlns:a16="http://schemas.microsoft.com/office/drawing/2014/main" id="{7DA08BF7-191A-46AA-9987-7BC8BE14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4" name="text-141">
            <a:extLst xmlns:a="http://schemas.openxmlformats.org/drawingml/2006/main">
              <a:ext uri="{FF2B5EF4-FFF2-40B4-BE49-F238E27FC236}">
                <a16:creationId xmlns:a16="http://schemas.microsoft.com/office/drawing/2014/main" id="{94E9B7FE-4E37-4B05-9645-08B4EE5B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11049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Who she is</a:t>
            </a:r>
          </a:p>
        </p:txBody>
      </p:sp>
      <p:sp>
        <p:nvSpPr>
          <p:cNvPr id="5" name="text-142">
            <a:extLst xmlns:a="http://schemas.openxmlformats.org/drawingml/2006/main">
              <a:ext uri="{FF2B5EF4-FFF2-40B4-BE49-F238E27FC236}">
                <a16:creationId xmlns:a16="http://schemas.microsoft.com/office/drawing/2014/main" id="{61795D0A-59BF-4F3F-A2A4-4F871EBB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2 / 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6C901-A9BE-40FB-BD2F-1EB7575E46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6d34fd0d2c45fd"/>
          <a:srcRect xmlns:a="http://schemas.openxmlformats.org/drawingml/2006/main" l="0" t="6534" r="0" b="65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" y="1828800"/>
            <a:ext cx="2619375" cy="4048125"/>
          </a:xfrm>
          <a:prstGeom xmlns:a="http://schemas.openxmlformats.org/drawingml/2006/main" prst="rect">
            <a:avLst/>
          </a:prstGeom>
        </p:spPr>
      </p:pic>
      <p:sp>
        <p:nvSpPr>
          <p:cNvPr id="7" name="rule-143">
            <a:extLst xmlns:a="http://schemas.openxmlformats.org/drawingml/2006/main">
              <a:ext uri="{FF2B5EF4-FFF2-40B4-BE49-F238E27FC236}">
                <a16:creationId xmlns:a16="http://schemas.microsoft.com/office/drawing/2014/main" id="{BAC4EBC0-076D-442D-ACDD-879F4E2D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771650"/>
            <a:ext cx="19050" cy="416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8" name="text-144">
            <a:extLst xmlns:a="http://schemas.openxmlformats.org/drawingml/2006/main">
              <a:ext uri="{FF2B5EF4-FFF2-40B4-BE49-F238E27FC236}">
                <a16:creationId xmlns:a16="http://schemas.microsoft.com/office/drawing/2014/main" id="{268F25A9-E072-4220-B607-99397233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743075"/>
            <a:ext cx="7381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375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GIUMS (Giu)</a:t>
            </a:r>
          </a:p>
        </p:txBody>
      </p:sp>
      <p:sp>
        <p:nvSpPr>
          <p:cNvPr id="9" name="text-145">
            <a:extLst xmlns:a="http://schemas.openxmlformats.org/drawingml/2006/main">
              <a:ext uri="{FF2B5EF4-FFF2-40B4-BE49-F238E27FC236}">
                <a16:creationId xmlns:a16="http://schemas.microsoft.com/office/drawing/2014/main" id="{70809EDB-B90E-40C2-9049-3436B02C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81250"/>
            <a:ext cx="76581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Visual artist and illustrator focused on character design for over 15 years, working in Brazil and internationally, with strong influences from geek culture, high fantasy, TCG and RPG.</a:t>
            </a:r>
          </a:p>
        </p:txBody>
      </p:sp>
      <p:sp>
        <p:nvSpPr>
          <p:cNvPr id="10" name="text-146">
            <a:extLst xmlns:a="http://schemas.openxmlformats.org/drawingml/2006/main">
              <a:ext uri="{FF2B5EF4-FFF2-40B4-BE49-F238E27FC236}">
                <a16:creationId xmlns:a16="http://schemas.microsoft.com/office/drawing/2014/main" id="{38FEF51A-E201-4C85-AFEF-C127B8440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600450"/>
            <a:ext cx="76581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She is building a Patreon community while developing YATHRA, a high fantasy RPG setting that embraces queer culture (LGBTQIAPN+) and dragons, lots of dragons!</a:t>
            </a:r>
          </a:p>
        </p:txBody>
      </p:sp>
      <p:sp>
        <p:nvSpPr>
          <p:cNvPr id="11" name="text-147">
            <a:extLst xmlns:a="http://schemas.openxmlformats.org/drawingml/2006/main">
              <a:ext uri="{FF2B5EF4-FFF2-40B4-BE49-F238E27FC236}">
                <a16:creationId xmlns:a16="http://schemas.microsoft.com/office/drawing/2014/main" id="{2DFA2A2A-A4F3-4C36-BED4-57E7573E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219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SOCIAL MEDIA</a:t>
            </a:r>
          </a:p>
        </p:txBody>
      </p:sp>
      <p:sp>
        <p:nvSpPr>
          <p:cNvPr id="12" name="text-148">
            <a:extLst xmlns:a="http://schemas.openxmlformats.org/drawingml/2006/main">
              <a:ext uri="{FF2B5EF4-FFF2-40B4-BE49-F238E27FC236}">
                <a16:creationId xmlns:a16="http://schemas.microsoft.com/office/drawing/2014/main" id="{720D1A11-C9D6-47B7-94F9-325CEC8A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524500"/>
            <a:ext cx="2238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Instagram</a:t>
            </a:r>
          </a:p>
        </p:txBody>
      </p:sp>
      <p:sp>
        <p:nvSpPr>
          <p:cNvPr id="13" name="rule-149">
            <a:extLst xmlns:a="http://schemas.openxmlformats.org/drawingml/2006/main">
              <a:ext uri="{FF2B5EF4-FFF2-40B4-BE49-F238E27FC236}">
                <a16:creationId xmlns:a16="http://schemas.microsoft.com/office/drawing/2014/main" id="{89CD1302-3B19-42A7-8F1D-1F8F6188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876925"/>
            <a:ext cx="105613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14" name="hotspot-1">
            <a:extLst xmlns:a="http://schemas.openxmlformats.org/drawingml/2006/main">
              <a:ext uri="{FF2B5EF4-FFF2-40B4-BE49-F238E27FC236}">
                <a16:creationId xmlns:a16="http://schemas.microsoft.com/office/drawing/2014/main" id="{CD4386C8-67ED-47B9-A3B2-2047D76ABE4B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5245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5" name="text-151">
            <a:extLst xmlns:a="http://schemas.openxmlformats.org/drawingml/2006/main">
              <a:ext uri="{FF2B5EF4-FFF2-40B4-BE49-F238E27FC236}">
                <a16:creationId xmlns:a16="http://schemas.microsoft.com/office/drawing/2014/main" id="{AD022267-C33E-4624-9EC9-465A8E7D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924550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@giums</a:t>
            </a:r>
          </a:p>
        </p:txBody>
      </p:sp>
      <p:sp>
        <p:nvSpPr>
          <p:cNvPr id="16" name="text-152">
            <a:extLst xmlns:a="http://schemas.openxmlformats.org/drawingml/2006/main">
              <a:ext uri="{FF2B5EF4-FFF2-40B4-BE49-F238E27FC236}">
                <a16:creationId xmlns:a16="http://schemas.microsoft.com/office/drawing/2014/main" id="{852B7B38-20B6-4EDA-BA93-E73FADA0A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524500"/>
            <a:ext cx="2238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YouTube</a:t>
            </a:r>
          </a:p>
        </p:txBody>
      </p:sp>
      <p:sp>
        <p:nvSpPr>
          <p:cNvPr id="17" name="rule-153">
            <a:extLst xmlns:a="http://schemas.openxmlformats.org/drawingml/2006/main">
              <a:ext uri="{FF2B5EF4-FFF2-40B4-BE49-F238E27FC236}">
                <a16:creationId xmlns:a16="http://schemas.microsoft.com/office/drawing/2014/main" id="{283BA426-87F5-4358-8160-89249D1A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876925"/>
            <a:ext cx="82143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18" name="hotspot-2">
            <a:extLst xmlns:a="http://schemas.openxmlformats.org/drawingml/2006/main">
              <a:ext uri="{FF2B5EF4-FFF2-40B4-BE49-F238E27FC236}">
                <a16:creationId xmlns:a16="http://schemas.microsoft.com/office/drawing/2014/main" id="{1711299F-1D06-42D0-B941-5D8AFEEF8D2C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5245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9" name="text-155">
            <a:extLst xmlns:a="http://schemas.openxmlformats.org/drawingml/2006/main">
              <a:ext uri="{FF2B5EF4-FFF2-40B4-BE49-F238E27FC236}">
                <a16:creationId xmlns:a16="http://schemas.microsoft.com/office/drawing/2014/main" id="{CE6ED388-7C06-4224-9020-AC565CDE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924550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@GIUMSyt</a:t>
            </a:r>
          </a:p>
        </p:txBody>
      </p:sp>
      <p:sp>
        <p:nvSpPr>
          <p:cNvPr id="20" name="text-156">
            <a:extLst xmlns:a="http://schemas.openxmlformats.org/drawingml/2006/main">
              <a:ext uri="{FF2B5EF4-FFF2-40B4-BE49-F238E27FC236}">
                <a16:creationId xmlns:a16="http://schemas.microsoft.com/office/drawing/2014/main" id="{AC7F7DA4-9B62-4DD9-AE69-889754DF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524500"/>
            <a:ext cx="2238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Patreon</a:t>
            </a:r>
          </a:p>
        </p:txBody>
      </p:sp>
      <p:sp>
        <p:nvSpPr>
          <p:cNvPr id="21" name="rule-157">
            <a:extLst xmlns:a="http://schemas.openxmlformats.org/drawingml/2006/main">
              <a:ext uri="{FF2B5EF4-FFF2-40B4-BE49-F238E27FC236}">
                <a16:creationId xmlns:a16="http://schemas.microsoft.com/office/drawing/2014/main" id="{D7440BC3-D916-4952-9BD3-092D3C6C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876925"/>
            <a:ext cx="82143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22" name="hotspot-3">
            <a:extLst xmlns:a="http://schemas.openxmlformats.org/drawingml/2006/main">
              <a:ext uri="{FF2B5EF4-FFF2-40B4-BE49-F238E27FC236}">
                <a16:creationId xmlns:a16="http://schemas.microsoft.com/office/drawing/2014/main" id="{1A9D23E8-BFD6-4882-A097-8014FE1B8191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5245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3" name="text-159">
            <a:extLst xmlns:a="http://schemas.openxmlformats.org/drawingml/2006/main">
              <a:ext uri="{FF2B5EF4-FFF2-40B4-BE49-F238E27FC236}">
                <a16:creationId xmlns:a16="http://schemas.microsoft.com/office/drawing/2014/main" id="{08C205E4-D0B0-4060-9187-B6B1E25D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924550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patreon.com/giums</a:t>
            </a:r>
          </a:p>
        </p:txBody>
      </p:sp>
    </p:spTree>
    <p:extLst>
      <p:ext uri="{BB962C8B-B14F-4D97-AF65-F5344CB8AC3E}">
        <p14:creationId xmlns:p14="http://schemas.microsoft.com/office/powerpoint/2010/main" val="3747317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60">
            <a:extLst xmlns:a="http://schemas.openxmlformats.org/drawingml/2006/main">
              <a:ext uri="{FF2B5EF4-FFF2-40B4-BE49-F238E27FC236}">
                <a16:creationId xmlns:a16="http://schemas.microsoft.com/office/drawing/2014/main" id="{008EC1EB-394D-49EE-BCBD-CE4B5BAE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defPPr>
            <a:lvl1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1pPr>
            <a:lvl2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2pPr>
            <a:lvl3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3pPr>
            <a:lvl4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4pPr>
            <a:lvl5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5pPr>
            <a:lvl6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6pPr>
            <a:lvl7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7pPr>
            <a:lvl8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8pPr>
            <a:lvl9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FFF5E7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61">
            <a:extLst xmlns:a="http://schemas.openxmlformats.org/drawingml/2006/main">
              <a:ext uri="{FF2B5EF4-FFF2-40B4-BE49-F238E27FC236}">
                <a16:creationId xmlns:a16="http://schemas.microsoft.com/office/drawing/2014/main" id="{E283BE96-4AF6-467A-8ABB-C846C5BA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00050"/>
            <a:ext cx="4905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AAA0AA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rule-162">
            <a:extLst xmlns:a="http://schemas.openxmlformats.org/drawingml/2006/main">
              <a:ext uri="{FF2B5EF4-FFF2-40B4-BE49-F238E27FC236}">
                <a16:creationId xmlns:a16="http://schemas.microsoft.com/office/drawing/2014/main" id="{B6D55C49-41F6-4D3A-A78B-A4465169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81C"/>
          </a:solidFill>
          <a:ln xmlns:a="http://schemas.openxmlformats.org/drawingml/2006/main" w="0">
            <a:noFill/>
          </a:ln>
        </p:spPr>
      </p:sp>
      <p:sp>
        <p:nvSpPr>
          <p:cNvPr id="4" name="text-163">
            <a:extLst xmlns:a="http://schemas.openxmlformats.org/drawingml/2006/main">
              <a:ext uri="{FF2B5EF4-FFF2-40B4-BE49-F238E27FC236}">
                <a16:creationId xmlns:a16="http://schemas.microsoft.com/office/drawing/2014/main" id="{FDC5FE31-7DCF-4E2B-8286-9E2DED48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11049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FFF5E7"/>
                </a:solidFill>
                <a:latin typeface="Georgia"/>
                <a:ea typeface="Georgia"/>
                <a:cs typeface="Georgia"/>
              </a:rPr>
              <a:t>YATHRA</a:t>
            </a:r>
          </a:p>
        </p:txBody>
      </p:sp>
      <p:sp>
        <p:nvSpPr>
          <p:cNvPr id="5" name="text-164">
            <a:extLst xmlns:a="http://schemas.openxmlformats.org/drawingml/2006/main">
              <a:ext uri="{FF2B5EF4-FFF2-40B4-BE49-F238E27FC236}">
                <a16:creationId xmlns:a16="http://schemas.microsoft.com/office/drawing/2014/main" id="{9C6C72D9-042C-411D-BE97-FC54A4D8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AA0AA"/>
                </a:solidFill>
                <a:latin typeface="Arial"/>
                <a:ea typeface="Arial"/>
                <a:cs typeface="Arial"/>
              </a:rPr>
              <a:t>3 / 6</a:t>
            </a:r>
          </a:p>
        </p:txBody>
      </p:sp>
      <p:sp>
        <p:nvSpPr>
          <p:cNvPr id="6" name="text-165">
            <a:extLst xmlns:a="http://schemas.openxmlformats.org/drawingml/2006/main">
              <a:ext uri="{FF2B5EF4-FFF2-40B4-BE49-F238E27FC236}">
                <a16:creationId xmlns:a16="http://schemas.microsoft.com/office/drawing/2014/main" id="{0E70CEAA-B0D9-45C3-8AE9-B063A8F5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781C"/>
                </a:solidFill>
                <a:latin typeface="Arial"/>
                <a:ea typeface="Arial"/>
                <a:cs typeface="Arial"/>
              </a:rPr>
              <a:t>AN ORIGINAL UNIVERSE</a:t>
            </a:r>
          </a:p>
        </p:txBody>
      </p:sp>
      <p:sp>
        <p:nvSpPr>
          <p:cNvPr id="7" name="text-166">
            <a:extLst xmlns:a="http://schemas.openxmlformats.org/drawingml/2006/main">
              <a:ext uri="{FF2B5EF4-FFF2-40B4-BE49-F238E27FC236}">
                <a16:creationId xmlns:a16="http://schemas.microsoft.com/office/drawing/2014/main" id="{00F87F39-36AC-43BC-951D-A71D5BB6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33600"/>
            <a:ext cx="5048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defPPr>
            <a:lvl1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1pPr>
            <a:lvl2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2pPr>
            <a:lvl3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3pPr>
            <a:lvl4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4pPr>
            <a:lvl5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5pPr>
            <a:lvl6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6pPr>
            <a:lvl7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7pPr>
            <a:lvl8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8pPr>
            <a:lvl9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pPr>
            <a:r>
              <a:rPr sz="2175" b="0">
                <a:solidFill>
                  <a:srgbClr val="FFF5E7"/>
                </a:solidFill>
                <a:latin typeface="Georgia"/>
                <a:ea typeface="Georgia"/>
                <a:cs typeface="Georgia"/>
              </a:rPr>
              <a:t>A lore and tabletop RPG worldbuilding project, three years in the making: a draconic world of conflict, LGBTQIAPN+ relationships and fantastic artifacts.</a:t>
            </a:r>
          </a:p>
        </p:txBody>
      </p:sp>
      <p:sp>
        <p:nvSpPr>
          <p:cNvPr id="8" name="text-167">
            <a:extLst xmlns:a="http://schemas.openxmlformats.org/drawingml/2006/main">
              <a:ext uri="{FF2B5EF4-FFF2-40B4-BE49-F238E27FC236}">
                <a16:creationId xmlns:a16="http://schemas.microsoft.com/office/drawing/2014/main" id="{7D0469AE-AF52-474D-841E-D60B7C69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00475"/>
            <a:ext cx="50482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8DFD7"/>
                </a:solidFill>
                <a:latin typeface="Arial"/>
                <a:ea typeface="Arial"/>
                <a:cs typeface="Arial"/>
              </a:rPr>
              <a:t>Supporters join via Patreon and receive kits with physical items from the universe and original sketches of their own OCs.</a:t>
            </a:r>
          </a:p>
        </p:txBody>
      </p:sp>
      <p:sp>
        <p:nvSpPr>
          <p:cNvPr id="9" name="text-168">
            <a:extLst xmlns:a="http://schemas.openxmlformats.org/drawingml/2006/main">
              <a:ext uri="{FF2B5EF4-FFF2-40B4-BE49-F238E27FC236}">
                <a16:creationId xmlns:a16="http://schemas.microsoft.com/office/drawing/2014/main" id="{69C5ED07-E356-46F8-A0C1-8DB30961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48275"/>
            <a:ext cx="4333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781C"/>
                </a:solidFill>
                <a:latin typeface="Arial"/>
                <a:ea typeface="Arial"/>
                <a:cs typeface="Arial"/>
              </a:rPr>
              <a:t>patreon.com/giums</a:t>
            </a:r>
          </a:p>
        </p:txBody>
      </p:sp>
      <p:sp>
        <p:nvSpPr>
          <p:cNvPr id="10" name="rule-169">
            <a:extLst xmlns:a="http://schemas.openxmlformats.org/drawingml/2006/main">
              <a:ext uri="{FF2B5EF4-FFF2-40B4-BE49-F238E27FC236}">
                <a16:creationId xmlns:a16="http://schemas.microsoft.com/office/drawing/2014/main" id="{EDFCFA09-FAA1-49C0-878D-51D1DE75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00700"/>
            <a:ext cx="208559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81C"/>
          </a:solidFill>
          <a:ln xmlns:a="http://schemas.openxmlformats.org/drawingml/2006/main" w="0">
            <a:noFill/>
          </a:ln>
        </p:spPr>
      </p:sp>
      <p:sp>
        <p:nvSpPr>
          <p:cNvPr id="11" name="hotspot-1">
            <a:extLst xmlns:a="http://schemas.openxmlformats.org/drawingml/2006/main">
              <a:ext uri="{FF2B5EF4-FFF2-40B4-BE49-F238E27FC236}">
                <a16:creationId xmlns:a16="http://schemas.microsoft.com/office/drawing/2014/main" id="{4FB7C62D-5863-4A64-95AA-1E03E745B7D2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48275"/>
            <a:ext cx="4333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A87F64-0F48-4695-A56F-22BD6B74CF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921e5850f54d46"/>
          <a:srcRect xmlns:a="http://schemas.openxmlformats.org/drawingml/2006/main" l="16053" t="0" r="160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1752600"/>
            <a:ext cx="1638300" cy="3619500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2EEF67-F01C-4F57-A911-E12C47DCFA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e538c503db467e"/>
          <a:srcRect xmlns:a="http://schemas.openxmlformats.org/drawingml/2006/main" l="16053" t="0" r="160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72425" y="2076450"/>
            <a:ext cx="1638300" cy="3619500"/>
          </a:xfrm>
          <a:prstGeom xmlns:a="http://schemas.openxmlformats.org/drawingml/2006/main" prst="rect">
            <a:avLst/>
          </a:prstGeom>
        </p:spPr>
      </p:pic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DA1E2-153D-4253-9140-13A57AEE0F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3f82647745440e"/>
          <a:srcRect xmlns:a="http://schemas.openxmlformats.org/drawingml/2006/main" l="16053" t="0" r="160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29800" y="1819275"/>
            <a:ext cx="1638300" cy="3619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7766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text-171">
            <a:extLst xmlns:a="http://schemas.openxmlformats.org/drawingml/2006/main">
              <a:ext uri="{FF2B5EF4-FFF2-40B4-BE49-F238E27FC236}">
                <a16:creationId xmlns:a16="http://schemas.microsoft.com/office/drawing/2014/main" id="{0845FE2A-52CE-40FD-BBCF-DCDF39CB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72">
            <a:extLst xmlns:a="http://schemas.openxmlformats.org/drawingml/2006/main">
              <a:ext uri="{FF2B5EF4-FFF2-40B4-BE49-F238E27FC236}">
                <a16:creationId xmlns:a16="http://schemas.microsoft.com/office/drawing/2014/main" id="{21B19472-D429-4E0B-98CF-DA626A21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00050"/>
            <a:ext cx="4905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D555A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rule-173">
            <a:extLst xmlns:a="http://schemas.openxmlformats.org/drawingml/2006/main">
              <a:ext uri="{FF2B5EF4-FFF2-40B4-BE49-F238E27FC236}">
                <a16:creationId xmlns:a16="http://schemas.microsoft.com/office/drawing/2014/main" id="{0E002973-81B5-4177-B02A-89FE5895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4" name="text-174">
            <a:extLst xmlns:a="http://schemas.openxmlformats.org/drawingml/2006/main">
              <a:ext uri="{FF2B5EF4-FFF2-40B4-BE49-F238E27FC236}">
                <a16:creationId xmlns:a16="http://schemas.microsoft.com/office/drawing/2014/main" id="{91C825B0-C965-46A4-882D-965A8D5E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11049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Audience &amp; reach</a:t>
            </a:r>
          </a:p>
        </p:txBody>
      </p:sp>
      <p:sp>
        <p:nvSpPr>
          <p:cNvPr id="5" name="text-175">
            <a:extLst xmlns:a="http://schemas.openxmlformats.org/drawingml/2006/main">
              <a:ext uri="{FF2B5EF4-FFF2-40B4-BE49-F238E27FC236}">
                <a16:creationId xmlns:a16="http://schemas.microsoft.com/office/drawing/2014/main" id="{D5512898-476E-4604-A91F-42FB26BE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4 / 6</a:t>
            </a:r>
          </a:p>
        </p:txBody>
      </p:sp>
      <p:sp>
        <p:nvSpPr>
          <p:cNvPr id="6" name="text-176">
            <a:extLst xmlns:a="http://schemas.openxmlformats.org/drawingml/2006/main">
              <a:ext uri="{FF2B5EF4-FFF2-40B4-BE49-F238E27FC236}">
                <a16:creationId xmlns:a16="http://schemas.microsoft.com/office/drawing/2014/main" id="{6A64A987-D318-4977-A81A-1DAC6E4BC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114425"/>
            <a:ext cx="333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Figures as of Oct 2026.</a:t>
            </a:r>
          </a:p>
        </p:txBody>
      </p:sp>
      <p:sp>
        <p:nvSpPr>
          <p:cNvPr id="7" name="text-177">
            <a:extLst xmlns:a="http://schemas.openxmlformats.org/drawingml/2006/main">
              <a:ext uri="{FF2B5EF4-FFF2-40B4-BE49-F238E27FC236}">
                <a16:creationId xmlns:a16="http://schemas.microsoft.com/office/drawing/2014/main" id="{FD29D4EC-9DEB-4632-ABFD-068BA66D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INSTAGRAM</a:t>
            </a:r>
          </a:p>
        </p:txBody>
      </p:sp>
      <p:sp>
        <p:nvSpPr>
          <p:cNvPr id="8" name="text-178">
            <a:extLst xmlns:a="http://schemas.openxmlformats.org/drawingml/2006/main">
              <a:ext uri="{FF2B5EF4-FFF2-40B4-BE49-F238E27FC236}">
                <a16:creationId xmlns:a16="http://schemas.microsoft.com/office/drawing/2014/main" id="{C8194B8A-70C9-4DD5-BD33-CDBA4830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7167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4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4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4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4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4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4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4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4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4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4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4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42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16.4K</a:t>
            </a:r>
          </a:p>
        </p:txBody>
      </p:sp>
      <p:sp>
        <p:nvSpPr>
          <p:cNvPr id="9" name="text-179">
            <a:extLst xmlns:a="http://schemas.openxmlformats.org/drawingml/2006/main">
              <a:ext uri="{FF2B5EF4-FFF2-40B4-BE49-F238E27FC236}">
                <a16:creationId xmlns:a16="http://schemas.microsoft.com/office/drawing/2014/main" id="{3EA46CB2-DF97-4505-9ADD-51790B2D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527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followers</a:t>
            </a:r>
          </a:p>
        </p:txBody>
      </p:sp>
      <p:sp>
        <p:nvSpPr>
          <p:cNvPr id="10" name="text-180">
            <a:extLst xmlns:a="http://schemas.openxmlformats.org/drawingml/2006/main">
              <a:ext uri="{FF2B5EF4-FFF2-40B4-BE49-F238E27FC236}">
                <a16:creationId xmlns:a16="http://schemas.microsoft.com/office/drawing/2014/main" id="{6BAB1A6B-A4D8-4E6D-96AC-5F30F936D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7167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75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5.08%</a:t>
            </a:r>
          </a:p>
        </p:txBody>
      </p:sp>
      <p:sp>
        <p:nvSpPr>
          <p:cNvPr id="11" name="text-181">
            <a:extLst xmlns:a="http://schemas.openxmlformats.org/drawingml/2006/main">
              <a:ext uri="{FF2B5EF4-FFF2-40B4-BE49-F238E27FC236}">
                <a16:creationId xmlns:a16="http://schemas.microsoft.com/office/drawing/2014/main" id="{E86F0715-B7FA-4423-9586-E6C1C030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527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average engagement rate</a:t>
            </a:r>
          </a:p>
        </p:txBody>
      </p:sp>
      <p:sp>
        <p:nvSpPr>
          <p:cNvPr id="12" name="text-182">
            <a:extLst xmlns:a="http://schemas.openxmlformats.org/drawingml/2006/main">
              <a:ext uri="{FF2B5EF4-FFF2-40B4-BE49-F238E27FC236}">
                <a16:creationId xmlns:a16="http://schemas.microsoft.com/office/drawing/2014/main" id="{B8044DCB-B1B3-4DD3-B9DC-5E1890503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7167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75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835</a:t>
            </a:r>
          </a:p>
        </p:txBody>
      </p:sp>
      <p:sp>
        <p:nvSpPr>
          <p:cNvPr id="13" name="text-183">
            <a:extLst xmlns:a="http://schemas.openxmlformats.org/drawingml/2006/main">
              <a:ext uri="{FF2B5EF4-FFF2-40B4-BE49-F238E27FC236}">
                <a16:creationId xmlns:a16="http://schemas.microsoft.com/office/drawing/2014/main" id="{59746EF5-57F7-439B-8934-9177DCEA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527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average likes per post</a:t>
            </a:r>
          </a:p>
        </p:txBody>
      </p:sp>
      <p:sp>
        <p:nvSpPr>
          <p:cNvPr id="14" name="rule-184">
            <a:extLst xmlns:a="http://schemas.openxmlformats.org/drawingml/2006/main">
              <a:ext uri="{FF2B5EF4-FFF2-40B4-BE49-F238E27FC236}">
                <a16:creationId xmlns:a16="http://schemas.microsoft.com/office/drawing/2014/main" id="{917A10E3-9769-4FAE-A3F3-A0B00D04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813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15" name="text-185">
            <a:extLst xmlns:a="http://schemas.openxmlformats.org/drawingml/2006/main">
              <a:ext uri="{FF2B5EF4-FFF2-40B4-BE49-F238E27FC236}">
                <a16:creationId xmlns:a16="http://schemas.microsoft.com/office/drawing/2014/main" id="{D174E328-5EC4-4475-AC8A-2C804BD2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75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31</a:t>
            </a:r>
          </a:p>
        </p:txBody>
      </p:sp>
      <p:sp>
        <p:nvSpPr>
          <p:cNvPr id="16" name="text-186">
            <a:extLst xmlns:a="http://schemas.openxmlformats.org/drawingml/2006/main">
              <a:ext uri="{FF2B5EF4-FFF2-40B4-BE49-F238E27FC236}">
                <a16:creationId xmlns:a16="http://schemas.microsoft.com/office/drawing/2014/main" id="{F869FE47-4E4D-4E8E-A521-16BD822D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9097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average comments per post</a:t>
            </a:r>
          </a:p>
        </p:txBody>
      </p:sp>
      <p:sp>
        <p:nvSpPr>
          <p:cNvPr id="17" name="text-187">
            <a:extLst xmlns:a="http://schemas.openxmlformats.org/drawingml/2006/main">
              <a:ext uri="{FF2B5EF4-FFF2-40B4-BE49-F238E27FC236}">
                <a16:creationId xmlns:a16="http://schemas.microsoft.com/office/drawing/2014/main" id="{A89545F8-F46B-4879-A5F2-C7DD986D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2099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75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37.9K</a:t>
            </a:r>
          </a:p>
        </p:txBody>
      </p:sp>
      <p:sp>
        <p:nvSpPr>
          <p:cNvPr id="18" name="text-188">
            <a:extLst xmlns:a="http://schemas.openxmlformats.org/drawingml/2006/main">
              <a:ext uri="{FF2B5EF4-FFF2-40B4-BE49-F238E27FC236}">
                <a16:creationId xmlns:a16="http://schemas.microsoft.com/office/drawing/2014/main" id="{7F105022-DA99-4FC3-9FA6-6357CE78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9097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views in the last 30 days</a:t>
            </a:r>
          </a:p>
        </p:txBody>
      </p:sp>
      <p:sp>
        <p:nvSpPr>
          <p:cNvPr id="19" name="text-189">
            <a:extLst xmlns:a="http://schemas.openxmlformats.org/drawingml/2006/main">
              <a:ext uri="{FF2B5EF4-FFF2-40B4-BE49-F238E27FC236}">
                <a16:creationId xmlns:a16="http://schemas.microsoft.com/office/drawing/2014/main" id="{8CF6DB55-7421-4A0C-8B94-B04AEDB7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099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7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75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9,090</a:t>
            </a:r>
          </a:p>
        </p:txBody>
      </p:sp>
      <p:sp>
        <p:nvSpPr>
          <p:cNvPr id="20" name="text-190">
            <a:extLst xmlns:a="http://schemas.openxmlformats.org/drawingml/2006/main">
              <a:ext uri="{FF2B5EF4-FFF2-40B4-BE49-F238E27FC236}">
                <a16:creationId xmlns:a16="http://schemas.microsoft.com/office/drawing/2014/main" id="{518DCEE9-66DE-401F-B35F-4CD3BEADF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9097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accounts that viewed the content</a:t>
            </a:r>
          </a:p>
        </p:txBody>
      </p:sp>
      <p:sp>
        <p:nvSpPr>
          <p:cNvPr id="21" name="rule-191">
            <a:extLst xmlns:a="http://schemas.openxmlformats.org/drawingml/2006/main">
              <a:ext uri="{FF2B5EF4-FFF2-40B4-BE49-F238E27FC236}">
                <a16:creationId xmlns:a16="http://schemas.microsoft.com/office/drawing/2014/main" id="{0DBBE456-0029-4E34-9F0F-0E2BE66D3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22" name="text-192">
            <a:extLst xmlns:a="http://schemas.openxmlformats.org/drawingml/2006/main">
              <a:ext uri="{FF2B5EF4-FFF2-40B4-BE49-F238E27FC236}">
                <a16:creationId xmlns:a16="http://schemas.microsoft.com/office/drawing/2014/main" id="{50782F79-22A7-4AD5-B3BB-289B898C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339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AUDIENCE PROFILE</a:t>
            </a:r>
          </a:p>
        </p:txBody>
      </p:sp>
      <p:sp>
        <p:nvSpPr>
          <p:cNvPr id="23" name="text-193">
            <a:extLst xmlns:a="http://schemas.openxmlformats.org/drawingml/2006/main">
              <a:ext uri="{FF2B5EF4-FFF2-40B4-BE49-F238E27FC236}">
                <a16:creationId xmlns:a16="http://schemas.microsoft.com/office/drawing/2014/main" id="{1BACA9DA-0DC7-4979-B100-A69EE986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86325"/>
            <a:ext cx="110109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13–24</a:t>
            </a:r>
          </a:p>
        </p:txBody>
      </p:sp>
      <p:sp>
        <p:nvSpPr>
          <p:cNvPr id="24" name="box-194">
            <a:extLst xmlns:a="http://schemas.openxmlformats.org/drawingml/2006/main">
              <a:ext uri="{FF2B5EF4-FFF2-40B4-BE49-F238E27FC236}">
                <a16:creationId xmlns:a16="http://schemas.microsoft.com/office/drawing/2014/main" id="{3E430378-1BD7-4899-B69C-D41D39E3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4933950"/>
            <a:ext cx="14573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2DF"/>
          </a:solidFill>
          <a:ln xmlns:a="http://schemas.openxmlformats.org/drawingml/2006/main" w="0">
            <a:noFill/>
          </a:ln>
        </p:spPr>
      </p:sp>
      <p:sp>
        <p:nvSpPr>
          <p:cNvPr id="25" name="box-195">
            <a:extLst xmlns:a="http://schemas.openxmlformats.org/drawingml/2006/main">
              <a:ext uri="{FF2B5EF4-FFF2-40B4-BE49-F238E27FC236}">
                <a16:creationId xmlns:a16="http://schemas.microsoft.com/office/drawing/2014/main" id="{9ED08B45-79B7-42A0-B7B1-6379051C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4933950"/>
            <a:ext cx="343929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26" name="text-196">
            <a:extLst xmlns:a="http://schemas.openxmlformats.org/drawingml/2006/main">
              <a:ext uri="{FF2B5EF4-FFF2-40B4-BE49-F238E27FC236}">
                <a16:creationId xmlns:a16="http://schemas.microsoft.com/office/drawing/2014/main" id="{1EE2BDB9-DED6-474A-B883-48D58F52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4886325"/>
            <a:ext cx="51816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D0B10"/>
                </a:solidFill>
                <a:latin typeface="Arial"/>
                <a:ea typeface="Arial"/>
                <a:cs typeface="Arial"/>
              </a:rPr>
              <a:t>23.6%</a:t>
            </a:r>
          </a:p>
        </p:txBody>
      </p:sp>
      <p:sp>
        <p:nvSpPr>
          <p:cNvPr id="27" name="text-197">
            <a:extLst xmlns:a="http://schemas.openxmlformats.org/drawingml/2006/main">
              <a:ext uri="{FF2B5EF4-FFF2-40B4-BE49-F238E27FC236}">
                <a16:creationId xmlns:a16="http://schemas.microsoft.com/office/drawing/2014/main" id="{54832FC2-6704-461E-A077-0D88BB08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0175"/>
            <a:ext cx="110109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25–34</a:t>
            </a:r>
          </a:p>
        </p:txBody>
      </p:sp>
      <p:sp>
        <p:nvSpPr>
          <p:cNvPr id="28" name="box-198">
            <a:extLst xmlns:a="http://schemas.openxmlformats.org/drawingml/2006/main">
              <a:ext uri="{FF2B5EF4-FFF2-40B4-BE49-F238E27FC236}">
                <a16:creationId xmlns:a16="http://schemas.microsoft.com/office/drawing/2014/main" id="{2E1E8361-3E79-4AA1-8BAF-6BBD3F8A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5257800"/>
            <a:ext cx="14573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2DF"/>
          </a:solidFill>
          <a:ln xmlns:a="http://schemas.openxmlformats.org/drawingml/2006/main" w="0">
            <a:noFill/>
          </a:ln>
        </p:spPr>
      </p:sp>
      <p:sp>
        <p:nvSpPr>
          <p:cNvPr id="29" name="box-199">
            <a:extLst xmlns:a="http://schemas.openxmlformats.org/drawingml/2006/main">
              <a:ext uri="{FF2B5EF4-FFF2-40B4-BE49-F238E27FC236}">
                <a16:creationId xmlns:a16="http://schemas.microsoft.com/office/drawing/2014/main" id="{99272E93-FADE-4FEE-BB0C-C7946EBC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5257800"/>
            <a:ext cx="807358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30" name="text-200">
            <a:extLst xmlns:a="http://schemas.openxmlformats.org/drawingml/2006/main">
              <a:ext uri="{FF2B5EF4-FFF2-40B4-BE49-F238E27FC236}">
                <a16:creationId xmlns:a16="http://schemas.microsoft.com/office/drawing/2014/main" id="{E5EED4E0-5C06-4CCA-B31E-41323C30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5210175"/>
            <a:ext cx="51816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D0B10"/>
                </a:solidFill>
                <a:latin typeface="Arial"/>
                <a:ea typeface="Arial"/>
                <a:cs typeface="Arial"/>
              </a:rPr>
              <a:t>55.4%</a:t>
            </a:r>
          </a:p>
        </p:txBody>
      </p:sp>
      <p:sp>
        <p:nvSpPr>
          <p:cNvPr id="31" name="text-201">
            <a:extLst xmlns:a="http://schemas.openxmlformats.org/drawingml/2006/main">
              <a:ext uri="{FF2B5EF4-FFF2-40B4-BE49-F238E27FC236}">
                <a16:creationId xmlns:a16="http://schemas.microsoft.com/office/drawing/2014/main" id="{292C094A-16DF-43DD-9195-E7CFC20A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34025"/>
            <a:ext cx="110109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35–44</a:t>
            </a:r>
          </a:p>
        </p:txBody>
      </p:sp>
      <p:sp>
        <p:nvSpPr>
          <p:cNvPr id="32" name="box-202">
            <a:extLst xmlns:a="http://schemas.openxmlformats.org/drawingml/2006/main">
              <a:ext uri="{FF2B5EF4-FFF2-40B4-BE49-F238E27FC236}">
                <a16:creationId xmlns:a16="http://schemas.microsoft.com/office/drawing/2014/main" id="{7DC936ED-5663-40EA-A339-06560AC9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5581650"/>
            <a:ext cx="14573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2DF"/>
          </a:solidFill>
          <a:ln xmlns:a="http://schemas.openxmlformats.org/drawingml/2006/main" w="0">
            <a:noFill/>
          </a:ln>
        </p:spPr>
      </p:sp>
      <p:sp>
        <p:nvSpPr>
          <p:cNvPr id="33" name="box-203">
            <a:extLst xmlns:a="http://schemas.openxmlformats.org/drawingml/2006/main">
              <a:ext uri="{FF2B5EF4-FFF2-40B4-BE49-F238E27FC236}">
                <a16:creationId xmlns:a16="http://schemas.microsoft.com/office/drawing/2014/main" id="{8A3EEF09-4B0B-440B-91CF-92B99E29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5581650"/>
            <a:ext cx="246288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34" name="text-204">
            <a:extLst xmlns:a="http://schemas.openxmlformats.org/drawingml/2006/main">
              <a:ext uri="{FF2B5EF4-FFF2-40B4-BE49-F238E27FC236}">
                <a16:creationId xmlns:a16="http://schemas.microsoft.com/office/drawing/2014/main" id="{9DFC0CC3-5BB0-441E-A18D-92A19071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5534025"/>
            <a:ext cx="51816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D0B10"/>
                </a:solidFill>
                <a:latin typeface="Arial"/>
                <a:ea typeface="Arial"/>
                <a:cs typeface="Arial"/>
              </a:rPr>
              <a:t>16.9%</a:t>
            </a:r>
          </a:p>
        </p:txBody>
      </p:sp>
      <p:sp>
        <p:nvSpPr>
          <p:cNvPr id="35" name="text-205">
            <a:extLst xmlns:a="http://schemas.openxmlformats.org/drawingml/2006/main">
              <a:ext uri="{FF2B5EF4-FFF2-40B4-BE49-F238E27FC236}">
                <a16:creationId xmlns:a16="http://schemas.microsoft.com/office/drawing/2014/main" id="{74EFCF7E-FB55-4F4C-A2FB-DE0E892F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109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45+</a:t>
            </a:r>
          </a:p>
        </p:txBody>
      </p:sp>
      <p:sp>
        <p:nvSpPr>
          <p:cNvPr id="36" name="box-206">
            <a:extLst xmlns:a="http://schemas.openxmlformats.org/drawingml/2006/main">
              <a:ext uri="{FF2B5EF4-FFF2-40B4-BE49-F238E27FC236}">
                <a16:creationId xmlns:a16="http://schemas.microsoft.com/office/drawing/2014/main" id="{DB1B6CFE-4E42-4F80-BF12-0835A012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5905500"/>
            <a:ext cx="14573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2DF"/>
          </a:solidFill>
          <a:ln xmlns:a="http://schemas.openxmlformats.org/drawingml/2006/main" w="0">
            <a:noFill/>
          </a:ln>
        </p:spPr>
      </p:sp>
      <p:sp>
        <p:nvSpPr>
          <p:cNvPr id="37" name="box-207">
            <a:extLst xmlns:a="http://schemas.openxmlformats.org/drawingml/2006/main">
              <a:ext uri="{FF2B5EF4-FFF2-40B4-BE49-F238E27FC236}">
                <a16:creationId xmlns:a16="http://schemas.microsoft.com/office/drawing/2014/main" id="{577A4C7C-2232-4376-80CE-D5C85958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5905500"/>
            <a:ext cx="61208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38" name="text-208">
            <a:extLst xmlns:a="http://schemas.openxmlformats.org/drawingml/2006/main">
              <a:ext uri="{FF2B5EF4-FFF2-40B4-BE49-F238E27FC236}">
                <a16:creationId xmlns:a16="http://schemas.microsoft.com/office/drawing/2014/main" id="{DA651D34-D0DA-464F-94E7-37757A9C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5857875"/>
            <a:ext cx="51816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D0B10"/>
                </a:solidFill>
                <a:latin typeface="Arial"/>
                <a:ea typeface="Arial"/>
                <a:cs typeface="Arial"/>
              </a:rPr>
              <a:t>4.2%</a:t>
            </a:r>
          </a:p>
        </p:txBody>
      </p:sp>
      <p:sp>
        <p:nvSpPr>
          <p:cNvPr id="39" name="text-209">
            <a:extLst xmlns:a="http://schemas.openxmlformats.org/drawingml/2006/main">
              <a:ext uri="{FF2B5EF4-FFF2-40B4-BE49-F238E27FC236}">
                <a16:creationId xmlns:a16="http://schemas.microsoft.com/office/drawing/2014/main" id="{FAFC8108-7EAA-4135-9479-1D1E8917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86325"/>
            <a:ext cx="110109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Women</a:t>
            </a:r>
          </a:p>
        </p:txBody>
      </p:sp>
      <p:sp>
        <p:nvSpPr>
          <p:cNvPr id="40" name="box-210">
            <a:extLst xmlns:a="http://schemas.openxmlformats.org/drawingml/2006/main">
              <a:ext uri="{FF2B5EF4-FFF2-40B4-BE49-F238E27FC236}">
                <a16:creationId xmlns:a16="http://schemas.microsoft.com/office/drawing/2014/main" id="{E86CC012-0EE1-4639-9662-30F03CD2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8295" y="4933950"/>
            <a:ext cx="14573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2DF"/>
          </a:solidFill>
          <a:ln xmlns:a="http://schemas.openxmlformats.org/drawingml/2006/main" w="0">
            <a:noFill/>
          </a:ln>
        </p:spPr>
      </p:sp>
      <p:sp>
        <p:nvSpPr>
          <p:cNvPr id="41" name="box-211">
            <a:extLst xmlns:a="http://schemas.openxmlformats.org/drawingml/2006/main">
              <a:ext uri="{FF2B5EF4-FFF2-40B4-BE49-F238E27FC236}">
                <a16:creationId xmlns:a16="http://schemas.microsoft.com/office/drawing/2014/main" id="{D2375A16-664B-486B-96A0-DBDC50FA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8295" y="4933950"/>
            <a:ext cx="89917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42" name="text-212">
            <a:extLst xmlns:a="http://schemas.openxmlformats.org/drawingml/2006/main">
              <a:ext uri="{FF2B5EF4-FFF2-40B4-BE49-F238E27FC236}">
                <a16:creationId xmlns:a16="http://schemas.microsoft.com/office/drawing/2014/main" id="{4FA25430-7C57-4C7B-ACE8-DE91A1CE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390" y="4886325"/>
            <a:ext cx="51816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D0B10"/>
                </a:solidFill>
                <a:latin typeface="Arial"/>
                <a:ea typeface="Arial"/>
                <a:cs typeface="Arial"/>
              </a:rPr>
              <a:t>61.7%</a:t>
            </a:r>
          </a:p>
        </p:txBody>
      </p:sp>
      <p:sp>
        <p:nvSpPr>
          <p:cNvPr id="43" name="text-213">
            <a:extLst xmlns:a="http://schemas.openxmlformats.org/drawingml/2006/main">
              <a:ext uri="{FF2B5EF4-FFF2-40B4-BE49-F238E27FC236}">
                <a16:creationId xmlns:a16="http://schemas.microsoft.com/office/drawing/2014/main" id="{E320BB19-4C54-4954-B3AA-3E7D06D4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210175"/>
            <a:ext cx="110109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Men</a:t>
            </a:r>
          </a:p>
        </p:txBody>
      </p:sp>
      <p:sp>
        <p:nvSpPr>
          <p:cNvPr id="44" name="box-214">
            <a:extLst xmlns:a="http://schemas.openxmlformats.org/drawingml/2006/main">
              <a:ext uri="{FF2B5EF4-FFF2-40B4-BE49-F238E27FC236}">
                <a16:creationId xmlns:a16="http://schemas.microsoft.com/office/drawing/2014/main" id="{81359F87-CDFB-43CA-80BD-277D2BA3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8295" y="5257800"/>
            <a:ext cx="14573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2DF"/>
          </a:solidFill>
          <a:ln xmlns:a="http://schemas.openxmlformats.org/drawingml/2006/main" w="0">
            <a:noFill/>
          </a:ln>
        </p:spPr>
      </p:sp>
      <p:sp>
        <p:nvSpPr>
          <p:cNvPr id="45" name="box-215">
            <a:extLst xmlns:a="http://schemas.openxmlformats.org/drawingml/2006/main">
              <a:ext uri="{FF2B5EF4-FFF2-40B4-BE49-F238E27FC236}">
                <a16:creationId xmlns:a16="http://schemas.microsoft.com/office/drawing/2014/main" id="{68A5F918-9825-45F1-A092-22233DE68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8295" y="5257800"/>
            <a:ext cx="55815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46" name="text-216">
            <a:extLst xmlns:a="http://schemas.openxmlformats.org/drawingml/2006/main">
              <a:ext uri="{FF2B5EF4-FFF2-40B4-BE49-F238E27FC236}">
                <a16:creationId xmlns:a16="http://schemas.microsoft.com/office/drawing/2014/main" id="{84FCF441-AED5-4E71-BE56-8FB86604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390" y="5210175"/>
            <a:ext cx="51816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D0B10"/>
                </a:solidFill>
                <a:latin typeface="Arial"/>
                <a:ea typeface="Arial"/>
                <a:cs typeface="Arial"/>
              </a:rPr>
              <a:t>38.3%</a:t>
            </a:r>
          </a:p>
        </p:txBody>
      </p:sp>
      <p:sp>
        <p:nvSpPr>
          <p:cNvPr id="47" name="text-217">
            <a:extLst xmlns:a="http://schemas.openxmlformats.org/drawingml/2006/main">
              <a:ext uri="{FF2B5EF4-FFF2-40B4-BE49-F238E27FC236}">
                <a16:creationId xmlns:a16="http://schemas.microsoft.com/office/drawing/2014/main" id="{D5D9ADFC-C2A4-4002-B242-0256E746D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6482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PATREON</a:t>
            </a:r>
          </a:p>
        </p:txBody>
      </p:sp>
      <p:sp>
        <p:nvSpPr>
          <p:cNvPr id="48" name="text-218">
            <a:extLst xmlns:a="http://schemas.openxmlformats.org/drawingml/2006/main">
              <a:ext uri="{FF2B5EF4-FFF2-40B4-BE49-F238E27FC236}">
                <a16:creationId xmlns:a16="http://schemas.microsoft.com/office/drawing/2014/main" id="{6CE37798-EA46-428B-A037-2E118608D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933950"/>
            <a:ext cx="1476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60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86</a:t>
            </a:r>
          </a:p>
        </p:txBody>
      </p:sp>
      <p:sp>
        <p:nvSpPr>
          <p:cNvPr id="49" name="text-219">
            <a:extLst xmlns:a="http://schemas.openxmlformats.org/drawingml/2006/main">
              <a:ext uri="{FF2B5EF4-FFF2-40B4-BE49-F238E27FC236}">
                <a16:creationId xmlns:a16="http://schemas.microsoft.com/office/drawing/2014/main" id="{E4EB0586-AF1C-41F3-B368-EAB59393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933950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36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17</a:t>
            </a:r>
          </a:p>
        </p:txBody>
      </p:sp>
      <p:sp>
        <p:nvSpPr>
          <p:cNvPr id="50" name="text-220">
            <a:extLst xmlns:a="http://schemas.openxmlformats.org/drawingml/2006/main">
              <a:ext uri="{FF2B5EF4-FFF2-40B4-BE49-F238E27FC236}">
                <a16:creationId xmlns:a16="http://schemas.microsoft.com/office/drawing/2014/main" id="{AD539BC4-97E9-42DD-9934-FD800329F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5925"/>
            <a:ext cx="147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followers</a:t>
            </a:r>
          </a:p>
        </p:txBody>
      </p:sp>
      <p:sp>
        <p:nvSpPr>
          <p:cNvPr id="51" name="text-221">
            <a:extLst xmlns:a="http://schemas.openxmlformats.org/drawingml/2006/main">
              <a:ext uri="{FF2B5EF4-FFF2-40B4-BE49-F238E27FC236}">
                <a16:creationId xmlns:a16="http://schemas.microsoft.com/office/drawing/2014/main" id="{B4925C94-91C7-41B3-8E48-FE96CC3C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495925"/>
            <a:ext cx="166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paid subscribers</a:t>
            </a:r>
          </a:p>
        </p:txBody>
      </p:sp>
      <p:sp>
        <p:nvSpPr>
          <p:cNvPr id="52" name="text-222">
            <a:extLst xmlns:a="http://schemas.openxmlformats.org/drawingml/2006/main">
              <a:ext uri="{FF2B5EF4-FFF2-40B4-BE49-F238E27FC236}">
                <a16:creationId xmlns:a16="http://schemas.microsoft.com/office/drawing/2014/main" id="{5B6A60C5-50B0-4A20-82B3-0803A670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6048375"/>
            <a:ext cx="342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Source: Instagram Insights · Oct 2026</a:t>
            </a:r>
          </a:p>
        </p:txBody>
      </p:sp>
    </p:spTree>
    <p:extLst>
      <p:ext uri="{BB962C8B-B14F-4D97-AF65-F5344CB8AC3E}">
        <p14:creationId xmlns:p14="http://schemas.microsoft.com/office/powerpoint/2010/main" val="10859486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223">
            <a:extLst xmlns:a="http://schemas.openxmlformats.org/drawingml/2006/main">
              <a:ext uri="{FF2B5EF4-FFF2-40B4-BE49-F238E27FC236}">
                <a16:creationId xmlns:a16="http://schemas.microsoft.com/office/drawing/2014/main" id="{2810E0A7-2F39-42A5-BE18-79AB13E1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24">
            <a:extLst xmlns:a="http://schemas.openxmlformats.org/drawingml/2006/main">
              <a:ext uri="{FF2B5EF4-FFF2-40B4-BE49-F238E27FC236}">
                <a16:creationId xmlns:a16="http://schemas.microsoft.com/office/drawing/2014/main" id="{ACAFDD64-30F3-4ED2-B5A6-E9FD94E8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00050"/>
            <a:ext cx="4905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D555A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rule-225">
            <a:extLst xmlns:a="http://schemas.openxmlformats.org/drawingml/2006/main">
              <a:ext uri="{FF2B5EF4-FFF2-40B4-BE49-F238E27FC236}">
                <a16:creationId xmlns:a16="http://schemas.microsoft.com/office/drawing/2014/main" id="{963E623E-F3F7-413B-A5C1-9B5679A4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4" name="text-226">
            <a:extLst xmlns:a="http://schemas.openxmlformats.org/drawingml/2006/main">
              <a:ext uri="{FF2B5EF4-FFF2-40B4-BE49-F238E27FC236}">
                <a16:creationId xmlns:a16="http://schemas.microsoft.com/office/drawing/2014/main" id="{2D1350B4-821C-429B-8D36-2C162C9F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11049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Brands she has worked with</a:t>
            </a:r>
          </a:p>
        </p:txBody>
      </p:sp>
      <p:sp>
        <p:nvSpPr>
          <p:cNvPr id="5" name="text-227">
            <a:extLst xmlns:a="http://schemas.openxmlformats.org/drawingml/2006/main">
              <a:ext uri="{FF2B5EF4-FFF2-40B4-BE49-F238E27FC236}">
                <a16:creationId xmlns:a16="http://schemas.microsoft.com/office/drawing/2014/main" id="{621D3A21-8868-435E-9BCC-119D1BFA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5 / 6</a:t>
            </a:r>
          </a:p>
        </p:txBody>
      </p:sp>
      <p:sp>
        <p:nvSpPr>
          <p:cNvPr id="6" name="text-228">
            <a:extLst xmlns:a="http://schemas.openxmlformats.org/drawingml/2006/main">
              <a:ext uri="{FF2B5EF4-FFF2-40B4-BE49-F238E27FC236}">
                <a16:creationId xmlns:a16="http://schemas.microsoft.com/office/drawing/2014/main" id="{DB0D0C1B-16B1-4FF6-8AFD-9CC8DDA0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4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XP-Pen</a:t>
            </a:r>
          </a:p>
        </p:txBody>
      </p:sp>
      <p:sp>
        <p:nvSpPr>
          <p:cNvPr id="7" name="text-229">
            <a:extLst xmlns:a="http://schemas.openxmlformats.org/drawingml/2006/main">
              <a:ext uri="{FF2B5EF4-FFF2-40B4-BE49-F238E27FC236}">
                <a16:creationId xmlns:a16="http://schemas.microsoft.com/office/drawing/2014/main" id="{42B4ABE6-55CC-4B94-8FF2-98D14030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8850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Deco 03 review and giveaway · 2021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C44018-B7B0-4156-9B64-B198856F6A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575d3c667f4e10"/>
          <a:stretch xmlns:a="http://schemas.openxmlformats.org/drawingml/2006/main"/>
        </p:blipFill>
        <p:spPr>
          <a:xfrm xmlns:a="http://schemas.openxmlformats.org/drawingml/2006/main">
            <a:off x="574014" y="2800350"/>
            <a:ext cx="4614598" cy="3105150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8D9241-13B2-43E7-B640-075BF4F181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8a5ce31877461f"/>
          <a:stretch xmlns:a="http://schemas.openxmlformats.org/drawingml/2006/main"/>
        </p:blipFill>
        <p:spPr>
          <a:xfrm xmlns:a="http://schemas.openxmlformats.org/drawingml/2006/main">
            <a:off x="3676650" y="5078866"/>
            <a:ext cx="1514475" cy="1081768"/>
          </a:xfrm>
          <a:prstGeom xmlns:a="http://schemas.openxmlformats.org/drawingml/2006/main" prst="rect">
            <a:avLst/>
          </a:prstGeom>
        </p:spPr>
      </p:pic>
      <p:sp>
        <p:nvSpPr>
          <p:cNvPr id="10" name="text-230">
            <a:extLst xmlns:a="http://schemas.openxmlformats.org/drawingml/2006/main">
              <a:ext uri="{FF2B5EF4-FFF2-40B4-BE49-F238E27FC236}">
                <a16:creationId xmlns:a16="http://schemas.microsoft.com/office/drawing/2014/main" id="{1F1F329F-1F74-4C54-BEE5-1D640180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90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BRIEF</a:t>
            </a:r>
          </a:p>
        </p:txBody>
      </p:sp>
      <p:sp>
        <p:nvSpPr>
          <p:cNvPr id="11" name="text-231">
            <a:extLst xmlns:a="http://schemas.openxmlformats.org/drawingml/2006/main">
              <a:ext uri="{FF2B5EF4-FFF2-40B4-BE49-F238E27FC236}">
                <a16:creationId xmlns:a16="http://schemas.microsoft.com/office/drawing/2014/main" id="{31F7E6B1-CBCA-4B9F-80D1-D776073F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95500"/>
            <a:ext cx="59817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XP-Pen Brasil sent the Deco 03 to Giums for testing and evaluation. The artist created a review, promoted the giveaway and shared her feedback with the brand.</a:t>
            </a:r>
          </a:p>
        </p:txBody>
      </p:sp>
      <p:sp>
        <p:nvSpPr>
          <p:cNvPr id="12" name="text-232">
            <a:extLst xmlns:a="http://schemas.openxmlformats.org/drawingml/2006/main">
              <a:ext uri="{FF2B5EF4-FFF2-40B4-BE49-F238E27FC236}">
                <a16:creationId xmlns:a16="http://schemas.microsoft.com/office/drawing/2014/main" id="{9A5598FE-CA53-4D27-AC2E-8B7CB460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143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PERIOD</a:t>
            </a:r>
          </a:p>
        </p:txBody>
      </p:sp>
      <p:sp>
        <p:nvSpPr>
          <p:cNvPr id="13" name="text-233">
            <a:extLst xmlns:a="http://schemas.openxmlformats.org/drawingml/2006/main">
              <a:ext uri="{FF2B5EF4-FFF2-40B4-BE49-F238E27FC236}">
                <a16:creationId xmlns:a16="http://schemas.microsoft.com/office/drawing/2014/main" id="{BF084C92-9F1C-455C-9E53-F13CAA2E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419475"/>
            <a:ext cx="59531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June – July 2021</a:t>
            </a:r>
          </a:p>
        </p:txBody>
      </p:sp>
      <p:sp>
        <p:nvSpPr>
          <p:cNvPr id="14" name="text-234">
            <a:extLst xmlns:a="http://schemas.openxmlformats.org/drawingml/2006/main">
              <a:ext uri="{FF2B5EF4-FFF2-40B4-BE49-F238E27FC236}">
                <a16:creationId xmlns:a16="http://schemas.microsoft.com/office/drawing/2014/main" id="{81057FBC-789B-48B2-9EBE-990C0A2CC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771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DELIVERABLES</a:t>
            </a:r>
          </a:p>
        </p:txBody>
      </p:sp>
      <p:sp>
        <p:nvSpPr>
          <p:cNvPr id="15" name="text-235">
            <a:extLst xmlns:a="http://schemas.openxmlformats.org/drawingml/2006/main">
              <a:ext uri="{FF2B5EF4-FFF2-40B4-BE49-F238E27FC236}">
                <a16:creationId xmlns:a16="http://schemas.microsoft.com/office/drawing/2014/main" id="{D6D05A65-3EDC-4D98-9394-2A1E4849D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57650"/>
            <a:ext cx="59817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Instagram reel announcing the review and giveaway; YouTube video (9:53) with the XP-Pen Deco 03 review and a Yone fan art sketch; tablet giveaway with exclusive art; discount code for her audience.</a:t>
            </a:r>
          </a:p>
        </p:txBody>
      </p:sp>
      <p:sp>
        <p:nvSpPr>
          <p:cNvPr id="16" name="text-236">
            <a:extLst xmlns:a="http://schemas.openxmlformats.org/drawingml/2006/main">
              <a:ext uri="{FF2B5EF4-FFF2-40B4-BE49-F238E27FC236}">
                <a16:creationId xmlns:a16="http://schemas.microsoft.com/office/drawing/2014/main" id="{C4C8F71D-8D22-43EB-B417-FC4B1715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863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RESULTS</a:t>
            </a:r>
          </a:p>
        </p:txBody>
      </p:sp>
      <p:sp>
        <p:nvSpPr>
          <p:cNvPr id="17" name="text-237">
            <a:extLst xmlns:a="http://schemas.openxmlformats.org/drawingml/2006/main">
              <a:ext uri="{FF2B5EF4-FFF2-40B4-BE49-F238E27FC236}">
                <a16:creationId xmlns:a16="http://schemas.microsoft.com/office/drawing/2014/main" id="{817B3AAC-6D11-4FBC-8FB7-C442A3EA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543550"/>
            <a:ext cx="59817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YouTube: 3.2K views, 161 likes. Instagram reel: 221 likes, 10 comments (Oct 2026).</a:t>
            </a:r>
          </a:p>
        </p:txBody>
      </p:sp>
      <p:sp>
        <p:nvSpPr>
          <p:cNvPr id="18" name="text-238">
            <a:extLst xmlns:a="http://schemas.openxmlformats.org/drawingml/2006/main">
              <a:ext uri="{FF2B5EF4-FFF2-40B4-BE49-F238E27FC236}">
                <a16:creationId xmlns:a16="http://schemas.microsoft.com/office/drawing/2014/main" id="{7C683A43-A79A-4501-91CB-78AA1608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6162675"/>
            <a:ext cx="16954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YouTube</a:t>
            </a:r>
          </a:p>
        </p:txBody>
      </p:sp>
      <p:sp>
        <p:nvSpPr>
          <p:cNvPr id="19" name="rule-239">
            <a:extLst xmlns:a="http://schemas.openxmlformats.org/drawingml/2006/main">
              <a:ext uri="{FF2B5EF4-FFF2-40B4-BE49-F238E27FC236}">
                <a16:creationId xmlns:a16="http://schemas.microsoft.com/office/drawing/2014/main" id="{D76596E4-4C4A-4281-ADB4-DD0B6B86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6515100"/>
            <a:ext cx="67208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20" name="hotspot-1">
            <a:extLst xmlns:a="http://schemas.openxmlformats.org/drawingml/2006/main">
              <a:ext uri="{FF2B5EF4-FFF2-40B4-BE49-F238E27FC236}">
                <a16:creationId xmlns:a16="http://schemas.microsoft.com/office/drawing/2014/main" id="{B8CCA2DF-CAA3-4B93-9733-37C3BB4B1AEB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6162675"/>
            <a:ext cx="1695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1" name="text-241">
            <a:extLst xmlns:a="http://schemas.openxmlformats.org/drawingml/2006/main">
              <a:ext uri="{FF2B5EF4-FFF2-40B4-BE49-F238E27FC236}">
                <a16:creationId xmlns:a16="http://schemas.microsoft.com/office/drawing/2014/main" id="{776C57C8-DB67-4B7E-905B-E8D69DE3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162675"/>
            <a:ext cx="16954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Instagram</a:t>
            </a:r>
          </a:p>
        </p:txBody>
      </p:sp>
      <p:sp>
        <p:nvSpPr>
          <p:cNvPr id="22" name="rule-242">
            <a:extLst xmlns:a="http://schemas.openxmlformats.org/drawingml/2006/main">
              <a:ext uri="{FF2B5EF4-FFF2-40B4-BE49-F238E27FC236}">
                <a16:creationId xmlns:a16="http://schemas.microsoft.com/office/drawing/2014/main" id="{39AAAE97-D24D-4372-81BD-68F9C547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515100"/>
            <a:ext cx="86410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23" name="hotspot-2">
            <a:extLst xmlns:a="http://schemas.openxmlformats.org/drawingml/2006/main">
              <a:ext uri="{FF2B5EF4-FFF2-40B4-BE49-F238E27FC236}">
                <a16:creationId xmlns:a16="http://schemas.microsoft.com/office/drawing/2014/main" id="{35793A76-90EF-45BC-BFC5-896F987F812B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162675"/>
            <a:ext cx="1695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7957611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244">
            <a:extLst xmlns:a="http://schemas.openxmlformats.org/drawingml/2006/main">
              <a:ext uri="{FF2B5EF4-FFF2-40B4-BE49-F238E27FC236}">
                <a16:creationId xmlns:a16="http://schemas.microsoft.com/office/drawing/2014/main" id="{0F2ADDB5-2C53-42D7-BFC7-76B3FB23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45">
            <a:extLst xmlns:a="http://schemas.openxmlformats.org/drawingml/2006/main">
              <a:ext uri="{FF2B5EF4-FFF2-40B4-BE49-F238E27FC236}">
                <a16:creationId xmlns:a16="http://schemas.microsoft.com/office/drawing/2014/main" id="{394C6640-E0E9-464D-85A5-2E59DA8F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00050"/>
            <a:ext cx="4905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D555A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rule-246">
            <a:extLst xmlns:a="http://schemas.openxmlformats.org/drawingml/2006/main">
              <a:ext uri="{FF2B5EF4-FFF2-40B4-BE49-F238E27FC236}">
                <a16:creationId xmlns:a16="http://schemas.microsoft.com/office/drawing/2014/main" id="{2D4A7261-536F-4234-B6AA-0FE88F66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4" name="text-247">
            <a:extLst xmlns:a="http://schemas.openxmlformats.org/drawingml/2006/main">
              <a:ext uri="{FF2B5EF4-FFF2-40B4-BE49-F238E27FC236}">
                <a16:creationId xmlns:a16="http://schemas.microsoft.com/office/drawing/2014/main" id="{5F2516E6-EC62-4841-9AB6-C2B77301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11049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Work with Giums</a:t>
            </a:r>
          </a:p>
        </p:txBody>
      </p:sp>
      <p:sp>
        <p:nvSpPr>
          <p:cNvPr id="5" name="text-248">
            <a:extLst xmlns:a="http://schemas.openxmlformats.org/drawingml/2006/main">
              <a:ext uri="{FF2B5EF4-FFF2-40B4-BE49-F238E27FC236}">
                <a16:creationId xmlns:a16="http://schemas.microsoft.com/office/drawing/2014/main" id="{3C558729-A239-4DCB-8A26-24714114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6 / 6</a:t>
            </a:r>
          </a:p>
        </p:txBody>
      </p:sp>
      <p:sp>
        <p:nvSpPr>
          <p:cNvPr id="6" name="text-249">
            <a:extLst xmlns:a="http://schemas.openxmlformats.org/drawingml/2006/main">
              <a:ext uri="{FF2B5EF4-FFF2-40B4-BE49-F238E27FC236}">
                <a16:creationId xmlns:a16="http://schemas.microsoft.com/office/drawing/2014/main" id="{98A668F8-36F9-4297-B636-0805AE41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24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ILLUSTRATED CAMPAIGNS</a:t>
            </a:r>
          </a:p>
        </p:txBody>
      </p:sp>
      <p:sp>
        <p:nvSpPr>
          <p:cNvPr id="7" name="text-250">
            <a:extLst xmlns:a="http://schemas.openxmlformats.org/drawingml/2006/main">
              <a:ext uri="{FF2B5EF4-FFF2-40B4-BE49-F238E27FC236}">
                <a16:creationId xmlns:a16="http://schemas.microsoft.com/office/drawing/2014/main" id="{4785F46E-FDFE-405D-828F-6E109CF0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8375"/>
            <a:ext cx="60102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Test illustrations for traditional or digital products.</a:t>
            </a:r>
          </a:p>
        </p:txBody>
      </p:sp>
      <p:sp>
        <p:nvSpPr>
          <p:cNvPr id="8" name="rule-251">
            <a:extLst xmlns:a="http://schemas.openxmlformats.org/drawingml/2006/main">
              <a:ext uri="{FF2B5EF4-FFF2-40B4-BE49-F238E27FC236}">
                <a16:creationId xmlns:a16="http://schemas.microsoft.com/office/drawing/2014/main" id="{24530DED-EC96-4920-BAF7-4725506D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5962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D"/>
          </a:solidFill>
          <a:ln xmlns:a="http://schemas.openxmlformats.org/drawingml/2006/main" w="0">
            <a:noFill/>
          </a:ln>
        </p:spPr>
      </p:sp>
      <p:sp>
        <p:nvSpPr>
          <p:cNvPr id="9" name="text-252">
            <a:extLst xmlns:a="http://schemas.openxmlformats.org/drawingml/2006/main">
              <a:ext uri="{FF2B5EF4-FFF2-40B4-BE49-F238E27FC236}">
                <a16:creationId xmlns:a16="http://schemas.microsoft.com/office/drawing/2014/main" id="{54C6EE70-FE8D-47BD-B5B6-9EC5D5C2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REVIEWS &amp; GIVEAWAYS</a:t>
            </a:r>
          </a:p>
        </p:txBody>
      </p:sp>
      <p:sp>
        <p:nvSpPr>
          <p:cNvPr id="10" name="text-253">
            <a:extLst xmlns:a="http://schemas.openxmlformats.org/drawingml/2006/main">
              <a:ext uri="{FF2B5EF4-FFF2-40B4-BE49-F238E27FC236}">
                <a16:creationId xmlns:a16="http://schemas.microsoft.com/office/drawing/2014/main" id="{F2069705-4596-413E-8DA9-921BA60E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60102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Product reviews and giveaways for her community, as in the XP-Pen partnership.</a:t>
            </a:r>
          </a:p>
        </p:txBody>
      </p:sp>
      <p:sp>
        <p:nvSpPr>
          <p:cNvPr id="11" name="rule-254">
            <a:extLst xmlns:a="http://schemas.openxmlformats.org/drawingml/2006/main">
              <a:ext uri="{FF2B5EF4-FFF2-40B4-BE49-F238E27FC236}">
                <a16:creationId xmlns:a16="http://schemas.microsoft.com/office/drawing/2014/main" id="{D7963DD3-21E2-473C-8EE8-708072F6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05275"/>
            <a:ext cx="5962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D"/>
          </a:solidFill>
          <a:ln xmlns:a="http://schemas.openxmlformats.org/drawingml/2006/main" w="0">
            <a:noFill/>
          </a:ln>
        </p:spPr>
      </p:sp>
      <p:sp>
        <p:nvSpPr>
          <p:cNvPr id="12" name="text-255">
            <a:extLst xmlns:a="http://schemas.openxmlformats.org/drawingml/2006/main">
              <a:ext uri="{FF2B5EF4-FFF2-40B4-BE49-F238E27FC236}">
                <a16:creationId xmlns:a16="http://schemas.microsoft.com/office/drawing/2014/main" id="{D47D285C-00AA-4A18-9E8F-56919CB9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PROCESS CONTENT</a:t>
            </a:r>
          </a:p>
        </p:txBody>
      </p:sp>
      <p:sp>
        <p:nvSpPr>
          <p:cNvPr id="13" name="text-256">
            <a:extLst xmlns:a="http://schemas.openxmlformats.org/drawingml/2006/main">
              <a:ext uri="{FF2B5EF4-FFF2-40B4-BE49-F238E27FC236}">
                <a16:creationId xmlns:a16="http://schemas.microsoft.com/office/drawing/2014/main" id="{C0E45EEE-4144-41F1-A27D-986783F1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9625"/>
            <a:ext cx="60102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Sketches, timelapses and making-of for Instagram and YouTube.</a:t>
            </a:r>
          </a:p>
        </p:txBody>
      </p:sp>
      <p:sp>
        <p:nvSpPr>
          <p:cNvPr id="14" name="rule-257">
            <a:extLst xmlns:a="http://schemas.openxmlformats.org/drawingml/2006/main">
              <a:ext uri="{FF2B5EF4-FFF2-40B4-BE49-F238E27FC236}">
                <a16:creationId xmlns:a16="http://schemas.microsoft.com/office/drawing/2014/main" id="{4EF29326-4075-435F-8C38-329DCD39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38325"/>
            <a:ext cx="19050" cy="387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15" name="text-258">
            <a:extLst xmlns:a="http://schemas.openxmlformats.org/drawingml/2006/main">
              <a:ext uri="{FF2B5EF4-FFF2-40B4-BE49-F238E27FC236}">
                <a16:creationId xmlns:a16="http://schemas.microsoft.com/office/drawing/2014/main" id="{F8B59644-CE5C-4CF7-B81F-F796F6AA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076450"/>
            <a:ext cx="390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Let’s Create Together</a:t>
            </a:r>
          </a:p>
        </p:txBody>
      </p:sp>
      <p:sp>
        <p:nvSpPr>
          <p:cNvPr id="16" name="text-259">
            <a:extLst xmlns:a="http://schemas.openxmlformats.org/drawingml/2006/main">
              <a:ext uri="{FF2B5EF4-FFF2-40B4-BE49-F238E27FC236}">
                <a16:creationId xmlns:a16="http://schemas.microsoft.com/office/drawing/2014/main" id="{33B389FD-1837-4A08-9F8C-C12687B6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62325"/>
            <a:ext cx="381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giumsart@gmail.com</a:t>
            </a:r>
          </a:p>
        </p:txBody>
      </p:sp>
      <p:sp>
        <p:nvSpPr>
          <p:cNvPr id="17" name="rule-260">
            <a:extLst xmlns:a="http://schemas.openxmlformats.org/drawingml/2006/main">
              <a:ext uri="{FF2B5EF4-FFF2-40B4-BE49-F238E27FC236}">
                <a16:creationId xmlns:a16="http://schemas.microsoft.com/office/drawing/2014/main" id="{79BAF2DD-D31B-4AE6-BAB2-30535C6E4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714750"/>
            <a:ext cx="249631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18" name="hotspot-1">
            <a:extLst xmlns:a="http://schemas.openxmlformats.org/drawingml/2006/main">
              <a:ext uri="{FF2B5EF4-FFF2-40B4-BE49-F238E27FC236}">
                <a16:creationId xmlns:a16="http://schemas.microsoft.com/office/drawing/2014/main" id="{04EAD2A0-C54D-4544-8DF5-1BD4F5EFFDFB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62325"/>
            <a:ext cx="3810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9" name="rule-262">
            <a:extLst xmlns:a="http://schemas.openxmlformats.org/drawingml/2006/main">
              <a:ext uri="{FF2B5EF4-FFF2-40B4-BE49-F238E27FC236}">
                <a16:creationId xmlns:a16="http://schemas.microsoft.com/office/drawing/2014/main" id="{736F0C76-9D05-40C0-92DB-0E884C00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331292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2026-10-17T00:28:22.1220000Z</dcterms:created>
  <dcterms:modified xsi:type="dcterms:W3CDTF">2026-10-17T00:28:22.1220000Z</dcterms:modified>
</coreProperties>
</file>