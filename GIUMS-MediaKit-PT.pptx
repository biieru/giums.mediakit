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61a09aabd3480c" /><Relationship Type="http://schemas.openxmlformats.org/officeDocument/2006/relationships/extended-properties" Target="/docProps/app.xml" Id="R88bafe384c194f07" /><Relationship Type="http://schemas.openxmlformats.org/officeDocument/2006/relationships/officeDocument" Target="/ppt/presentation.xml" Id="Rc9826091880741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12d9c54c274677"/>
  </p:sldMasterIdLst>
  <p:notesMasterIdLst>
    <p:notesMasterId xmlns:r="http://schemas.openxmlformats.org/officeDocument/2006/relationships" r:id="R37d552040d8749c7"/>
  </p:notesMasterIdLst>
  <p:sldIdLst>
    <p:sldId xmlns:r="http://schemas.openxmlformats.org/officeDocument/2006/relationships" id="256" r:id="Rc44d719c364f4eb5"/>
    <p:sldId xmlns:r="http://schemas.openxmlformats.org/officeDocument/2006/relationships" id="257" r:id="R6c4b69520ed34eae"/>
    <p:sldId xmlns:r="http://schemas.openxmlformats.org/officeDocument/2006/relationships" id="258" r:id="R8e861db7ca2840e9"/>
    <p:sldId xmlns:r="http://schemas.openxmlformats.org/officeDocument/2006/relationships" id="259" r:id="Rc2b9039db6bc4bd6"/>
    <p:sldId xmlns:r="http://schemas.openxmlformats.org/officeDocument/2006/relationships" id="260" r:id="R442408f9b81e4546"/>
    <p:sldId xmlns:r="http://schemas.openxmlformats.org/officeDocument/2006/relationships" id="261" r:id="R2d09ee19bbe64482"/>
    <p:sldId xmlns:r="http://schemas.openxmlformats.org/officeDocument/2006/relationships" id="262" r:id="R59843fe894e34972"/>
    <p:sldId xmlns:r="http://schemas.openxmlformats.org/officeDocument/2006/relationships" id="263" r:id="R9c74c434a0774bd9"/>
    <p:sldId xmlns:r="http://schemas.openxmlformats.org/officeDocument/2006/relationships" id="264" r:id="Rb183ce1f2e134a2a"/>
    <p:sldId xmlns:r="http://schemas.openxmlformats.org/officeDocument/2006/relationships" id="265" r:id="R0c56a24e14514e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8ac70a8d704b2a" /><Relationship Type="http://schemas.openxmlformats.org/officeDocument/2006/relationships/slideMaster" Target="/ppt/slideMasters/slideMaster1.xml" Id="R4212d9c54c274677" /><Relationship Type="http://schemas.openxmlformats.org/officeDocument/2006/relationships/notesMaster" Target="/ppt/notesMasters/notesMaster1.xml" Id="R37d552040d8749c7" /><Relationship Type="http://schemas.openxmlformats.org/officeDocument/2006/relationships/presProps" Target="/ppt/presProps.xml" Id="Rdc8ed567bf1d4da0" /><Relationship Type="http://schemas.openxmlformats.org/officeDocument/2006/relationships/tableStyles" Target="/ppt/tableStyles.xml" Id="Rc5546bbabc8144cc" /><Relationship Type="http://schemas.openxmlformats.org/officeDocument/2006/relationships/slide" Target="/ppt/slides/slide1.xml" Id="Rc44d719c364f4eb5" /><Relationship Type="http://schemas.openxmlformats.org/officeDocument/2006/relationships/slide" Target="/ppt/slides/slide2.xml" Id="R6c4b69520ed34eae" /><Relationship Type="http://schemas.openxmlformats.org/officeDocument/2006/relationships/slide" Target="/ppt/slides/slide3.xml" Id="R8e861db7ca2840e9" /><Relationship Type="http://schemas.openxmlformats.org/officeDocument/2006/relationships/slide" Target="/ppt/slides/slide4.xml" Id="Rc2b9039db6bc4bd6" /><Relationship Type="http://schemas.openxmlformats.org/officeDocument/2006/relationships/slide" Target="/ppt/slides/slide5.xml" Id="R442408f9b81e4546" /><Relationship Type="http://schemas.openxmlformats.org/officeDocument/2006/relationships/slide" Target="/ppt/slides/slide6.xml" Id="R2d09ee19bbe64482" /><Relationship Type="http://schemas.openxmlformats.org/officeDocument/2006/relationships/slide" Target="/ppt/slides/slide7.xml" Id="R59843fe894e34972" /><Relationship Type="http://schemas.openxmlformats.org/officeDocument/2006/relationships/slide" Target="/ppt/slides/slide8.xml" Id="R9c74c434a0774bd9" /><Relationship Type="http://schemas.openxmlformats.org/officeDocument/2006/relationships/slide" Target="/ppt/slides/slide9.xml" Id="Rb183ce1f2e134a2a" /><Relationship Type="http://schemas.openxmlformats.org/officeDocument/2006/relationships/slide" Target="/ppt/slides/slide10.xml" Id="R0c56a24e14514e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2c8aa5456d4e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b284f81fda4c2e" /><Relationship Type="http://schemas.openxmlformats.org/officeDocument/2006/relationships/notesMaster" Target="/ppt/notesMasters/notesMaster1.xml" Id="R604ac8fea8c7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e9754d0a354774" /><Relationship Type="http://schemas.openxmlformats.org/officeDocument/2006/relationships/notesMaster" Target="/ppt/notesMasters/notesMaster1.xml" Id="R4f8ef4c993454d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d89eb4f7224a3e" /><Relationship Type="http://schemas.openxmlformats.org/officeDocument/2006/relationships/notesMaster" Target="/ppt/notesMasters/notesMaster1.xml" Id="R6e6cd11e0ea642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e4872071a54d39" /><Relationship Type="http://schemas.openxmlformats.org/officeDocument/2006/relationships/notesMaster" Target="/ppt/notesMasters/notesMaster1.xml" Id="R9b6b3f1df3ae4b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5e4997bc1e4088" /><Relationship Type="http://schemas.openxmlformats.org/officeDocument/2006/relationships/notesMaster" Target="/ppt/notesMasters/notesMaster1.xml" Id="R328ca7329e264c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c59d2091ef4e6b" /><Relationship Type="http://schemas.openxmlformats.org/officeDocument/2006/relationships/notesMaster" Target="/ppt/notesMasters/notesMaster1.xml" Id="Rce826917f4b04f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d074a4213d4ef1" /><Relationship Type="http://schemas.openxmlformats.org/officeDocument/2006/relationships/notesMaster" Target="/ppt/notesMasters/notesMaster1.xml" Id="R22d1446a77524a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03532abcfd4fbf" /><Relationship Type="http://schemas.openxmlformats.org/officeDocument/2006/relationships/notesMaster" Target="/ppt/notesMasters/notesMaster1.xml" Id="R76e28cf7ffc94f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e52545a2a843fb" /><Relationship Type="http://schemas.openxmlformats.org/officeDocument/2006/relationships/notesMaster" Target="/ppt/notesMasters/notesMaster1.xml" Id="Ra74959146b914c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f61cda24f16416c" /><Relationship Type="http://schemas.openxmlformats.org/officeDocument/2006/relationships/notesMaster" Target="/ppt/notesMasters/notesMaster1.xml" Id="R98e45d593b3c4e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 reproduced from the original website composition. Source: https://github.com/Biieru/GIUMS.Mediakit (index.html, css/style.css, js/brand.js, assets).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https://github.com/Biieru/GIUMS.Mediakit (index.html, js/brand.js, assets). Audience figures: October 2026, as supplied in the media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22088886e4c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acdd49346747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3a6d8703a548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ce74720795465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683adff68c470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73881b87f54d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8D95FC-A766-4105-8451-C5314C8660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AB7F633-4068-442F-9BCB-120FB3E640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480EF96-D348-4225-846C-76C13F9A69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534990-51C9-4F66-8492-CB7E65093A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84D0FF0-15BE-4C83-97BD-802B15A650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80944F2-C6C7-432B-A888-9C6E921071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92A5FF-4ACD-4714-85D7-AD70974DEF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2DE88C5-D7FA-4260-B5A4-C72C3E6D81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9D78D2-5FD6-4AC4-9F9E-B2D5AC721C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DBD59E-5629-45E1-AACD-C3A613D5FB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c0fc422f284c93" /><Relationship Type="http://schemas.openxmlformats.org/officeDocument/2006/relationships/slideLayout" Target="/ppt/slideLayouts/slideLayout1.xml" Id="Refb1b0defe4f475b" /><Relationship Type="http://schemas.openxmlformats.org/officeDocument/2006/relationships/slideLayout" Target="/ppt/slideLayouts/slideLayout2.xml" Id="R5fbfe59601744c85" /><Relationship Type="http://schemas.openxmlformats.org/officeDocument/2006/relationships/slideLayout" Target="/ppt/slideLayouts/slideLayout3.xml" Id="R80a1adac43e24bba" /><Relationship Type="http://schemas.openxmlformats.org/officeDocument/2006/relationships/slideLayout" Target="/ppt/slideLayouts/slideLayout4.xml" Id="R8091b5b203654a0a" /><Relationship Type="http://schemas.openxmlformats.org/officeDocument/2006/relationships/slideLayout" Target="/ppt/slideLayouts/slideLayout5.xml" Id="R7ce41cb5571f42cb" /><Relationship Type="http://schemas.openxmlformats.org/officeDocument/2006/relationships/slideLayout" Target="/ppt/slideLayouts/slideLayout6.xml" Id="Rf685f7a7699d41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b1b0defe4f475b"/>
    <p:sldLayoutId xmlns:r="http://schemas.openxmlformats.org/officeDocument/2006/relationships" id="2147483650" r:id="R5fbfe59601744c85"/>
    <p:sldLayoutId xmlns:r="http://schemas.openxmlformats.org/officeDocument/2006/relationships" id="2147483651" r:id="R80a1adac43e24bba"/>
    <p:sldLayoutId xmlns:r="http://schemas.openxmlformats.org/officeDocument/2006/relationships" id="2147483652" r:id="R8091b5b203654a0a"/>
    <p:sldLayoutId xmlns:r="http://schemas.openxmlformats.org/officeDocument/2006/relationships" id="2147483653" r:id="R7ce41cb5571f42cb"/>
    <p:sldLayoutId xmlns:r="http://schemas.openxmlformats.org/officeDocument/2006/relationships" id="2147483654" r:id="Rf685f7a7699d41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379201c96848af" /><Relationship Type="http://schemas.openxmlformats.org/officeDocument/2006/relationships/image" Target="/ppt/media/image.jpeg" Id="R71ab917b27914eb3" /><Relationship Type="http://schemas.openxmlformats.org/officeDocument/2006/relationships/notesSlide" Target="/ppt/notesSlides/notesSlide1.xml" Id="R31ebb7862f6d49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2ee0d574774c4b" /><Relationship Type="http://schemas.openxmlformats.org/officeDocument/2006/relationships/image" Target="/ppt/media/image.png" Id="R2dbf68a7e797493d" /><Relationship Type="http://schemas.openxmlformats.org/officeDocument/2006/relationships/notesSlide" Target="/ppt/notesSlides/notesSlide2.xml" Id="R2c13309f230e40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bca2a1f28e4cd2" /><Relationship Type="http://schemas.openxmlformats.org/officeDocument/2006/relationships/notesSlide" Target="/ppt/notesSlides/notesSlide3.xml" Id="R9596dad87e024a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467a8e3aee4310" /><Relationship Type="http://schemas.openxmlformats.org/officeDocument/2006/relationships/hyperlink" Target="https://www.patreon.com/giums" TargetMode="External" Id="Ra8f806ec1307408a" /><Relationship Type="http://schemas.openxmlformats.org/officeDocument/2006/relationships/image" Target="/ppt/media/image2.png" Id="R544e18b54b2342f9" /><Relationship Type="http://schemas.openxmlformats.org/officeDocument/2006/relationships/image" Target="/ppt/media/image3.png" Id="R102f72d0443842e4" /><Relationship Type="http://schemas.openxmlformats.org/officeDocument/2006/relationships/image" Target="/ppt/media/image4.png" Id="R0e5107ac03334dc8" /><Relationship Type="http://schemas.openxmlformats.org/officeDocument/2006/relationships/notesSlide" Target="/ppt/notesSlides/notesSlide4.xml" Id="R3d01c15a42384c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6c7013aacb4270" /><Relationship Type="http://schemas.openxmlformats.org/officeDocument/2006/relationships/notesSlide" Target="/ppt/notesSlides/notesSlide5.xml" Id="Rfc971838d14846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b1781d4db744d1" /><Relationship Type="http://schemas.openxmlformats.org/officeDocument/2006/relationships/notesSlide" Target="/ppt/notesSlides/notesSlide6.xml" Id="Rf020ac0a3ef34e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d5500afd464cd7" /><Relationship Type="http://schemas.openxmlformats.org/officeDocument/2006/relationships/notesSlide" Target="/ppt/notesSlides/notesSlide7.xml" Id="R820d66ae316b42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10c907d2474c0d" /><Relationship Type="http://schemas.openxmlformats.org/officeDocument/2006/relationships/notesSlide" Target="/ppt/notesSlides/notesSlide8.xml" Id="Rf9085dd69fce43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c795250f8e4049" /><Relationship Type="http://schemas.openxmlformats.org/officeDocument/2006/relationships/image" Target="/ppt/media/image5.png" Id="Rd8d724a0f07f459b" /><Relationship Type="http://schemas.openxmlformats.org/officeDocument/2006/relationships/image" Target="/ppt/media/image6.png" Id="R994ee3e4fe6b448d" /><Relationship Type="http://schemas.openxmlformats.org/officeDocument/2006/relationships/hyperlink" Target="https://youtu.be/1wZL_RG2Ma4" TargetMode="External" Id="Rb7bf71a08f7e4cae" /><Relationship Type="http://schemas.openxmlformats.org/officeDocument/2006/relationships/hyperlink" Target="https://www.instagram.com/reels/CQjiu2mBFcf/" TargetMode="External" Id="Rc833b5a76912422b" /><Relationship Type="http://schemas.openxmlformats.org/officeDocument/2006/relationships/notesSlide" Target="/ppt/notesSlides/notesSlide9.xml" Id="Rbd9d729dcd4343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62bbb59edb443e" /><Relationship Type="http://schemas.openxmlformats.org/officeDocument/2006/relationships/hyperlink" Target="mailto:giumsart@gmail.com" TargetMode="External" Id="R8ee3663ffba74f57" /><Relationship Type="http://schemas.openxmlformats.org/officeDocument/2006/relationships/hyperlink" Target="https://giums.onrender.com" TargetMode="External" Id="Rbfbf9683562942df" /><Relationship Type="http://schemas.openxmlformats.org/officeDocument/2006/relationships/hyperlink" Target="https://www.instagram.com/giums/" TargetMode="External" Id="R9cdaf87f19f34bc4" /><Relationship Type="http://schemas.openxmlformats.org/officeDocument/2006/relationships/hyperlink" Target="https://bsky.app/profile/giums.bsky.social" TargetMode="External" Id="R447146a4130a4eee" /><Relationship Type="http://schemas.openxmlformats.org/officeDocument/2006/relationships/hyperlink" Target="https://www.youtube.com/@GIUMSyt" TargetMode="External" Id="Rd31d79d7385f47c5" /><Relationship Type="http://schemas.openxmlformats.org/officeDocument/2006/relationships/hyperlink" Target="https://www.twitch.tv/giums" TargetMode="External" Id="R071301a5f7024057" /><Relationship Type="http://schemas.openxmlformats.org/officeDocument/2006/relationships/hyperlink" Target="https://www.patreon.com/giums" TargetMode="External" Id="R2952aed5a4d04274" /><Relationship Type="http://schemas.openxmlformats.org/officeDocument/2006/relationships/notesSlide" Target="/ppt/notesSlides/notesSlide10.xml" Id="Rb8751cc1776843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B69E2-8422-4821-8143-028DD6F357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b917b27914eb3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149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32">
            <a:extLst xmlns:a="http://schemas.openxmlformats.org/drawingml/2006/main">
              <a:ext uri="{FF2B5EF4-FFF2-40B4-BE49-F238E27FC236}">
                <a16:creationId xmlns:a16="http://schemas.microsoft.com/office/drawing/2014/main" id="{A3830F1B-DC5C-4B5B-81DF-B6EBD948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33">
            <a:extLst xmlns:a="http://schemas.openxmlformats.org/drawingml/2006/main">
              <a:ext uri="{FF2B5EF4-FFF2-40B4-BE49-F238E27FC236}">
                <a16:creationId xmlns:a16="http://schemas.microsoft.com/office/drawing/2014/main" id="{626CA867-035C-4590-A0D1-AF221204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34">
            <a:extLst xmlns:a="http://schemas.openxmlformats.org/drawingml/2006/main">
              <a:ext uri="{FF2B5EF4-FFF2-40B4-BE49-F238E27FC236}">
                <a16:creationId xmlns:a16="http://schemas.microsoft.com/office/drawing/2014/main" id="{28C6327A-EF98-452B-9295-F1076DB5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Quem é</a:t>
            </a:r>
          </a:p>
        </p:txBody>
      </p:sp>
      <p:sp>
        <p:nvSpPr>
          <p:cNvPr id="4" name="text-135">
            <a:extLst xmlns:a="http://schemas.openxmlformats.org/drawingml/2006/main">
              <a:ext uri="{FF2B5EF4-FFF2-40B4-BE49-F238E27FC236}">
                <a16:creationId xmlns:a16="http://schemas.microsoft.com/office/drawing/2014/main" id="{1D8711C0-3C03-4C95-809D-785FDFC5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0C511-7717-4FE7-B02A-5D9462F813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f68a7e797493d"/>
          <a:srcRect xmlns:a="http://schemas.openxmlformats.org/drawingml/2006/main" l="0" t="4591" r="0" b="45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800225"/>
            <a:ext cx="2619375" cy="4229100"/>
          </a:xfrm>
          <a:prstGeom xmlns:a="http://schemas.openxmlformats.org/drawingml/2006/main" prst="rect">
            <a:avLst/>
          </a:prstGeom>
        </p:spPr>
      </p:pic>
      <p:sp>
        <p:nvSpPr>
          <p:cNvPr id="6" name="text-136">
            <a:extLst xmlns:a="http://schemas.openxmlformats.org/drawingml/2006/main">
              <a:ext uri="{FF2B5EF4-FFF2-40B4-BE49-F238E27FC236}">
                <a16:creationId xmlns:a16="http://schemas.microsoft.com/office/drawing/2014/main" id="{CD601301-9497-4436-A9F6-6F912BCF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62125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GIUMS (Giu)</a:t>
            </a:r>
          </a:p>
        </p:txBody>
      </p:sp>
      <p:sp>
        <p:nvSpPr>
          <p:cNvPr id="7" name="text-137">
            <a:extLst xmlns:a="http://schemas.openxmlformats.org/drawingml/2006/main">
              <a:ext uri="{FF2B5EF4-FFF2-40B4-BE49-F238E27FC236}">
                <a16:creationId xmlns:a16="http://schemas.microsoft.com/office/drawing/2014/main" id="{246119FF-7F2F-4398-889D-BD002C10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600325"/>
            <a:ext cx="75819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Artista visual e ilustradora com foco em design de personagens há mais de 15 anos, tanto nacional quanto internacionalmente, tendo enorme influência da cultura geek, alta fantasia, TCG e principalmente RPG.</a:t>
            </a:r>
          </a:p>
        </p:txBody>
      </p:sp>
      <p:sp>
        <p:nvSpPr>
          <p:cNvPr id="8" name="text-138">
            <a:extLst xmlns:a="http://schemas.openxmlformats.org/drawingml/2006/main">
              <a:ext uri="{FF2B5EF4-FFF2-40B4-BE49-F238E27FC236}">
                <a16:creationId xmlns:a16="http://schemas.microsoft.com/office/drawing/2014/main" id="{FD73F2F4-10E6-42B0-9C27-07EFE37B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2100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Atualmente vem trabalhando na plataforma Patreon com criação de comunidade e, ao mesmo tempo, desenvolvendo seu projeto autoral YATHRA, um concept artbook / livro cenário de RPG de alta fantasia capa-e-espada, com inclusão da cultura queer (LGBTQIAPN+) e dragões. Muitos dragões!</a:t>
            </a:r>
          </a:p>
        </p:txBody>
      </p:sp>
      <p:sp>
        <p:nvSpPr>
          <p:cNvPr id="9" name="text-139">
            <a:extLst xmlns:a="http://schemas.openxmlformats.org/drawingml/2006/main">
              <a:ext uri="{FF2B5EF4-FFF2-40B4-BE49-F238E27FC236}">
                <a16:creationId xmlns:a16="http://schemas.microsoft.com/office/drawing/2014/main" id="{868C398F-1BAD-411F-8DDB-E7A8DFF1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43600"/>
            <a:ext cx="758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Idiomas: Português · Inglês</a:t>
            </a:r>
          </a:p>
        </p:txBody>
      </p:sp>
    </p:spTree>
    <p:extLst>
      <p:ext uri="{BB962C8B-B14F-4D97-AF65-F5344CB8AC3E}">
        <p14:creationId xmlns:p14="http://schemas.microsoft.com/office/powerpoint/2010/main" val="4449802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40">
            <a:extLst xmlns:a="http://schemas.openxmlformats.org/drawingml/2006/main">
              <a:ext uri="{FF2B5EF4-FFF2-40B4-BE49-F238E27FC236}">
                <a16:creationId xmlns:a16="http://schemas.microsoft.com/office/drawing/2014/main" id="{9BFB4723-5F83-47AF-B824-F16FFF0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41">
            <a:extLst xmlns:a="http://schemas.openxmlformats.org/drawingml/2006/main">
              <a:ext uri="{FF2B5EF4-FFF2-40B4-BE49-F238E27FC236}">
                <a16:creationId xmlns:a16="http://schemas.microsoft.com/office/drawing/2014/main" id="{D6AEFC4F-A9ED-446F-B263-F73295B5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42">
            <a:extLst xmlns:a="http://schemas.openxmlformats.org/drawingml/2006/main">
              <a:ext uri="{FF2B5EF4-FFF2-40B4-BE49-F238E27FC236}">
                <a16:creationId xmlns:a16="http://schemas.microsoft.com/office/drawing/2014/main" id="{3CD87A07-8978-4B39-B1CB-F26E3926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Cocriações</a:t>
            </a:r>
          </a:p>
        </p:txBody>
      </p: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4ED1B7DA-4EF1-4931-B17C-87A583D6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5" name="text-144">
            <a:extLst xmlns:a="http://schemas.openxmlformats.org/drawingml/2006/main">
              <a:ext uri="{FF2B5EF4-FFF2-40B4-BE49-F238E27FC236}">
                <a16:creationId xmlns:a16="http://schemas.microsoft.com/office/drawing/2014/main" id="{A32DBC92-F1EB-4981-A349-FF5FF376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Desenvolvimento de Artes Originais</a:t>
            </a:r>
          </a:p>
        </p:txBody>
      </p:sp>
      <p:sp>
        <p:nvSpPr>
          <p:cNvPr id="6" name="text-145">
            <a:extLst xmlns:a="http://schemas.openxmlformats.org/drawingml/2006/main">
              <a:ext uri="{FF2B5EF4-FFF2-40B4-BE49-F238E27FC236}">
                <a16:creationId xmlns:a16="http://schemas.microsoft.com/office/drawing/2014/main" id="{E86DEFD5-24EB-4299-AF7E-B7A6C2FA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Ilustrações que ajudam a contar a sua história: personagens, criaturas e cenários com coerência visual, prontos para publicar. Atendendo a editoras, estúdios de jogos, criadores de TCG e projetos independentes.</a:t>
            </a:r>
          </a:p>
        </p:txBody>
      </p:sp>
      <p:sp>
        <p:nvSpPr>
          <p:cNvPr id="7" name="text-146">
            <a:extLst xmlns:a="http://schemas.openxmlformats.org/drawingml/2006/main">
              <a:ext uri="{FF2B5EF4-FFF2-40B4-BE49-F238E27FC236}">
                <a16:creationId xmlns:a16="http://schemas.microsoft.com/office/drawing/2014/main" id="{F990539C-F398-4CB3-B21D-A1C1998D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Cocriação com marcas</a:t>
            </a:r>
          </a:p>
        </p:txBody>
      </p:sp>
      <p:sp>
        <p:nvSpPr>
          <p:cNvPr id="8" name="text-147">
            <a:extLst xmlns:a="http://schemas.openxmlformats.org/drawingml/2006/main">
              <a:ext uri="{FF2B5EF4-FFF2-40B4-BE49-F238E27FC236}">
                <a16:creationId xmlns:a16="http://schemas.microsoft.com/office/drawing/2014/main" id="{D9B37FFB-D9C2-47A3-B86B-FFDD0B95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57525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Conteúdos pensados para conectar a marca à comunidade criativa. Avaliações de ferramentas e materiais para artes digitais e tradicionais, produção de ilustrações, tutoriais e demonstrações, destacando suas aplicações em conteúdos branding.</a:t>
            </a:r>
          </a:p>
        </p:txBody>
      </p:sp>
    </p:spTree>
    <p:extLst>
      <p:ext uri="{BB962C8B-B14F-4D97-AF65-F5344CB8AC3E}">
        <p14:creationId xmlns:p14="http://schemas.microsoft.com/office/powerpoint/2010/main" val="4765716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48">
            <a:extLst xmlns:a="http://schemas.openxmlformats.org/drawingml/2006/main">
              <a:ext uri="{FF2B5EF4-FFF2-40B4-BE49-F238E27FC236}">
                <a16:creationId xmlns:a16="http://schemas.microsoft.com/office/drawing/2014/main" id="{D8589FDB-061B-4E2C-9C84-15C04C82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49">
            <a:extLst xmlns:a="http://schemas.openxmlformats.org/drawingml/2006/main">
              <a:ext uri="{FF2B5EF4-FFF2-40B4-BE49-F238E27FC236}">
                <a16:creationId xmlns:a16="http://schemas.microsoft.com/office/drawing/2014/main" id="{3A1307C1-C299-4F69-8E10-0F4E9F37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50">
            <a:extLst xmlns:a="http://schemas.openxmlformats.org/drawingml/2006/main">
              <a:ext uri="{FF2B5EF4-FFF2-40B4-BE49-F238E27FC236}">
                <a16:creationId xmlns:a16="http://schemas.microsoft.com/office/drawing/2014/main" id="{D44275DE-CF93-467B-8A0B-592B7EBA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YATHRA</a:t>
            </a:r>
          </a:p>
        </p:txBody>
      </p:sp>
      <p:sp>
        <p:nvSpPr>
          <p:cNvPr id="4" name="text-151">
            <a:extLst xmlns:a="http://schemas.openxmlformats.org/drawingml/2006/main">
              <a:ext uri="{FF2B5EF4-FFF2-40B4-BE49-F238E27FC236}">
                <a16:creationId xmlns:a16="http://schemas.microsoft.com/office/drawing/2014/main" id="{0EF7A302-34FD-456F-A6D4-D00230F1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5" name="text-152">
            <a:extLst xmlns:a="http://schemas.openxmlformats.org/drawingml/2006/main">
              <a:ext uri="{FF2B5EF4-FFF2-40B4-BE49-F238E27FC236}">
                <a16:creationId xmlns:a16="http://schemas.microsoft.com/office/drawing/2014/main" id="{F6B91AFF-2BDB-49A5-81CD-701103F4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7A1A"/>
                </a:solidFill>
                <a:latin typeface="Arial"/>
                <a:ea typeface="Arial"/>
                <a:cs typeface="Arial"/>
              </a:rPr>
              <a:t>Um universo original</a:t>
            </a:r>
          </a:p>
        </p:txBody>
      </p:sp>
      <p:sp>
        <p:nvSpPr>
          <p:cNvPr id="6" name="text-153">
            <a:extLst xmlns:a="http://schemas.openxmlformats.org/drawingml/2006/main">
              <a:ext uri="{FF2B5EF4-FFF2-40B4-BE49-F238E27FC236}">
                <a16:creationId xmlns:a16="http://schemas.microsoft.com/office/drawing/2014/main" id="{88BB3165-9DB7-4091-AAB3-440DD50E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953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Projeto de lore e worldbuilding para RPG de mesa, em construção há três anos: um mundo draconiano de conflitos, relações LGBTQIAPN+ e artefatos fantásticos.</a:t>
            </a:r>
          </a:p>
        </p:txBody>
      </p:sp>
      <p:sp>
        <p:nvSpPr>
          <p:cNvPr id="7" name="text-154">
            <a:extLst xmlns:a="http://schemas.openxmlformats.org/drawingml/2006/main">
              <a:ext uri="{FF2B5EF4-FFF2-40B4-BE49-F238E27FC236}">
                <a16:creationId xmlns:a16="http://schemas.microsoft.com/office/drawing/2014/main" id="{AC6BF74E-E48A-401E-87AA-066BF38B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95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Apoiadores entram por tiers no Patreon, com itens físicos do universo e sketches originais dos seus próprios OCs.</a:t>
            </a:r>
          </a:p>
        </p:txBody>
      </p:sp>
      <p:sp>
        <p:nvSpPr>
          <p:cNvPr id="8" name="text-155">
            <a:extLst xmlns:a="http://schemas.openxmlformats.org/drawingml/2006/main">
              <a:ext uri="{FF2B5EF4-FFF2-40B4-BE49-F238E27FC236}">
                <a16:creationId xmlns:a16="http://schemas.microsoft.com/office/drawing/2014/main" id="{3E4EF484-7F4D-4F47-A736-576515B2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a8f806ec1307408a"/>
              </a:rPr>
              <a:t>patreon.com/giums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BFE32-72F2-463F-BA7A-FBF6FE4E26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e18b54b2342f9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76950" y="1790700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A1E11-55FB-4807-B0B8-184A3D1511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f72d0443842e4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2425" y="2333625"/>
            <a:ext cx="1657350" cy="3171825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60C8D-AC04-4529-A16E-5824C44A07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107ac03334dc8"/>
          <a:srcRect xmlns:a="http://schemas.openxmlformats.org/drawingml/2006/main" l="10811" t="0" r="108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67900" y="2009775"/>
            <a:ext cx="1657350" cy="3171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3180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56">
            <a:extLst xmlns:a="http://schemas.openxmlformats.org/drawingml/2006/main">
              <a:ext uri="{FF2B5EF4-FFF2-40B4-BE49-F238E27FC236}">
                <a16:creationId xmlns:a16="http://schemas.microsoft.com/office/drawing/2014/main" id="{BE4F68AE-327F-4EB3-8D72-ABBBF9F3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57">
            <a:extLst xmlns:a="http://schemas.openxmlformats.org/drawingml/2006/main">
              <a:ext uri="{FF2B5EF4-FFF2-40B4-BE49-F238E27FC236}">
                <a16:creationId xmlns:a16="http://schemas.microsoft.com/office/drawing/2014/main" id="{5C58021B-1C46-44C5-AD3E-F09E9316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58">
            <a:extLst xmlns:a="http://schemas.openxmlformats.org/drawingml/2006/main">
              <a:ext uri="{FF2B5EF4-FFF2-40B4-BE49-F238E27FC236}">
                <a16:creationId xmlns:a16="http://schemas.microsoft.com/office/drawing/2014/main" id="{6A00E4AB-6174-4F5F-A7A8-585F37A4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Audiência &amp; alcance</a:t>
            </a:r>
          </a:p>
        </p:txBody>
      </p:sp>
      <p:sp>
        <p:nvSpPr>
          <p:cNvPr id="4" name="text-159">
            <a:extLst xmlns:a="http://schemas.openxmlformats.org/drawingml/2006/main">
              <a:ext uri="{FF2B5EF4-FFF2-40B4-BE49-F238E27FC236}">
                <a16:creationId xmlns:a16="http://schemas.microsoft.com/office/drawing/2014/main" id="{7417324E-1C4E-45D0-8AE0-7F5B69CD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5" name="text-160">
            <a:extLst xmlns:a="http://schemas.openxmlformats.org/drawingml/2006/main">
              <a:ext uri="{FF2B5EF4-FFF2-40B4-BE49-F238E27FC236}">
                <a16:creationId xmlns:a16="http://schemas.microsoft.com/office/drawing/2014/main" id="{68AEE549-F15D-44A0-9617-87413F00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Números de out/2026.</a:t>
            </a:r>
          </a:p>
        </p:txBody>
      </p:sp>
      <p:sp>
        <p:nvSpPr>
          <p:cNvPr id="6" name="text-161">
            <a:extLst xmlns:a="http://schemas.openxmlformats.org/drawingml/2006/main">
              <a:ext uri="{FF2B5EF4-FFF2-40B4-BE49-F238E27FC236}">
                <a16:creationId xmlns:a16="http://schemas.microsoft.com/office/drawing/2014/main" id="{DFCEFE22-D92E-4F2D-9B9D-F9144AF7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Instagram</a:t>
            </a:r>
          </a:p>
        </p:txBody>
      </p:sp>
      <p:sp>
        <p:nvSpPr>
          <p:cNvPr id="7" name="text-162">
            <a:extLst xmlns:a="http://schemas.openxmlformats.org/drawingml/2006/main">
              <a:ext uri="{FF2B5EF4-FFF2-40B4-BE49-F238E27FC236}">
                <a16:creationId xmlns:a16="http://schemas.microsoft.com/office/drawing/2014/main" id="{AFEFFD67-B1AF-4128-A664-20579147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096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55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16.4K</a:t>
            </a:r>
          </a:p>
        </p:txBody>
      </p:sp>
      <p:sp>
        <p:nvSpPr>
          <p:cNvPr id="8" name="text-163">
            <a:extLst xmlns:a="http://schemas.openxmlformats.org/drawingml/2006/main">
              <a:ext uri="{FF2B5EF4-FFF2-40B4-BE49-F238E27FC236}">
                <a16:creationId xmlns:a16="http://schemas.microsoft.com/office/drawing/2014/main" id="{42EFA57A-C88E-45DE-B07A-3354D8E9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90925"/>
            <a:ext cx="609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seguidores</a:t>
            </a:r>
          </a:p>
        </p:txBody>
      </p:sp>
      <p:sp>
        <p:nvSpPr>
          <p:cNvPr id="9" name="text-164">
            <a:extLst xmlns:a="http://schemas.openxmlformats.org/drawingml/2006/main">
              <a:ext uri="{FF2B5EF4-FFF2-40B4-BE49-F238E27FC236}">
                <a16:creationId xmlns:a16="http://schemas.microsoft.com/office/drawing/2014/main" id="{B3A8922F-4C12-4B0A-B9BC-3EB793EA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5.08%</a:t>
            </a:r>
          </a:p>
        </p:txBody>
      </p:sp>
      <p:sp>
        <p:nvSpPr>
          <p:cNvPr id="10" name="text-165">
            <a:extLst xmlns:a="http://schemas.openxmlformats.org/drawingml/2006/main">
              <a:ext uri="{FF2B5EF4-FFF2-40B4-BE49-F238E27FC236}">
                <a16:creationId xmlns:a16="http://schemas.microsoft.com/office/drawing/2014/main" id="{B851DF93-6FA0-456D-AE85-F9E62333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taxa de engajamento média</a:t>
            </a:r>
          </a:p>
        </p:txBody>
      </p:sp>
      <p:sp>
        <p:nvSpPr>
          <p:cNvPr id="11" name="text-166">
            <a:extLst xmlns:a="http://schemas.openxmlformats.org/drawingml/2006/main">
              <a:ext uri="{FF2B5EF4-FFF2-40B4-BE49-F238E27FC236}">
                <a16:creationId xmlns:a16="http://schemas.microsoft.com/office/drawing/2014/main" id="{B14DAAFD-1276-4393-AD2F-E99AEE17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835</a:t>
            </a:r>
          </a:p>
        </p:txBody>
      </p:sp>
      <p:sp>
        <p:nvSpPr>
          <p:cNvPr id="12" name="text-167">
            <a:extLst xmlns:a="http://schemas.openxmlformats.org/drawingml/2006/main">
              <a:ext uri="{FF2B5EF4-FFF2-40B4-BE49-F238E27FC236}">
                <a16:creationId xmlns:a16="http://schemas.microsoft.com/office/drawing/2014/main" id="{BC17CA80-6315-4BA0-9CF9-A42ABC39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média de curtidas por post</a:t>
            </a:r>
          </a:p>
        </p:txBody>
      </p:sp>
      <p:sp>
        <p:nvSpPr>
          <p:cNvPr id="13" name="text-168">
            <a:extLst xmlns:a="http://schemas.openxmlformats.org/drawingml/2006/main">
              <a:ext uri="{FF2B5EF4-FFF2-40B4-BE49-F238E27FC236}">
                <a16:creationId xmlns:a16="http://schemas.microsoft.com/office/drawing/2014/main" id="{712A60A4-A893-4A6B-BAC3-CD4B7374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31</a:t>
            </a:r>
          </a:p>
        </p:txBody>
      </p:sp>
      <p:sp>
        <p:nvSpPr>
          <p:cNvPr id="14" name="text-169">
            <a:extLst xmlns:a="http://schemas.openxmlformats.org/drawingml/2006/main">
              <a:ext uri="{FF2B5EF4-FFF2-40B4-BE49-F238E27FC236}">
                <a16:creationId xmlns:a16="http://schemas.microsoft.com/office/drawing/2014/main" id="{39238543-58D8-47E9-B132-4400E861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05375"/>
            <a:ext cx="1866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média de comentários por post</a:t>
            </a:r>
          </a:p>
        </p:txBody>
      </p:sp>
      <p:sp>
        <p:nvSpPr>
          <p:cNvPr id="15" name="text-170">
            <a:extLst xmlns:a="http://schemas.openxmlformats.org/drawingml/2006/main">
              <a:ext uri="{FF2B5EF4-FFF2-40B4-BE49-F238E27FC236}">
                <a16:creationId xmlns:a16="http://schemas.microsoft.com/office/drawing/2014/main" id="{C548F83B-CDB8-4390-9BA8-E2F9CC2D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764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6" name="text-171">
            <a:extLst xmlns:a="http://schemas.openxmlformats.org/drawingml/2006/main">
              <a:ext uri="{FF2B5EF4-FFF2-40B4-BE49-F238E27FC236}">
                <a16:creationId xmlns:a16="http://schemas.microsoft.com/office/drawing/2014/main" id="{C7E0E239-9DB8-4DB5-81C9-38A06138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81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86 / 17</a:t>
            </a:r>
          </a:p>
        </p:txBody>
      </p:sp>
      <p:sp>
        <p:nvSpPr>
          <p:cNvPr id="17" name="text-172">
            <a:extLst xmlns:a="http://schemas.openxmlformats.org/drawingml/2006/main">
              <a:ext uri="{FF2B5EF4-FFF2-40B4-BE49-F238E27FC236}">
                <a16:creationId xmlns:a16="http://schemas.microsoft.com/office/drawing/2014/main" id="{6A944680-2EBB-4A62-ACE6-2F7D2FB3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86175"/>
            <a:ext cx="371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seguidores / assinantes pagos</a:t>
            </a:r>
          </a:p>
        </p:txBody>
      </p:sp>
      <p:sp>
        <p:nvSpPr>
          <p:cNvPr id="18" name="text-173">
            <a:extLst xmlns:a="http://schemas.openxmlformats.org/drawingml/2006/main">
              <a:ext uri="{FF2B5EF4-FFF2-40B4-BE49-F238E27FC236}">
                <a16:creationId xmlns:a16="http://schemas.microsoft.com/office/drawing/2014/main" id="{BF13018A-3C57-452F-AE5D-0731FE21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10100"/>
            <a:ext cx="3714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 a cada 5 seguidores é assinante pago.</a:t>
            </a:r>
          </a:p>
        </p:txBody>
      </p:sp>
      <p:sp>
        <p:nvSpPr>
          <p:cNvPr id="19" name="text-174">
            <a:extLst xmlns:a="http://schemas.openxmlformats.org/drawingml/2006/main">
              <a:ext uri="{FF2B5EF4-FFF2-40B4-BE49-F238E27FC236}">
                <a16:creationId xmlns:a16="http://schemas.microsoft.com/office/drawing/2014/main" id="{1721E09F-77CA-4161-9291-5CDBE3E8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audiência total · Instagram + Patreon: 16.5K</a:t>
            </a:r>
          </a:p>
        </p:txBody>
      </p:sp>
    </p:spTree>
    <p:extLst>
      <p:ext uri="{BB962C8B-B14F-4D97-AF65-F5344CB8AC3E}">
        <p14:creationId xmlns:p14="http://schemas.microsoft.com/office/powerpoint/2010/main" val="2906910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175">
            <a:extLst xmlns:a="http://schemas.openxmlformats.org/drawingml/2006/main">
              <a:ext uri="{FF2B5EF4-FFF2-40B4-BE49-F238E27FC236}">
                <a16:creationId xmlns:a16="http://schemas.microsoft.com/office/drawing/2014/main" id="{01656A5C-A47E-402A-8650-EAE97FBD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76">
            <a:extLst xmlns:a="http://schemas.openxmlformats.org/drawingml/2006/main">
              <a:ext uri="{FF2B5EF4-FFF2-40B4-BE49-F238E27FC236}">
                <a16:creationId xmlns:a16="http://schemas.microsoft.com/office/drawing/2014/main" id="{CC0592CC-9A6D-4672-8923-ED471FB9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77">
            <a:extLst xmlns:a="http://schemas.openxmlformats.org/drawingml/2006/main">
              <a:ext uri="{FF2B5EF4-FFF2-40B4-BE49-F238E27FC236}">
                <a16:creationId xmlns:a16="http://schemas.microsoft.com/office/drawing/2014/main" id="{1ECA5B12-7715-4D8A-AAF1-4BE36D47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Alcance e comunidade</a:t>
            </a:r>
          </a:p>
        </p:txBody>
      </p:sp>
      <p:sp>
        <p:nvSpPr>
          <p:cNvPr id="4" name="text-178">
            <a:extLst xmlns:a="http://schemas.openxmlformats.org/drawingml/2006/main">
              <a:ext uri="{FF2B5EF4-FFF2-40B4-BE49-F238E27FC236}">
                <a16:creationId xmlns:a16="http://schemas.microsoft.com/office/drawing/2014/main" id="{7B451925-3F99-49FE-8E44-B84F66CA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5" name="text-179">
            <a:extLst xmlns:a="http://schemas.openxmlformats.org/drawingml/2006/main">
              <a:ext uri="{FF2B5EF4-FFF2-40B4-BE49-F238E27FC236}">
                <a16:creationId xmlns:a16="http://schemas.microsoft.com/office/drawing/2014/main" id="{01ADBF07-4188-4D5A-8540-2DEBCE6E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37.9K</a:t>
            </a:r>
          </a:p>
        </p:txBody>
      </p:sp>
      <p:sp>
        <p:nvSpPr>
          <p:cNvPr id="6" name="text-180">
            <a:extLst xmlns:a="http://schemas.openxmlformats.org/drawingml/2006/main">
              <a:ext uri="{FF2B5EF4-FFF2-40B4-BE49-F238E27FC236}">
                <a16:creationId xmlns:a16="http://schemas.microsoft.com/office/drawing/2014/main" id="{B071B873-B739-4423-90AD-A9FDD70D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visualizações em 30 dias</a:t>
            </a:r>
          </a:p>
        </p:txBody>
      </p:sp>
      <p:sp>
        <p:nvSpPr>
          <p:cNvPr id="7" name="text-181">
            <a:extLst xmlns:a="http://schemas.openxmlformats.org/drawingml/2006/main">
              <a:ext uri="{FF2B5EF4-FFF2-40B4-BE49-F238E27FC236}">
                <a16:creationId xmlns:a16="http://schemas.microsoft.com/office/drawing/2014/main" id="{DE311BB1-8383-482C-92DF-C8FBE2FE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9,090</a:t>
            </a:r>
          </a:p>
        </p:txBody>
      </p:sp>
      <p:sp>
        <p:nvSpPr>
          <p:cNvPr id="8" name="text-182">
            <a:extLst xmlns:a="http://schemas.openxmlformats.org/drawingml/2006/main">
              <a:ext uri="{FF2B5EF4-FFF2-40B4-BE49-F238E27FC236}">
                <a16:creationId xmlns:a16="http://schemas.microsoft.com/office/drawing/2014/main" id="{9A33DF4A-A1C9-4C5A-9E35-BB715DF3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contas que viram o conteúdo</a:t>
            </a:r>
          </a:p>
        </p:txBody>
      </p:sp>
      <p:sp>
        <p:nvSpPr>
          <p:cNvPr id="9" name="text-183">
            <a:extLst xmlns:a="http://schemas.openxmlformats.org/drawingml/2006/main">
              <a:ext uri="{FF2B5EF4-FFF2-40B4-BE49-F238E27FC236}">
                <a16:creationId xmlns:a16="http://schemas.microsoft.com/office/drawing/2014/main" id="{2CA3D0D3-B7FC-41DF-A16B-62ED2EF7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16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48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48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+116</a:t>
            </a:r>
          </a:p>
        </p:txBody>
      </p:sp>
      <p:sp>
        <p:nvSpPr>
          <p:cNvPr id="10" name="text-184">
            <a:extLst xmlns:a="http://schemas.openxmlformats.org/drawingml/2006/main">
              <a:ext uri="{FF2B5EF4-FFF2-40B4-BE49-F238E27FC236}">
                <a16:creationId xmlns:a16="http://schemas.microsoft.com/office/drawing/2014/main" id="{D533F61A-FC1C-4F95-9C27-F622F87F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2766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seguidores líquidos em 30 dias</a:t>
            </a:r>
          </a:p>
        </p:txBody>
      </p:sp>
      <p:sp>
        <p:nvSpPr>
          <p:cNvPr id="11" name="text-185">
            <a:extLst xmlns:a="http://schemas.openxmlformats.org/drawingml/2006/main">
              <a:ext uri="{FF2B5EF4-FFF2-40B4-BE49-F238E27FC236}">
                <a16:creationId xmlns:a16="http://schemas.microsoft.com/office/drawing/2014/main" id="{05DD937B-E60C-4C21-95A2-744C55AD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Patreon</a:t>
            </a:r>
          </a:p>
        </p:txBody>
      </p:sp>
      <p:sp>
        <p:nvSpPr>
          <p:cNvPr id="12" name="text-186">
            <a:extLst xmlns:a="http://schemas.openxmlformats.org/drawingml/2006/main">
              <a:ext uri="{FF2B5EF4-FFF2-40B4-BE49-F238E27FC236}">
                <a16:creationId xmlns:a16="http://schemas.microsoft.com/office/drawing/2014/main" id="{03B9CE11-8E3B-45AD-9518-8313F58E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Apoiadores recebem wallpapers mensais, lore do mundo, sketches, adesivos e prints exclusivos, WIPs, GIFs, packs de brushes e acesso à comunidade no Discord.</a:t>
            </a:r>
          </a:p>
        </p:txBody>
      </p:sp>
      <p:sp>
        <p:nvSpPr>
          <p:cNvPr id="13" name="text-187">
            <a:extLst xmlns:a="http://schemas.openxmlformats.org/drawingml/2006/main">
              <a:ext uri="{FF2B5EF4-FFF2-40B4-BE49-F238E27FC236}">
                <a16:creationId xmlns:a16="http://schemas.microsoft.com/office/drawing/2014/main" id="{B81542EB-BECF-41A8-98E4-9D42AA9F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Números de out/2026.</a:t>
            </a:r>
          </a:p>
        </p:txBody>
      </p:sp>
    </p:spTree>
    <p:extLst>
      <p:ext uri="{BB962C8B-B14F-4D97-AF65-F5344CB8AC3E}">
        <p14:creationId xmlns:p14="http://schemas.microsoft.com/office/powerpoint/2010/main" val="17662140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88">
            <a:extLst xmlns:a="http://schemas.openxmlformats.org/drawingml/2006/main">
              <a:ext uri="{FF2B5EF4-FFF2-40B4-BE49-F238E27FC236}">
                <a16:creationId xmlns:a16="http://schemas.microsoft.com/office/drawing/2014/main" id="{C684AF5F-E3B0-4C4D-81C5-0B31FAD2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89">
            <a:extLst xmlns:a="http://schemas.openxmlformats.org/drawingml/2006/main">
              <a:ext uri="{FF2B5EF4-FFF2-40B4-BE49-F238E27FC236}">
                <a16:creationId xmlns:a16="http://schemas.microsoft.com/office/drawing/2014/main" id="{41DCCEE5-7D93-4F49-8D5A-E3EC0915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190">
            <a:extLst xmlns:a="http://schemas.openxmlformats.org/drawingml/2006/main">
              <a:ext uri="{FF2B5EF4-FFF2-40B4-BE49-F238E27FC236}">
                <a16:creationId xmlns:a16="http://schemas.microsoft.com/office/drawing/2014/main" id="{1EEB35D8-4D28-479A-B557-1027691B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Perfil do público</a:t>
            </a:r>
          </a:p>
        </p:txBody>
      </p:sp>
      <p:sp>
        <p:nvSpPr>
          <p:cNvPr id="4" name="text-191">
            <a:extLst xmlns:a="http://schemas.openxmlformats.org/drawingml/2006/main">
              <a:ext uri="{FF2B5EF4-FFF2-40B4-BE49-F238E27FC236}">
                <a16:creationId xmlns:a16="http://schemas.microsoft.com/office/drawing/2014/main" id="{FB191EE9-651A-40BF-8CCF-7A171E48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5" name="text-192">
            <a:extLst xmlns:a="http://schemas.openxmlformats.org/drawingml/2006/main">
              <a:ext uri="{FF2B5EF4-FFF2-40B4-BE49-F238E27FC236}">
                <a16:creationId xmlns:a16="http://schemas.microsoft.com/office/drawing/2014/main" id="{6AC3A4EF-6139-4CA5-B569-C33D85B4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Faixa etária</a:t>
            </a:r>
          </a:p>
        </p:txBody>
      </p:sp>
      <p:sp>
        <p:nvSpPr>
          <p:cNvPr id="6" name="text-193">
            <a:extLst xmlns:a="http://schemas.openxmlformats.org/drawingml/2006/main">
              <a:ext uri="{FF2B5EF4-FFF2-40B4-BE49-F238E27FC236}">
                <a16:creationId xmlns:a16="http://schemas.microsoft.com/office/drawing/2014/main" id="{EABF1504-05FF-444A-9DD5-C15B537B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13–24</a:t>
            </a:r>
          </a:p>
        </p:txBody>
      </p:sp>
      <p:sp>
        <p:nvSpPr>
          <p:cNvPr id="7" name="text-194">
            <a:extLst xmlns:a="http://schemas.openxmlformats.org/drawingml/2006/main">
              <a:ext uri="{FF2B5EF4-FFF2-40B4-BE49-F238E27FC236}">
                <a16:creationId xmlns:a16="http://schemas.microsoft.com/office/drawing/2014/main" id="{6B793D9E-31CA-4F86-A461-800674DC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669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23.6%</a:t>
            </a:r>
          </a:p>
        </p:txBody>
      </p:sp>
      <p:sp>
        <p:nvSpPr>
          <p:cNvPr id="8" name="text-195">
            <a:extLst xmlns:a="http://schemas.openxmlformats.org/drawingml/2006/main">
              <a:ext uri="{FF2B5EF4-FFF2-40B4-BE49-F238E27FC236}">
                <a16:creationId xmlns:a16="http://schemas.microsoft.com/office/drawing/2014/main" id="{8AF1A49E-A902-48B0-9EC3-FCFFAC41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25–34</a:t>
            </a:r>
          </a:p>
        </p:txBody>
      </p:sp>
      <p:sp>
        <p:nvSpPr>
          <p:cNvPr id="9" name="text-196">
            <a:extLst xmlns:a="http://schemas.openxmlformats.org/drawingml/2006/main">
              <a:ext uri="{FF2B5EF4-FFF2-40B4-BE49-F238E27FC236}">
                <a16:creationId xmlns:a16="http://schemas.microsoft.com/office/drawing/2014/main" id="{4DACE008-97AB-4496-831C-82F5D570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051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55.4%</a:t>
            </a:r>
          </a:p>
        </p:txBody>
      </p:sp>
      <p:sp>
        <p:nvSpPr>
          <p:cNvPr id="10" name="text-197">
            <a:extLst xmlns:a="http://schemas.openxmlformats.org/drawingml/2006/main">
              <a:ext uri="{FF2B5EF4-FFF2-40B4-BE49-F238E27FC236}">
                <a16:creationId xmlns:a16="http://schemas.microsoft.com/office/drawing/2014/main" id="{5BC086B1-AB30-4857-82E4-E7C68409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35–44</a:t>
            </a:r>
          </a:p>
        </p:txBody>
      </p:sp>
      <p:sp>
        <p:nvSpPr>
          <p:cNvPr id="11" name="text-198">
            <a:extLst xmlns:a="http://schemas.openxmlformats.org/drawingml/2006/main">
              <a:ext uri="{FF2B5EF4-FFF2-40B4-BE49-F238E27FC236}">
                <a16:creationId xmlns:a16="http://schemas.microsoft.com/office/drawing/2014/main" id="{85A27FA4-2E12-4734-B0E1-7223B98E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4332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16.9%</a:t>
            </a:r>
          </a:p>
        </p:txBody>
      </p:sp>
      <p:sp>
        <p:nvSpPr>
          <p:cNvPr id="12" name="text-199">
            <a:extLst xmlns:a="http://schemas.openxmlformats.org/drawingml/2006/main">
              <a:ext uri="{FF2B5EF4-FFF2-40B4-BE49-F238E27FC236}">
                <a16:creationId xmlns:a16="http://schemas.microsoft.com/office/drawing/2014/main" id="{47A34985-92F3-4423-BAB7-1566641B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45+</a:t>
            </a:r>
          </a:p>
        </p:txBody>
      </p:sp>
      <p:sp>
        <p:nvSpPr>
          <p:cNvPr id="13" name="text-200">
            <a:extLst xmlns:a="http://schemas.openxmlformats.org/drawingml/2006/main">
              <a:ext uri="{FF2B5EF4-FFF2-40B4-BE49-F238E27FC236}">
                <a16:creationId xmlns:a16="http://schemas.microsoft.com/office/drawing/2014/main" id="{216EFF3F-910B-4B54-B60E-FB214975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81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4.2%</a:t>
            </a:r>
          </a:p>
        </p:txBody>
      </p:sp>
      <p:sp>
        <p:nvSpPr>
          <p:cNvPr id="14" name="text-201">
            <a:extLst xmlns:a="http://schemas.openxmlformats.org/drawingml/2006/main">
              <a:ext uri="{FF2B5EF4-FFF2-40B4-BE49-F238E27FC236}">
                <a16:creationId xmlns:a16="http://schemas.microsoft.com/office/drawing/2014/main" id="{4B69D7E2-F3E7-478C-8ADB-8E9DFAC2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811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Gênero</a:t>
            </a:r>
          </a:p>
        </p:txBody>
      </p:sp>
      <p:sp>
        <p:nvSpPr>
          <p:cNvPr id="15" name="text-202">
            <a:extLst xmlns:a="http://schemas.openxmlformats.org/drawingml/2006/main">
              <a:ext uri="{FF2B5EF4-FFF2-40B4-BE49-F238E27FC236}">
                <a16:creationId xmlns:a16="http://schemas.microsoft.com/office/drawing/2014/main" id="{AC7937B9-19D0-4FC7-B2BA-C3C45913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6697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Mulheres</a:t>
            </a:r>
          </a:p>
        </p:txBody>
      </p:sp>
      <p:sp>
        <p:nvSpPr>
          <p:cNvPr id="16" name="text-203">
            <a:extLst xmlns:a="http://schemas.openxmlformats.org/drawingml/2006/main">
              <a:ext uri="{FF2B5EF4-FFF2-40B4-BE49-F238E27FC236}">
                <a16:creationId xmlns:a16="http://schemas.microsoft.com/office/drawing/2014/main" id="{165E6478-26D1-423F-B83A-7AA59920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6697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61.7%</a:t>
            </a:r>
          </a:p>
        </p:txBody>
      </p:sp>
      <p:sp>
        <p:nvSpPr>
          <p:cNvPr id="17" name="text-204">
            <a:extLst xmlns:a="http://schemas.openxmlformats.org/drawingml/2006/main">
              <a:ext uri="{FF2B5EF4-FFF2-40B4-BE49-F238E27FC236}">
                <a16:creationId xmlns:a16="http://schemas.microsoft.com/office/drawing/2014/main" id="{F7A19D27-6ACC-49C4-A7DB-5FF46241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051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Homens</a:t>
            </a:r>
          </a:p>
        </p:txBody>
      </p:sp>
      <p:sp>
        <p:nvSpPr>
          <p:cNvPr id="18" name="text-205">
            <a:extLst xmlns:a="http://schemas.openxmlformats.org/drawingml/2006/main">
              <a:ext uri="{FF2B5EF4-FFF2-40B4-BE49-F238E27FC236}">
                <a16:creationId xmlns:a16="http://schemas.microsoft.com/office/drawing/2014/main" id="{ED39656D-9078-4343-9CEF-A215C54E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38.3%</a:t>
            </a:r>
          </a:p>
        </p:txBody>
      </p:sp>
      <p:sp>
        <p:nvSpPr>
          <p:cNvPr id="19" name="text-206">
            <a:extLst xmlns:a="http://schemas.openxmlformats.org/drawingml/2006/main">
              <a:ext uri="{FF2B5EF4-FFF2-40B4-BE49-F238E27FC236}">
                <a16:creationId xmlns:a16="http://schemas.microsoft.com/office/drawing/2014/main" id="{9DC2FF19-F12A-40D8-9D32-EAA5EFC9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Principais cidades</a:t>
            </a:r>
          </a:p>
        </p:txBody>
      </p:sp>
      <p:sp>
        <p:nvSpPr>
          <p:cNvPr id="20" name="text-207">
            <a:extLst xmlns:a="http://schemas.openxmlformats.org/drawingml/2006/main">
              <a:ext uri="{FF2B5EF4-FFF2-40B4-BE49-F238E27FC236}">
                <a16:creationId xmlns:a16="http://schemas.microsoft.com/office/drawing/2014/main" id="{CBF981AD-C0E0-4967-BDE8-430F25BA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669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Fortaleza</a:t>
            </a:r>
          </a:p>
        </p:txBody>
      </p:sp>
      <p:sp>
        <p:nvSpPr>
          <p:cNvPr id="21" name="text-208">
            <a:extLst xmlns:a="http://schemas.openxmlformats.org/drawingml/2006/main">
              <a:ext uri="{FF2B5EF4-FFF2-40B4-BE49-F238E27FC236}">
                <a16:creationId xmlns:a16="http://schemas.microsoft.com/office/drawing/2014/main" id="{0030F9FE-8355-4EFF-90C2-6C75CAE8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4669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3.1%</a:t>
            </a:r>
          </a:p>
        </p:txBody>
      </p:sp>
      <p:sp>
        <p:nvSpPr>
          <p:cNvPr id="22" name="text-209">
            <a:extLst xmlns:a="http://schemas.openxmlformats.org/drawingml/2006/main">
              <a:ext uri="{FF2B5EF4-FFF2-40B4-BE49-F238E27FC236}">
                <a16:creationId xmlns:a16="http://schemas.microsoft.com/office/drawing/2014/main" id="{CE30B6B0-7795-44F0-819B-20FD46BA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575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São Paulo</a:t>
            </a:r>
          </a:p>
        </p:txBody>
      </p:sp>
      <p:sp>
        <p:nvSpPr>
          <p:cNvPr id="23" name="text-210">
            <a:extLst xmlns:a="http://schemas.openxmlformats.org/drawingml/2006/main">
              <a:ext uri="{FF2B5EF4-FFF2-40B4-BE49-F238E27FC236}">
                <a16:creationId xmlns:a16="http://schemas.microsoft.com/office/drawing/2014/main" id="{D79416FE-BF82-46FC-A12D-E6BA3D20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0575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2.7%</a:t>
            </a:r>
          </a:p>
        </p:txBody>
      </p:sp>
      <p:sp>
        <p:nvSpPr>
          <p:cNvPr id="24" name="text-211">
            <a:extLst xmlns:a="http://schemas.openxmlformats.org/drawingml/2006/main">
              <a:ext uri="{FF2B5EF4-FFF2-40B4-BE49-F238E27FC236}">
                <a16:creationId xmlns:a16="http://schemas.microsoft.com/office/drawing/2014/main" id="{05FC2111-61D0-4DF3-893E-B52CBD04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6480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Recife</a:t>
            </a:r>
          </a:p>
        </p:txBody>
      </p:sp>
      <p:sp>
        <p:nvSpPr>
          <p:cNvPr id="25" name="text-212">
            <a:extLst xmlns:a="http://schemas.openxmlformats.org/drawingml/2006/main">
              <a:ext uri="{FF2B5EF4-FFF2-40B4-BE49-F238E27FC236}">
                <a16:creationId xmlns:a16="http://schemas.microsoft.com/office/drawing/2014/main" id="{C72D2699-D16C-4CB9-BB0A-E4861975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480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2.3%</a:t>
            </a:r>
          </a:p>
        </p:txBody>
      </p:sp>
      <p:sp>
        <p:nvSpPr>
          <p:cNvPr id="26" name="text-213">
            <a:extLst xmlns:a="http://schemas.openxmlformats.org/drawingml/2006/main">
              <a:ext uri="{FF2B5EF4-FFF2-40B4-BE49-F238E27FC236}">
                <a16:creationId xmlns:a16="http://schemas.microsoft.com/office/drawing/2014/main" id="{3A436B39-C0C8-4B6F-8038-7D07DCA0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2386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João Pessoa</a:t>
            </a:r>
          </a:p>
        </p:txBody>
      </p:sp>
      <p:sp>
        <p:nvSpPr>
          <p:cNvPr id="27" name="text-214">
            <a:extLst xmlns:a="http://schemas.openxmlformats.org/drawingml/2006/main">
              <a:ext uri="{FF2B5EF4-FFF2-40B4-BE49-F238E27FC236}">
                <a16:creationId xmlns:a16="http://schemas.microsoft.com/office/drawing/2014/main" id="{E6974D8E-3799-4AD3-B3E4-3F390F36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86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1.0%</a:t>
            </a:r>
          </a:p>
        </p:txBody>
      </p:sp>
      <p:sp>
        <p:nvSpPr>
          <p:cNvPr id="28" name="text-215">
            <a:extLst xmlns:a="http://schemas.openxmlformats.org/drawingml/2006/main">
              <a:ext uri="{FF2B5EF4-FFF2-40B4-BE49-F238E27FC236}">
                <a16:creationId xmlns:a16="http://schemas.microsoft.com/office/drawing/2014/main" id="{D5B2A86E-59DA-4E4F-811E-D39B6384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917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Rio de Janeiro</a:t>
            </a:r>
          </a:p>
        </p:txBody>
      </p:sp>
      <p:sp>
        <p:nvSpPr>
          <p:cNvPr id="29" name="text-216">
            <a:extLst xmlns:a="http://schemas.openxmlformats.org/drawingml/2006/main">
              <a:ext uri="{FF2B5EF4-FFF2-40B4-BE49-F238E27FC236}">
                <a16:creationId xmlns:a16="http://schemas.microsoft.com/office/drawing/2014/main" id="{13C82126-DA24-47EB-B184-F9D2944B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8291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875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0.6%</a:t>
            </a:r>
          </a:p>
        </p:txBody>
      </p:sp>
      <p:sp>
        <p:nvSpPr>
          <p:cNvPr id="30" name="text-217">
            <a:extLst xmlns:a="http://schemas.openxmlformats.org/drawingml/2006/main">
              <a:ext uri="{FF2B5EF4-FFF2-40B4-BE49-F238E27FC236}">
                <a16:creationId xmlns:a16="http://schemas.microsoft.com/office/drawing/2014/main" id="{C501E941-E123-46ED-BD14-09C9A67E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Fonte: Instagram Insights · out/2026</a:t>
            </a:r>
          </a:p>
        </p:txBody>
      </p:sp>
    </p:spTree>
    <p:extLst>
      <p:ext uri="{BB962C8B-B14F-4D97-AF65-F5344CB8AC3E}">
        <p14:creationId xmlns:p14="http://schemas.microsoft.com/office/powerpoint/2010/main" val="1825720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18">
            <a:extLst xmlns:a="http://schemas.openxmlformats.org/drawingml/2006/main">
              <a:ext uri="{FF2B5EF4-FFF2-40B4-BE49-F238E27FC236}">
                <a16:creationId xmlns:a16="http://schemas.microsoft.com/office/drawing/2014/main" id="{465552EE-E239-40F9-B698-24382384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19">
            <a:extLst xmlns:a="http://schemas.openxmlformats.org/drawingml/2006/main">
              <a:ext uri="{FF2B5EF4-FFF2-40B4-BE49-F238E27FC236}">
                <a16:creationId xmlns:a16="http://schemas.microsoft.com/office/drawing/2014/main" id="{A9397113-55B6-4B91-98E0-D7A18803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20">
            <a:extLst xmlns:a="http://schemas.openxmlformats.org/drawingml/2006/main">
              <a:ext uri="{FF2B5EF4-FFF2-40B4-BE49-F238E27FC236}">
                <a16:creationId xmlns:a16="http://schemas.microsoft.com/office/drawing/2014/main" id="{AD809E6F-CB3B-4048-8AF6-43EDEA95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Trabalhe com a Giums</a:t>
            </a:r>
          </a:p>
        </p:txBody>
      </p:sp>
      <p:sp>
        <p:nvSpPr>
          <p:cNvPr id="4" name="text-221">
            <a:extLst xmlns:a="http://schemas.openxmlformats.org/drawingml/2006/main">
              <a:ext uri="{FF2B5EF4-FFF2-40B4-BE49-F238E27FC236}">
                <a16:creationId xmlns:a16="http://schemas.microsoft.com/office/drawing/2014/main" id="{0184630F-14C2-46CD-B815-957D1152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sp>
        <p:nvSpPr>
          <p:cNvPr id="5" name="text-222">
            <a:extLst xmlns:a="http://schemas.openxmlformats.org/drawingml/2006/main">
              <a:ext uri="{FF2B5EF4-FFF2-40B4-BE49-F238E27FC236}">
                <a16:creationId xmlns:a16="http://schemas.microsoft.com/office/drawing/2014/main" id="{F233DD57-7696-4A3B-A308-8DF46D36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25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Formatos</a:t>
            </a:r>
          </a:p>
        </p:txBody>
      </p:sp>
      <p:sp>
        <p:nvSpPr>
          <p:cNvPr id="6" name="text-223">
            <a:extLst xmlns:a="http://schemas.openxmlformats.org/drawingml/2006/main">
              <a:ext uri="{FF2B5EF4-FFF2-40B4-BE49-F238E27FC236}">
                <a16:creationId xmlns:a16="http://schemas.microsoft.com/office/drawing/2014/main" id="{B2A4E5FB-2FD3-4997-93B9-794D29E8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Stories (Instagram)</a:t>
            </a:r>
          </a:p>
        </p:txBody>
      </p:sp>
      <p:sp>
        <p:nvSpPr>
          <p:cNvPr id="7" name="text-224">
            <a:extLst xmlns:a="http://schemas.openxmlformats.org/drawingml/2006/main">
              <a:ext uri="{FF2B5EF4-FFF2-40B4-BE49-F238E27FC236}">
                <a16:creationId xmlns:a16="http://schemas.microsoft.com/office/drawing/2014/main" id="{913304C5-48F0-4463-A27C-20A38366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Reels (Instagram)</a:t>
            </a:r>
          </a:p>
        </p:txBody>
      </p:sp>
      <p:sp>
        <p:nvSpPr>
          <p:cNvPr id="8" name="text-225">
            <a:extLst xmlns:a="http://schemas.openxmlformats.org/drawingml/2006/main">
              <a:ext uri="{FF2B5EF4-FFF2-40B4-BE49-F238E27FC236}">
                <a16:creationId xmlns:a16="http://schemas.microsoft.com/office/drawing/2014/main" id="{84EEA030-4B2E-40E9-A641-B0A642B0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Carrossel (Instagram)</a:t>
            </a:r>
          </a:p>
        </p:txBody>
      </p:sp>
      <p:sp>
        <p:nvSpPr>
          <p:cNvPr id="9" name="text-226">
            <a:extLst xmlns:a="http://schemas.openxmlformats.org/drawingml/2006/main">
              <a:ext uri="{FF2B5EF4-FFF2-40B4-BE49-F238E27FC236}">
                <a16:creationId xmlns:a16="http://schemas.microsoft.com/office/drawing/2014/main" id="{FAD3302C-B693-4820-BAA9-B88B6075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Twitch ao vivo e VODs</a:t>
            </a:r>
          </a:p>
        </p:txBody>
      </p:sp>
      <p:sp>
        <p:nvSpPr>
          <p:cNvPr id="10" name="text-227">
            <a:extLst xmlns:a="http://schemas.openxmlformats.org/drawingml/2006/main">
              <a:ext uri="{FF2B5EF4-FFF2-40B4-BE49-F238E27FC236}">
                <a16:creationId xmlns:a16="http://schemas.microsoft.com/office/drawing/2014/main" id="{3BBDEA82-8137-4756-8AEC-03609836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4905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 (vídeos de longa duração)</a:t>
            </a:r>
          </a:p>
        </p:txBody>
      </p:sp>
      <p:sp>
        <p:nvSpPr>
          <p:cNvPr id="11" name="text-228">
            <a:extLst xmlns:a="http://schemas.openxmlformats.org/drawingml/2006/main">
              <a:ext uri="{FF2B5EF4-FFF2-40B4-BE49-F238E27FC236}">
                <a16:creationId xmlns:a16="http://schemas.microsoft.com/office/drawing/2014/main" id="{38CCDFDB-D1EC-42DA-9E27-6976DAE4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Campanhas ilustradas</a:t>
            </a:r>
          </a:p>
        </p:txBody>
      </p:sp>
      <p:sp>
        <p:nvSpPr>
          <p:cNvPr id="12" name="text-229">
            <a:extLst xmlns:a="http://schemas.openxmlformats.org/drawingml/2006/main">
              <a:ext uri="{FF2B5EF4-FFF2-40B4-BE49-F238E27FC236}">
                <a16:creationId xmlns:a16="http://schemas.microsoft.com/office/drawing/2014/main" id="{B4E3EE6D-C431-4FD3-BBAC-E5570DC0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336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Ilustrações de teste para produtos, tradicionais ou digitais.</a:t>
            </a:r>
          </a:p>
        </p:txBody>
      </p:sp>
      <p:sp>
        <p:nvSpPr>
          <p:cNvPr id="13" name="text-230">
            <a:extLst xmlns:a="http://schemas.openxmlformats.org/drawingml/2006/main">
              <a:ext uri="{FF2B5EF4-FFF2-40B4-BE49-F238E27FC236}">
                <a16:creationId xmlns:a16="http://schemas.microsoft.com/office/drawing/2014/main" id="{170A1DD6-22E9-468D-9DDD-EDF15FA6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813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Resenhas &amp; sorteios</a:t>
            </a:r>
          </a:p>
        </p:txBody>
      </p:sp>
      <p:sp>
        <p:nvSpPr>
          <p:cNvPr id="14" name="text-231">
            <a:extLst xmlns:a="http://schemas.openxmlformats.org/drawingml/2006/main">
              <a:ext uri="{FF2B5EF4-FFF2-40B4-BE49-F238E27FC236}">
                <a16:creationId xmlns:a16="http://schemas.microsoft.com/office/drawing/2014/main" id="{51BA64D5-3AC7-40E0-87C8-FE2CF7C9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052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Resenha de produto e sorteio para a comunidade, como na parceria com a XP-Pen.</a:t>
            </a:r>
          </a:p>
        </p:txBody>
      </p:sp>
      <p:sp>
        <p:nvSpPr>
          <p:cNvPr id="15" name="text-232">
            <a:extLst xmlns:a="http://schemas.openxmlformats.org/drawingml/2006/main">
              <a:ext uri="{FF2B5EF4-FFF2-40B4-BE49-F238E27FC236}">
                <a16:creationId xmlns:a16="http://schemas.microsoft.com/office/drawing/2014/main" id="{A7280B69-E807-4586-9FA8-241617B4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529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Conteúdo de processo</a:t>
            </a:r>
          </a:p>
        </p:txBody>
      </p:sp>
      <p:sp>
        <p:nvSpPr>
          <p:cNvPr id="16" name="text-233">
            <a:extLst xmlns:a="http://schemas.openxmlformats.org/drawingml/2006/main">
              <a:ext uri="{FF2B5EF4-FFF2-40B4-BE49-F238E27FC236}">
                <a16:creationId xmlns:a16="http://schemas.microsoft.com/office/drawing/2014/main" id="{90EC21FF-B9A7-4A40-A2B3-67FBAAC6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076825"/>
            <a:ext cx="52768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Sketches, timelapses e making-of para Instagram e YouTube.</a:t>
            </a:r>
          </a:p>
        </p:txBody>
      </p:sp>
    </p:spTree>
    <p:extLst>
      <p:ext uri="{BB962C8B-B14F-4D97-AF65-F5344CB8AC3E}">
        <p14:creationId xmlns:p14="http://schemas.microsoft.com/office/powerpoint/2010/main" val="10380835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234">
            <a:extLst xmlns:a="http://schemas.openxmlformats.org/drawingml/2006/main">
              <a:ext uri="{FF2B5EF4-FFF2-40B4-BE49-F238E27FC236}">
                <a16:creationId xmlns:a16="http://schemas.microsoft.com/office/drawing/2014/main" id="{4E10F16A-1168-4B87-B84C-945F9EF0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35">
            <a:extLst xmlns:a="http://schemas.openxmlformats.org/drawingml/2006/main">
              <a:ext uri="{FF2B5EF4-FFF2-40B4-BE49-F238E27FC236}">
                <a16:creationId xmlns:a16="http://schemas.microsoft.com/office/drawing/2014/main" id="{F7E4B360-3184-44AB-B707-4D7EA896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36">
            <a:extLst xmlns:a="http://schemas.openxmlformats.org/drawingml/2006/main">
              <a:ext uri="{FF2B5EF4-FFF2-40B4-BE49-F238E27FC236}">
                <a16:creationId xmlns:a16="http://schemas.microsoft.com/office/drawing/2014/main" id="{81035CAE-6F25-4605-A284-E5861440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11015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111015"/>
                </a:solidFill>
                <a:latin typeface="Georgia"/>
                <a:ea typeface="Georgia"/>
                <a:cs typeface="Georgia"/>
              </a:rPr>
              <a:t>XP-Pen · resenha da Deco 03 e sorteio</a:t>
            </a:r>
          </a:p>
        </p:txBody>
      </p:sp>
      <p:sp>
        <p:nvSpPr>
          <p:cNvPr id="4" name="text-237">
            <a:extLst xmlns:a="http://schemas.openxmlformats.org/drawingml/2006/main">
              <a:ext uri="{FF2B5EF4-FFF2-40B4-BE49-F238E27FC236}">
                <a16:creationId xmlns:a16="http://schemas.microsoft.com/office/drawing/2014/main" id="{8F84BE91-6F5C-4A54-BAAB-B3864177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sp>
        <p:nvSpPr>
          <p:cNvPr id="5" name="text-238">
            <a:extLst xmlns:a="http://schemas.openxmlformats.org/drawingml/2006/main">
              <a:ext uri="{FF2B5EF4-FFF2-40B4-BE49-F238E27FC236}">
                <a16:creationId xmlns:a16="http://schemas.microsoft.com/office/drawing/2014/main" id="{C2C8D4C9-1E42-412A-98B9-AEEF6E22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Junho – julho de 2021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49504E-E544-43A9-8C27-980FB207EB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724a0f07f459b"/>
          <a:stretch xmlns:a="http://schemas.openxmlformats.org/drawingml/2006/main"/>
        </p:blipFill>
        <p:spPr>
          <a:xfrm xmlns:a="http://schemas.openxmlformats.org/drawingml/2006/main">
            <a:off x="609600" y="2116998"/>
            <a:ext cx="4819650" cy="3243129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8AE71-A0E4-498C-AF2E-73ED088DAC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ee3e4fe6b448d"/>
          <a:stretch xmlns:a="http://schemas.openxmlformats.org/drawingml/2006/main"/>
        </p:blipFill>
        <p:spPr>
          <a:xfrm xmlns:a="http://schemas.openxmlformats.org/drawingml/2006/main">
            <a:off x="3746183" y="4657725"/>
            <a:ext cx="1680210" cy="1200150"/>
          </a:xfrm>
          <a:prstGeom xmlns:a="http://schemas.openxmlformats.org/drawingml/2006/main" prst="rect">
            <a:avLst/>
          </a:prstGeom>
        </p:spPr>
      </p:pic>
      <p:sp>
        <p:nvSpPr>
          <p:cNvPr id="8" name="text-239">
            <a:extLst xmlns:a="http://schemas.openxmlformats.org/drawingml/2006/main">
              <a:ext uri="{FF2B5EF4-FFF2-40B4-BE49-F238E27FC236}">
                <a16:creationId xmlns:a16="http://schemas.microsoft.com/office/drawing/2014/main" id="{CBD65BB4-A5BF-48CB-A616-A847F459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Frame do vídeo no YouTube</a:t>
            </a:r>
          </a:p>
        </p:txBody>
      </p:sp>
      <p:sp>
        <p:nvSpPr>
          <p:cNvPr id="9" name="text-240">
            <a:extLst xmlns:a="http://schemas.openxmlformats.org/drawingml/2006/main">
              <a:ext uri="{FF2B5EF4-FFF2-40B4-BE49-F238E27FC236}">
                <a16:creationId xmlns:a16="http://schemas.microsoft.com/office/drawing/2014/main" id="{2D5EDD6C-A65D-472F-8B8E-33DD312C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809750"/>
            <a:ext cx="552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Testadora de produto, resenhista e criadora de conteúdo. A XP-Pen Brasil enviou o tablet e ela mandou suas considerações à marca.</a:t>
            </a:r>
          </a:p>
        </p:txBody>
      </p:sp>
      <p:sp>
        <p:nvSpPr>
          <p:cNvPr id="10" name="text-241">
            <a:extLst xmlns:a="http://schemas.openxmlformats.org/drawingml/2006/main">
              <a:ext uri="{FF2B5EF4-FFF2-40B4-BE49-F238E27FC236}">
                <a16:creationId xmlns:a16="http://schemas.microsoft.com/office/drawing/2014/main" id="{61857F8E-12B3-4D81-B4AE-B152EE3D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05125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Entregas</a:t>
            </a:r>
          </a:p>
        </p:txBody>
      </p:sp>
      <p:sp>
        <p:nvSpPr>
          <p:cNvPr id="11" name="text-242">
            <a:extLst xmlns:a="http://schemas.openxmlformats.org/drawingml/2006/main">
              <a:ext uri="{FF2B5EF4-FFF2-40B4-BE49-F238E27FC236}">
                <a16:creationId xmlns:a16="http://schemas.microsoft.com/office/drawing/2014/main" id="{B3A5FF70-E7F5-4CC1-BCBF-C7FA4E55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552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F5A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5A63"/>
                </a:solidFill>
                <a:latin typeface="Arial"/>
                <a:ea typeface="Arial"/>
                <a:cs typeface="Arial"/>
              </a:rPr>
              <a:t>Reel no Instagram anunciando a resenha e o sorteio; vídeo no YouTube (9:53) com a resenha da XP-Pen Deco 03 e um sketch de fanart da Yone; sorteio do tablet com artes exclusivas; cupom de desconto para a audiência.</a:t>
            </a:r>
          </a:p>
        </p:txBody>
      </p:sp>
      <p:sp>
        <p:nvSpPr>
          <p:cNvPr id="12" name="text-243">
            <a:extLst xmlns:a="http://schemas.openxmlformats.org/drawingml/2006/main">
              <a:ext uri="{FF2B5EF4-FFF2-40B4-BE49-F238E27FC236}">
                <a16:creationId xmlns:a16="http://schemas.microsoft.com/office/drawing/2014/main" id="{3E197A47-5F83-441E-9219-363E017A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Resultados</a:t>
            </a:r>
          </a:p>
        </p:txBody>
      </p:sp>
      <p:sp>
        <p:nvSpPr>
          <p:cNvPr id="13" name="text-244">
            <a:extLst xmlns:a="http://schemas.openxmlformats.org/drawingml/2006/main">
              <a:ext uri="{FF2B5EF4-FFF2-40B4-BE49-F238E27FC236}">
                <a16:creationId xmlns:a16="http://schemas.microsoft.com/office/drawing/2014/main" id="{564A911F-26CD-4A79-AF61-DEDCA81E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24475"/>
            <a:ext cx="552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1101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015"/>
                </a:solidFill>
                <a:latin typeface="Arial"/>
                <a:ea typeface="Arial"/>
                <a:cs typeface="Arial"/>
              </a:rPr>
              <a:t>YouTube: 3,2 mil visualizações, 161 curtidas. Reel no Instagram: 221 curtidas, 10 comentários (out/2026).</a:t>
            </a:r>
          </a:p>
        </p:txBody>
      </p:sp>
      <p:sp>
        <p:nvSpPr>
          <p:cNvPr id="14" name="text-245">
            <a:extLst xmlns:a="http://schemas.openxmlformats.org/drawingml/2006/main">
              <a:ext uri="{FF2B5EF4-FFF2-40B4-BE49-F238E27FC236}">
                <a16:creationId xmlns:a16="http://schemas.microsoft.com/office/drawing/2014/main" id="{79DA90B6-38DC-4792-B557-F00171FB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b7bf71a08f7e4cae"/>
              </a:rPr>
              <a:t>YouTube</a:t>
            </a:r>
          </a:p>
        </p:txBody>
      </p:sp>
      <p:sp>
        <p:nvSpPr>
          <p:cNvPr id="15" name="text-246">
            <a:extLst xmlns:a="http://schemas.openxmlformats.org/drawingml/2006/main">
              <a:ext uri="{FF2B5EF4-FFF2-40B4-BE49-F238E27FC236}">
                <a16:creationId xmlns:a16="http://schemas.microsoft.com/office/drawing/2014/main" id="{391A1DE5-76BE-4218-BC2A-B8CB672F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6029325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2142F"/>
                </a:solidFill>
                <a:latin typeface="Arial"/>
                <a:ea typeface="Arial"/>
                <a:cs typeface="Arial"/>
                <a:hlinkClick xmlns:r="http://schemas.openxmlformats.org/officeDocument/2006/relationships" r:id="Rc833b5a76912422b"/>
              </a:rPr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12239777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47">
            <a:extLst xmlns:a="http://schemas.openxmlformats.org/drawingml/2006/main">
              <a:ext uri="{FF2B5EF4-FFF2-40B4-BE49-F238E27FC236}">
                <a16:creationId xmlns:a16="http://schemas.microsoft.com/office/drawing/2014/main" id="{A8ED1754-A6CC-425B-9B81-3FA019C6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48">
            <a:extLst xmlns:a="http://schemas.openxmlformats.org/drawingml/2006/main">
              <a:ext uri="{FF2B5EF4-FFF2-40B4-BE49-F238E27FC236}">
                <a16:creationId xmlns:a16="http://schemas.microsoft.com/office/drawing/2014/main" id="{901F1230-7E34-4E9B-8B0F-DC0ED291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"/>
            <a:ext cx="609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MEDIA KIT · MARCAS E PARCERIAS · 2026</a:t>
            </a:r>
          </a:p>
        </p:txBody>
      </p:sp>
      <p:sp>
        <p:nvSpPr>
          <p:cNvPr id="3" name="text-249">
            <a:extLst xmlns:a="http://schemas.openxmlformats.org/drawingml/2006/main">
              <a:ext uri="{FF2B5EF4-FFF2-40B4-BE49-F238E27FC236}">
                <a16:creationId xmlns:a16="http://schemas.microsoft.com/office/drawing/2014/main" id="{0E6CB949-2782-4A08-9349-CA1A4248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EFE9DF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EFE9DF"/>
                </a:solidFill>
                <a:latin typeface="Georgia"/>
                <a:ea typeface="Georgia"/>
                <a:cs typeface="Georgia"/>
              </a:rPr>
              <a:t>Contato</a:t>
            </a:r>
          </a:p>
        </p:txBody>
      </p:sp>
      <p:sp>
        <p:nvSpPr>
          <p:cNvPr id="4" name="text-250">
            <a:extLst xmlns:a="http://schemas.openxmlformats.org/drawingml/2006/main">
              <a:ext uri="{FF2B5EF4-FFF2-40B4-BE49-F238E27FC236}">
                <a16:creationId xmlns:a16="http://schemas.microsoft.com/office/drawing/2014/main" id="{4FA3A20A-35BA-4246-BB9F-596F342D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5" name="text-251">
            <a:extLst xmlns:a="http://schemas.openxmlformats.org/drawingml/2006/main">
              <a:ext uri="{FF2B5EF4-FFF2-40B4-BE49-F238E27FC236}">
                <a16:creationId xmlns:a16="http://schemas.microsoft.com/office/drawing/2014/main" id="{B2023098-75C2-4359-8329-A0459336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4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Como começar</a:t>
            </a:r>
          </a:p>
        </p:txBody>
      </p:sp>
      <p:sp>
        <p:nvSpPr>
          <p:cNvPr id="6" name="text-252">
            <a:extLst xmlns:a="http://schemas.openxmlformats.org/drawingml/2006/main">
              <a:ext uri="{FF2B5EF4-FFF2-40B4-BE49-F238E27FC236}">
                <a16:creationId xmlns:a16="http://schemas.microsoft.com/office/drawing/2014/main" id="{9ABDABD7-850F-4CA3-8DCD-850FD660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286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Envie um briefing com objetivo, entregas, prazo e orçamento para o e-mail abaixo.</a:t>
            </a:r>
          </a:p>
        </p:txBody>
      </p:sp>
      <p:sp>
        <p:nvSpPr>
          <p:cNvPr id="7" name="text-253">
            <a:extLst xmlns:a="http://schemas.openxmlformats.org/drawingml/2006/main">
              <a:ext uri="{FF2B5EF4-FFF2-40B4-BE49-F238E27FC236}">
                <a16:creationId xmlns:a16="http://schemas.microsoft.com/office/drawing/2014/main" id="{38F07FAC-64A0-4756-BBD6-04452C87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defPPr>
            <a:lvl1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1pPr>
            <a:lvl2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2pPr>
            <a:lvl3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3pPr>
            <a:lvl4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4pPr>
            <a:lvl5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5pPr>
            <a:lvl6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6pPr>
            <a:lvl7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7pPr>
            <a:lvl8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8pPr>
            <a:lvl9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F7A1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F7A1A"/>
                </a:solidFill>
                <a:latin typeface="Arial"/>
                <a:ea typeface="Arial"/>
                <a:cs typeface="Arial"/>
                <a:hlinkClick xmlns:r="http://schemas.openxmlformats.org/officeDocument/2006/relationships" r:id="R8ee3663ffba74f57"/>
              </a:rPr>
              <a:t>giumsart@gmail.com</a:t>
            </a:r>
          </a:p>
        </p:txBody>
      </p:sp>
      <p:sp>
        <p:nvSpPr>
          <p:cNvPr id="8" name="text-254">
            <a:extLst xmlns:a="http://schemas.openxmlformats.org/drawingml/2006/main">
              <a:ext uri="{FF2B5EF4-FFF2-40B4-BE49-F238E27FC236}">
                <a16:creationId xmlns:a16="http://schemas.microsoft.com/office/drawing/2014/main" id="{54CC0889-57DA-4F35-9484-4ABAC3E4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bfbf9683562942df"/>
              </a:rPr>
              <a:t>giums.onrender.com</a:t>
            </a:r>
          </a:p>
        </p:txBody>
      </p:sp>
      <p:sp>
        <p:nvSpPr>
          <p:cNvPr id="9" name="text-255">
            <a:extLst xmlns:a="http://schemas.openxmlformats.org/drawingml/2006/main">
              <a:ext uri="{FF2B5EF4-FFF2-40B4-BE49-F238E27FC236}">
                <a16:creationId xmlns:a16="http://schemas.microsoft.com/office/drawing/2014/main" id="{F9A63A1C-0694-41F1-99F6-394E2A6D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767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9cdaf87f19f34bc4"/>
              </a:rPr>
              <a:t>@giums</a:t>
            </a:r>
          </a:p>
        </p:txBody>
      </p:sp>
      <p:sp>
        <p:nvSpPr>
          <p:cNvPr id="10" name="text-256">
            <a:extLst xmlns:a="http://schemas.openxmlformats.org/drawingml/2006/main">
              <a:ext uri="{FF2B5EF4-FFF2-40B4-BE49-F238E27FC236}">
                <a16:creationId xmlns:a16="http://schemas.microsoft.com/office/drawing/2014/main" id="{58884CC3-0E8F-4EAE-A28C-270A52FB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447146a4130a4eee"/>
              </a:rPr>
              <a:t>@giums.bsky.social</a:t>
            </a:r>
          </a:p>
        </p:txBody>
      </p:sp>
      <p:sp>
        <p:nvSpPr>
          <p:cNvPr id="11" name="text-257">
            <a:extLst xmlns:a="http://schemas.openxmlformats.org/drawingml/2006/main">
              <a:ext uri="{FF2B5EF4-FFF2-40B4-BE49-F238E27FC236}">
                <a16:creationId xmlns:a16="http://schemas.microsoft.com/office/drawing/2014/main" id="{B32C2C35-BFFF-45DB-8426-FBDF390A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9815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d31d79d7385f47c5"/>
              </a:rPr>
              <a:t>@GIUMSyt</a:t>
            </a:r>
          </a:p>
        </p:txBody>
      </p:sp>
      <p:sp>
        <p:nvSpPr>
          <p:cNvPr id="12" name="text-258">
            <a:extLst xmlns:a="http://schemas.openxmlformats.org/drawingml/2006/main">
              <a:ext uri="{FF2B5EF4-FFF2-40B4-BE49-F238E27FC236}">
                <a16:creationId xmlns:a16="http://schemas.microsoft.com/office/drawing/2014/main" id="{4FCC93CF-9A2C-4D71-8A42-25100CF4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071301a5f7024057"/>
              </a:rPr>
              <a:t>twitch.tv/giums</a:t>
            </a:r>
          </a:p>
        </p:txBody>
      </p:sp>
      <p:sp>
        <p:nvSpPr>
          <p:cNvPr id="13" name="text-259">
            <a:extLst xmlns:a="http://schemas.openxmlformats.org/drawingml/2006/main">
              <a:ext uri="{FF2B5EF4-FFF2-40B4-BE49-F238E27FC236}">
                <a16:creationId xmlns:a16="http://schemas.microsoft.com/office/drawing/2014/main" id="{2C27B13C-98DE-4406-B630-08ED7C46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4864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FE9DF"/>
                </a:solidFill>
                <a:latin typeface="Arial"/>
                <a:ea typeface="Arial"/>
                <a:cs typeface="Arial"/>
                <a:hlinkClick xmlns:r="http://schemas.openxmlformats.org/officeDocument/2006/relationships" r:id="R2952aed5a4d04274"/>
              </a:rPr>
              <a:t>patreon.com/giums</a:t>
            </a:r>
          </a:p>
        </p:txBody>
      </p:sp>
      <p:sp>
        <p:nvSpPr>
          <p:cNvPr id="14" name="text-260">
            <a:extLst xmlns:a="http://schemas.openxmlformats.org/drawingml/2006/main">
              <a:ext uri="{FF2B5EF4-FFF2-40B4-BE49-F238E27FC236}">
                <a16:creationId xmlns:a16="http://schemas.microsoft.com/office/drawing/2014/main" id="{D080886A-7135-48B4-960E-E7906576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752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defPPr>
            <a:lvl1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1pPr>
            <a:lvl2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2pPr>
            <a:lvl3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3pPr>
            <a:lvl4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4pPr>
            <a:lvl5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5pPr>
            <a:lvl6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6pPr>
            <a:lvl7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7pPr>
            <a:lvl8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8pPr>
            <a:lvl9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7A1A"/>
                </a:solidFill>
                <a:latin typeface="Georgia"/>
                <a:ea typeface="Georgia"/>
                <a:cs typeface="Georgia"/>
              </a:defRPr>
            </a:pPr>
            <a:r>
              <a:rPr sz="2100" b="0">
                <a:solidFill>
                  <a:srgbClr val="FF7A1A"/>
                </a:solidFill>
                <a:latin typeface="Georgia"/>
                <a:ea typeface="Georgia"/>
                <a:cs typeface="Georgia"/>
              </a:rPr>
              <a:t>Direitos de uso</a:t>
            </a:r>
          </a:p>
        </p:txBody>
      </p:sp>
      <p:sp>
        <p:nvSpPr>
          <p:cNvPr id="15" name="text-261">
            <a:extLst xmlns:a="http://schemas.openxmlformats.org/drawingml/2006/main">
              <a:ext uri="{FF2B5EF4-FFF2-40B4-BE49-F238E27FC236}">
                <a16:creationId xmlns:a16="http://schemas.microsoft.com/office/drawing/2014/main" id="{799E4096-7AB7-4D68-BE78-1CC8C77C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95550"/>
            <a:ext cx="342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FE9D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FE9DF"/>
                </a:solidFill>
                <a:latin typeface="Arial"/>
                <a:ea typeface="Arial"/>
                <a:cs typeface="Arial"/>
              </a:rPr>
              <a:t>Uso comercial e reupload exigem permissão da artista; os termos são combinados por projeto.</a:t>
            </a:r>
          </a:p>
        </p:txBody>
      </p:sp>
      <p:sp>
        <p:nvSpPr>
          <p:cNvPr id="16" name="text-262">
            <a:extLst xmlns:a="http://schemas.openxmlformats.org/drawingml/2006/main">
              <a:ext uri="{FF2B5EF4-FFF2-40B4-BE49-F238E27FC236}">
                <a16:creationId xmlns:a16="http://schemas.microsoft.com/office/drawing/2014/main" id="{546CE655-9A4A-4AC3-B95D-9E9134BD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352925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39CA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39CAD"/>
                </a:solidFill>
                <a:latin typeface="Arial"/>
                <a:ea typeface="Arial"/>
                <a:cs typeface="Arial"/>
              </a:rPr>
              <a:t>Usar a arte — inclusive em OCs parecidos — não é permitido.</a:t>
            </a:r>
          </a:p>
        </p:txBody>
      </p:sp>
    </p:spTree>
    <p:extLst>
      <p:ext uri="{BB962C8B-B14F-4D97-AF65-F5344CB8AC3E}">
        <p14:creationId xmlns:p14="http://schemas.microsoft.com/office/powerpoint/2010/main" val="3395667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2026-10-16T23:40:45.6870000Z</dcterms:created>
  <dcterms:modified xsi:type="dcterms:W3CDTF">2026-10-16T23:40:45.6870000Z</dcterms:modified>
</coreProperties>
</file>