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e50bd47ec44f70" /><Relationship Type="http://schemas.openxmlformats.org/officeDocument/2006/relationships/extended-properties" Target="/docProps/app.xml" Id="Re9a4cb187253450f" /><Relationship Type="http://schemas.openxmlformats.org/officeDocument/2006/relationships/officeDocument" Target="/ppt/presentation.xml" Id="R9e49b95d3b6d41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34c70990b4410a"/>
  </p:sldMasterIdLst>
  <p:notesMasterIdLst>
    <p:notesMasterId xmlns:r="http://schemas.openxmlformats.org/officeDocument/2006/relationships" r:id="R4ff1bda5dbac4a3b"/>
  </p:notesMasterIdLst>
  <p:sldIdLst>
    <p:sldId xmlns:r="http://schemas.openxmlformats.org/officeDocument/2006/relationships" id="256" r:id="R420534ada6c146fc"/>
    <p:sldId xmlns:r="http://schemas.openxmlformats.org/officeDocument/2006/relationships" id="257" r:id="R188213d584d940ac"/>
    <p:sldId xmlns:r="http://schemas.openxmlformats.org/officeDocument/2006/relationships" id="258" r:id="Rffd2b9913a07402b"/>
    <p:sldId xmlns:r="http://schemas.openxmlformats.org/officeDocument/2006/relationships" id="259" r:id="R3936050efec7412a"/>
    <p:sldId xmlns:r="http://schemas.openxmlformats.org/officeDocument/2006/relationships" id="260" r:id="Rc536fbffe0b7477c"/>
    <p:sldId xmlns:r="http://schemas.openxmlformats.org/officeDocument/2006/relationships" id="261" r:id="Rd810bfe083514d79"/>
    <p:sldId xmlns:r="http://schemas.openxmlformats.org/officeDocument/2006/relationships" id="262" r:id="Re865534725a447b1"/>
    <p:sldId xmlns:r="http://schemas.openxmlformats.org/officeDocument/2006/relationships" id="263" r:id="Refbf97d41fe641ca"/>
    <p:sldId xmlns:r="http://schemas.openxmlformats.org/officeDocument/2006/relationships" id="264" r:id="R2e94ab11c93947fd"/>
    <p:sldId xmlns:r="http://schemas.openxmlformats.org/officeDocument/2006/relationships" id="265" r:id="R79248ede542849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9e2c6872f14fd4" /><Relationship Type="http://schemas.openxmlformats.org/officeDocument/2006/relationships/slideMaster" Target="/ppt/slideMasters/slideMaster1.xml" Id="Rfe34c70990b4410a" /><Relationship Type="http://schemas.openxmlformats.org/officeDocument/2006/relationships/notesMaster" Target="/ppt/notesMasters/notesMaster1.xml" Id="R4ff1bda5dbac4a3b" /><Relationship Type="http://schemas.openxmlformats.org/officeDocument/2006/relationships/presProps" Target="/ppt/presProps.xml" Id="R16e74cbfdd92478e" /><Relationship Type="http://schemas.openxmlformats.org/officeDocument/2006/relationships/tableStyles" Target="/ppt/tableStyles.xml" Id="Rb43e94a6fc7c4fbd" /><Relationship Type="http://schemas.openxmlformats.org/officeDocument/2006/relationships/slide" Target="/ppt/slides/slide1.xml" Id="R420534ada6c146fc" /><Relationship Type="http://schemas.openxmlformats.org/officeDocument/2006/relationships/slide" Target="/ppt/slides/slide2.xml" Id="R188213d584d940ac" /><Relationship Type="http://schemas.openxmlformats.org/officeDocument/2006/relationships/slide" Target="/ppt/slides/slide3.xml" Id="Rffd2b9913a07402b" /><Relationship Type="http://schemas.openxmlformats.org/officeDocument/2006/relationships/slide" Target="/ppt/slides/slide4.xml" Id="R3936050efec7412a" /><Relationship Type="http://schemas.openxmlformats.org/officeDocument/2006/relationships/slide" Target="/ppt/slides/slide5.xml" Id="Rc536fbffe0b7477c" /><Relationship Type="http://schemas.openxmlformats.org/officeDocument/2006/relationships/slide" Target="/ppt/slides/slide6.xml" Id="Rd810bfe083514d79" /><Relationship Type="http://schemas.openxmlformats.org/officeDocument/2006/relationships/slide" Target="/ppt/slides/slide7.xml" Id="Re865534725a447b1" /><Relationship Type="http://schemas.openxmlformats.org/officeDocument/2006/relationships/slide" Target="/ppt/slides/slide8.xml" Id="Refbf97d41fe641ca" /><Relationship Type="http://schemas.openxmlformats.org/officeDocument/2006/relationships/slide" Target="/ppt/slides/slide9.xml" Id="R2e94ab11c93947fd" /><Relationship Type="http://schemas.openxmlformats.org/officeDocument/2006/relationships/slide" Target="/ppt/slides/slide10.xml" Id="R79248ede542849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8bf99258624d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2563e07c7b462b" /><Relationship Type="http://schemas.openxmlformats.org/officeDocument/2006/relationships/notesMaster" Target="/ppt/notesMasters/notesMaster1.xml" Id="Rdbd49935b48248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5fd88678014b0e" /><Relationship Type="http://schemas.openxmlformats.org/officeDocument/2006/relationships/notesMaster" Target="/ppt/notesMasters/notesMaster1.xml" Id="R5e697f66020041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e11b7e8e3247f5" /><Relationship Type="http://schemas.openxmlformats.org/officeDocument/2006/relationships/notesMaster" Target="/ppt/notesMasters/notesMaster1.xml" Id="Rb856d2e4a0fc49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f6a1b6cba04473" /><Relationship Type="http://schemas.openxmlformats.org/officeDocument/2006/relationships/notesMaster" Target="/ppt/notesMasters/notesMaster1.xml" Id="R45c218a96ab448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6a1a3171ff43eb" /><Relationship Type="http://schemas.openxmlformats.org/officeDocument/2006/relationships/notesMaster" Target="/ppt/notesMasters/notesMaster1.xml" Id="Rd5e1f4184f5540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998134d6eff479e" /><Relationship Type="http://schemas.openxmlformats.org/officeDocument/2006/relationships/notesMaster" Target="/ppt/notesMasters/notesMaster1.xml" Id="R97b67b783d9d40f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033dcb32564941" /><Relationship Type="http://schemas.openxmlformats.org/officeDocument/2006/relationships/notesMaster" Target="/ppt/notesMasters/notesMaster1.xml" Id="R8e11d51b50c548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1c7e4600d444d5a" /><Relationship Type="http://schemas.openxmlformats.org/officeDocument/2006/relationships/notesMaster" Target="/ppt/notesMasters/notesMaster1.xml" Id="R6c62f4beb3b6482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9db053b0c54faa" /><Relationship Type="http://schemas.openxmlformats.org/officeDocument/2006/relationships/notesMaster" Target="/ppt/notesMasters/notesMaster1.xml" Id="R549d7da3b53747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23021018f1645b1" /><Relationship Type="http://schemas.openxmlformats.org/officeDocument/2006/relationships/notesMaster" Target="/ppt/notesMasters/notesMaster1.xml" Id="Rca895bcab6e149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 reproduced from the original website composition. Source: https://github.com/Biieru/GIUMS.Mediakit (index.html, css/style.css, js/brand.js, assets).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700c7b881c49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9a62ba7121463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5271b8025f4f7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18b011b3eb413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054efa9c8242f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e861b808334c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8DE81A-D26E-44A7-B43B-AE7E2E13BA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4EDB31C-6DB0-4FDF-B045-440D15510F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BA1D414-CE08-421D-937C-97ECD21FCC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165D4F-0A48-4B53-A12D-6C11F73C3E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2D8A0C8-D2AF-4966-8322-C7F3D75231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2280ECC-5902-4C16-A8A1-EB7682EEC9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97BAFF7-7DF1-4D0F-B1C4-BFD7E1D438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D8C6007-69CE-4449-ADE5-A8E7A5CD64B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86E7F00-DEE6-4106-9126-BD4978F191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BF830D6-A571-45C5-A928-04F2ECABA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ae5ecb5e914327" /><Relationship Type="http://schemas.openxmlformats.org/officeDocument/2006/relationships/slideLayout" Target="/ppt/slideLayouts/slideLayout1.xml" Id="Reac567b73b5f447d" /><Relationship Type="http://schemas.openxmlformats.org/officeDocument/2006/relationships/slideLayout" Target="/ppt/slideLayouts/slideLayout2.xml" Id="R19551a3622cf4092" /><Relationship Type="http://schemas.openxmlformats.org/officeDocument/2006/relationships/slideLayout" Target="/ppt/slideLayouts/slideLayout3.xml" Id="Re80424928228416b" /><Relationship Type="http://schemas.openxmlformats.org/officeDocument/2006/relationships/slideLayout" Target="/ppt/slideLayouts/slideLayout4.xml" Id="R262a7753ba1942f1" /><Relationship Type="http://schemas.openxmlformats.org/officeDocument/2006/relationships/slideLayout" Target="/ppt/slideLayouts/slideLayout5.xml" Id="R67ae2a7346d14871" /><Relationship Type="http://schemas.openxmlformats.org/officeDocument/2006/relationships/slideLayout" Target="/ppt/slideLayouts/slideLayout6.xml" Id="R72375e48975145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c567b73b5f447d"/>
    <p:sldLayoutId xmlns:r="http://schemas.openxmlformats.org/officeDocument/2006/relationships" id="2147483650" r:id="R19551a3622cf4092"/>
    <p:sldLayoutId xmlns:r="http://schemas.openxmlformats.org/officeDocument/2006/relationships" id="2147483651" r:id="Re80424928228416b"/>
    <p:sldLayoutId xmlns:r="http://schemas.openxmlformats.org/officeDocument/2006/relationships" id="2147483652" r:id="R262a7753ba1942f1"/>
    <p:sldLayoutId xmlns:r="http://schemas.openxmlformats.org/officeDocument/2006/relationships" id="2147483653" r:id="R67ae2a7346d14871"/>
    <p:sldLayoutId xmlns:r="http://schemas.openxmlformats.org/officeDocument/2006/relationships" id="2147483654" r:id="R72375e48975145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1259e669094726" /><Relationship Type="http://schemas.openxmlformats.org/officeDocument/2006/relationships/image" Target="/ppt/media/image.jpeg" Id="R323ebed4ab694419" /><Relationship Type="http://schemas.openxmlformats.org/officeDocument/2006/relationships/notesSlide" Target="/ppt/notesSlides/notesSlide1.xml" Id="Ra8a24b83bfb24e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21da0289f74492" /><Relationship Type="http://schemas.openxmlformats.org/officeDocument/2006/relationships/image" Target="/ppt/media/image.png" Id="Rc2749048d4ea4f27" /><Relationship Type="http://schemas.openxmlformats.org/officeDocument/2006/relationships/notesSlide" Target="/ppt/notesSlides/notesSlide2.xml" Id="Rd4a071447cec42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0289c8f4764b7f" /><Relationship Type="http://schemas.openxmlformats.org/officeDocument/2006/relationships/notesSlide" Target="/ppt/notesSlides/notesSlide3.xml" Id="Rd3142a122d614c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cf50d2fdb34bf2" /><Relationship Type="http://schemas.openxmlformats.org/officeDocument/2006/relationships/hyperlink" Target="https://www.patreon.com/giums" TargetMode="External" Id="Rdc7cdd40b8864b06" /><Relationship Type="http://schemas.openxmlformats.org/officeDocument/2006/relationships/image" Target="/ppt/media/image2.png" Id="R84e10277bf284803" /><Relationship Type="http://schemas.openxmlformats.org/officeDocument/2006/relationships/image" Target="/ppt/media/image3.png" Id="Re7517d2f03d246a6" /><Relationship Type="http://schemas.openxmlformats.org/officeDocument/2006/relationships/image" Target="/ppt/media/image4.png" Id="R924dfe8da0d04698" /><Relationship Type="http://schemas.openxmlformats.org/officeDocument/2006/relationships/notesSlide" Target="/ppt/notesSlides/notesSlide4.xml" Id="Rca81e02cfa634f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f69be3c8b84c6c" /><Relationship Type="http://schemas.openxmlformats.org/officeDocument/2006/relationships/notesSlide" Target="/ppt/notesSlides/notesSlide5.xml" Id="R5e46a25295aa44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b6de960bd34d6b" /><Relationship Type="http://schemas.openxmlformats.org/officeDocument/2006/relationships/notesSlide" Target="/ppt/notesSlides/notesSlide6.xml" Id="Ra63235a6c1e640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994f759bb74b21" /><Relationship Type="http://schemas.openxmlformats.org/officeDocument/2006/relationships/notesSlide" Target="/ppt/notesSlides/notesSlide7.xml" Id="Rbe466b40128c47f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85e71fa6c040a7" /><Relationship Type="http://schemas.openxmlformats.org/officeDocument/2006/relationships/notesSlide" Target="/ppt/notesSlides/notesSlide8.xml" Id="Rcc0ccaad0599451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6871b917fe4657" /><Relationship Type="http://schemas.openxmlformats.org/officeDocument/2006/relationships/image" Target="/ppt/media/image5.png" Id="R011f119412d7406f" /><Relationship Type="http://schemas.openxmlformats.org/officeDocument/2006/relationships/image" Target="/ppt/media/image6.png" Id="R6c6ced4df1094276" /><Relationship Type="http://schemas.openxmlformats.org/officeDocument/2006/relationships/hyperlink" Target="https://youtu.be/1wZL_RG2Ma4" TargetMode="External" Id="R1c6d1ae8f8d14447" /><Relationship Type="http://schemas.openxmlformats.org/officeDocument/2006/relationships/hyperlink" Target="https://www.instagram.com/reels/CQjiu2mBFcf/" TargetMode="External" Id="R924ab273b6174738" /><Relationship Type="http://schemas.openxmlformats.org/officeDocument/2006/relationships/notesSlide" Target="/ppt/notesSlides/notesSlide9.xml" Id="R1007f7c93ede468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2c0aaf50ac4c55" /><Relationship Type="http://schemas.openxmlformats.org/officeDocument/2006/relationships/hyperlink" Target="mailto:giumsart@gmail.com" TargetMode="External" Id="Re653376e35eb4246" /><Relationship Type="http://schemas.openxmlformats.org/officeDocument/2006/relationships/hyperlink" Target="https://giums.onrender.com" TargetMode="External" Id="R612bf29f5c8647cf" /><Relationship Type="http://schemas.openxmlformats.org/officeDocument/2006/relationships/hyperlink" Target="https://www.instagram.com/giums/" TargetMode="External" Id="R48f1030851844846" /><Relationship Type="http://schemas.openxmlformats.org/officeDocument/2006/relationships/hyperlink" Target="https://bsky.app/profile/giums.bsky.social" TargetMode="External" Id="Rcb1bb9afccd44f83" /><Relationship Type="http://schemas.openxmlformats.org/officeDocument/2006/relationships/hyperlink" Target="https://www.youtube.com/@GIUMSyt" TargetMode="External" Id="Rd4b95fc6880a41d3" /><Relationship Type="http://schemas.openxmlformats.org/officeDocument/2006/relationships/hyperlink" Target="https://www.twitch.tv/giums" TargetMode="External" Id="R195b8ca7e76c4f54" /><Relationship Type="http://schemas.openxmlformats.org/officeDocument/2006/relationships/hyperlink" Target="https://www.patreon.com/giums" TargetMode="External" Id="Rabf966cf9cad46ea" /><Relationship Type="http://schemas.openxmlformats.org/officeDocument/2006/relationships/notesSlide" Target="/ppt/notesSlides/notesSlide10.xml" Id="Ra5bd65d369744ac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EB62EF-7295-4F2F-986D-6F3619045E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3ebed4ab694419"/>
          <a:stretch xmlns:a="http://schemas.openxmlformats.org/drawingml/2006/main"/>
        </p:blipFill>
        <p:spPr>
          <a:xfrm xmlns:a="http://schemas.openxmlformats.org/drawingml/2006/main">
            <a:off x="0" y="265800"/>
            <a:ext cx="12192000" cy="632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4903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40">
            <a:extLst xmlns:a="http://schemas.openxmlformats.org/drawingml/2006/main">
              <a:ext uri="{FF2B5EF4-FFF2-40B4-BE49-F238E27FC236}">
                <a16:creationId xmlns:a16="http://schemas.microsoft.com/office/drawing/2014/main" id="{10590CA1-A5A0-45BE-9A4E-FC4FF997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41">
            <a:extLst xmlns:a="http://schemas.openxmlformats.org/drawingml/2006/main">
              <a:ext uri="{FF2B5EF4-FFF2-40B4-BE49-F238E27FC236}">
                <a16:creationId xmlns:a16="http://schemas.microsoft.com/office/drawing/2014/main" id="{BB29102A-147D-4671-B543-75777FE1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42">
            <a:extLst xmlns:a="http://schemas.openxmlformats.org/drawingml/2006/main">
              <a:ext uri="{FF2B5EF4-FFF2-40B4-BE49-F238E27FC236}">
                <a16:creationId xmlns:a16="http://schemas.microsoft.com/office/drawing/2014/main" id="{CB67C4DD-9792-4B0E-8208-856FA3E9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Quem é</a:t>
            </a:r>
          </a:p>
        </p:txBody>
      </p: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F235BA1A-F3EA-4B4F-B0F3-01CE4437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2 / 10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26B2B6-BF43-4018-93A3-0767D89DF4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49048d4ea4f27"/>
          <a:srcRect xmlns:a="http://schemas.openxmlformats.org/drawingml/2006/main" l="0" t="4591" r="0" b="45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800225"/>
            <a:ext cx="2619375" cy="4229100"/>
          </a:xfrm>
          <a:prstGeom xmlns:a="http://schemas.openxmlformats.org/drawingml/2006/main" prst="rect">
            <a:avLst/>
          </a:prstGeom>
        </p:spPr>
      </p:pic>
      <p:sp>
        <p:nvSpPr>
          <p:cNvPr id="6" name="text-144">
            <a:extLst xmlns:a="http://schemas.openxmlformats.org/drawingml/2006/main">
              <a:ext uri="{FF2B5EF4-FFF2-40B4-BE49-F238E27FC236}">
                <a16:creationId xmlns:a16="http://schemas.microsoft.com/office/drawing/2014/main" id="{AF5FED8E-5311-465B-B079-50C9E224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62125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GIUMS (Giu)</a:t>
            </a:r>
          </a:p>
        </p:txBody>
      </p:sp>
      <p:sp>
        <p:nvSpPr>
          <p:cNvPr id="7" name="text-145">
            <a:extLst xmlns:a="http://schemas.openxmlformats.org/drawingml/2006/main">
              <a:ext uri="{FF2B5EF4-FFF2-40B4-BE49-F238E27FC236}">
                <a16:creationId xmlns:a16="http://schemas.microsoft.com/office/drawing/2014/main" id="{7840607D-1B3F-4FE7-B194-2F772196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600325"/>
            <a:ext cx="75819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Artista visual e ilustradora com foco em design de personagens há mais de 15 anos, tanto nacional quanto internacionalmente, tendo enorme influência da cultura geek, alta fantasia, TCG e principalmente RPG.</a:t>
            </a:r>
          </a:p>
        </p:txBody>
      </p:sp>
      <p:sp>
        <p:nvSpPr>
          <p:cNvPr id="8" name="text-146">
            <a:extLst xmlns:a="http://schemas.openxmlformats.org/drawingml/2006/main">
              <a:ext uri="{FF2B5EF4-FFF2-40B4-BE49-F238E27FC236}">
                <a16:creationId xmlns:a16="http://schemas.microsoft.com/office/drawing/2014/main" id="{AE722DF9-C9FF-4905-844C-8A4E46BA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210050"/>
            <a:ext cx="75819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Atualmente vem trabalhando na plataforma Patreon com criação de comunidade e, ao mesmo tempo, desenvolvendo seu projeto autoral YATHRA, um concept artbook / livro cenário de RPG de alta fantasia capa-e-espada, com inclusão da cultura queer (LGBTQIAPN+) e dragões. Muitos dragões!</a:t>
            </a:r>
          </a:p>
        </p:txBody>
      </p:sp>
      <p:sp>
        <p:nvSpPr>
          <p:cNvPr id="9" name="text-147">
            <a:extLst xmlns:a="http://schemas.openxmlformats.org/drawingml/2006/main">
              <a:ext uri="{FF2B5EF4-FFF2-40B4-BE49-F238E27FC236}">
                <a16:creationId xmlns:a16="http://schemas.microsoft.com/office/drawing/2014/main" id="{1A4A9975-27ED-4D02-9CAC-10334276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43600"/>
            <a:ext cx="758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Idiomas: Português · Inglês</a:t>
            </a:r>
          </a:p>
        </p:txBody>
      </p:sp>
    </p:spTree>
    <p:extLst>
      <p:ext uri="{BB962C8B-B14F-4D97-AF65-F5344CB8AC3E}">
        <p14:creationId xmlns:p14="http://schemas.microsoft.com/office/powerpoint/2010/main" val="13728452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48">
            <a:extLst xmlns:a="http://schemas.openxmlformats.org/drawingml/2006/main">
              <a:ext uri="{FF2B5EF4-FFF2-40B4-BE49-F238E27FC236}">
                <a16:creationId xmlns:a16="http://schemas.microsoft.com/office/drawing/2014/main" id="{215CCDDA-27D4-4E90-9F8F-E131CFBC0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49">
            <a:extLst xmlns:a="http://schemas.openxmlformats.org/drawingml/2006/main">
              <a:ext uri="{FF2B5EF4-FFF2-40B4-BE49-F238E27FC236}">
                <a16:creationId xmlns:a16="http://schemas.microsoft.com/office/drawing/2014/main" id="{AF88DF1D-2C91-4F3E-9B55-EC64B6AD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50">
            <a:extLst xmlns:a="http://schemas.openxmlformats.org/drawingml/2006/main">
              <a:ext uri="{FF2B5EF4-FFF2-40B4-BE49-F238E27FC236}">
                <a16:creationId xmlns:a16="http://schemas.microsoft.com/office/drawing/2014/main" id="{5D0B4B35-839C-4CFB-BACF-CFC078CD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Cocriações</a:t>
            </a:r>
          </a:p>
        </p:txBody>
      </p:sp>
      <p:sp>
        <p:nvSpPr>
          <p:cNvPr id="4" name="text-151">
            <a:extLst xmlns:a="http://schemas.openxmlformats.org/drawingml/2006/main">
              <a:ext uri="{FF2B5EF4-FFF2-40B4-BE49-F238E27FC236}">
                <a16:creationId xmlns:a16="http://schemas.microsoft.com/office/drawing/2014/main" id="{4C9CB12C-FCBA-48E2-A54E-01DF6FB5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3 / 10</a:t>
            </a:r>
          </a:p>
        </p:txBody>
      </p:sp>
      <p:sp>
        <p:nvSpPr>
          <p:cNvPr id="5" name="text-152">
            <a:extLst xmlns:a="http://schemas.openxmlformats.org/drawingml/2006/main">
              <a:ext uri="{FF2B5EF4-FFF2-40B4-BE49-F238E27FC236}">
                <a16:creationId xmlns:a16="http://schemas.microsoft.com/office/drawing/2014/main" id="{280429B8-D460-4343-9D6D-DF478140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RPG de mesa &amp; jogos</a:t>
            </a:r>
          </a:p>
        </p:txBody>
      </p:sp>
      <p:sp>
        <p:nvSpPr>
          <p:cNvPr id="6" name="text-153">
            <a:extLst xmlns:a="http://schemas.openxmlformats.org/drawingml/2006/main">
              <a:ext uri="{FF2B5EF4-FFF2-40B4-BE49-F238E27FC236}">
                <a16:creationId xmlns:a16="http://schemas.microsoft.com/office/drawing/2014/main" id="{2F7754F7-52FD-4F7A-B077-F64ACB2C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52387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Pensada para seu projeto: personagens, criaturas e cenários com consistência visual, prontos para publicar, atendendo a editoras, estúdios de jogos, criadores de TCG e projetos independentes da comunidade.</a:t>
            </a:r>
          </a:p>
        </p:txBody>
      </p:sp>
      <p:sp>
        <p:nvSpPr>
          <p:cNvPr id="7" name="text-154">
            <a:extLst xmlns:a="http://schemas.openxmlformats.org/drawingml/2006/main">
              <a:ext uri="{FF2B5EF4-FFF2-40B4-BE49-F238E27FC236}">
                <a16:creationId xmlns:a16="http://schemas.microsoft.com/office/drawing/2014/main" id="{31DEFE50-9078-4168-9558-AEEFE20B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5260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Conteúdo para marcas</a:t>
            </a:r>
          </a:p>
        </p:txBody>
      </p:sp>
      <p:sp>
        <p:nvSpPr>
          <p:cNvPr id="8" name="text-155">
            <a:extLst xmlns:a="http://schemas.openxmlformats.org/drawingml/2006/main">
              <a:ext uri="{FF2B5EF4-FFF2-40B4-BE49-F238E27FC236}">
                <a16:creationId xmlns:a16="http://schemas.microsoft.com/office/drawing/2014/main" id="{1DB6A918-9988-4BEB-86A5-2DDE279F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19350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Conteúdo especializado em produtos e ferramentas para artistas, conectando marcas ao público.</a:t>
            </a:r>
          </a:p>
        </p:txBody>
      </p:sp>
      <p:sp>
        <p:nvSpPr>
          <p:cNvPr id="9" name="text-156">
            <a:extLst xmlns:a="http://schemas.openxmlformats.org/drawingml/2006/main">
              <a:ext uri="{FF2B5EF4-FFF2-40B4-BE49-F238E27FC236}">
                <a16:creationId xmlns:a16="http://schemas.microsoft.com/office/drawing/2014/main" id="{0BA671C0-F02C-49D4-8D99-D4808FED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Artes para livros e jogos</a:t>
            </a:r>
          </a:p>
        </p:txBody>
      </p:sp>
      <p:sp>
        <p:nvSpPr>
          <p:cNvPr id="10" name="text-157">
            <a:extLst xmlns:a="http://schemas.openxmlformats.org/drawingml/2006/main">
              <a:ext uri="{FF2B5EF4-FFF2-40B4-BE49-F238E27FC236}">
                <a16:creationId xmlns:a16="http://schemas.microsoft.com/office/drawing/2014/main" id="{028AFE62-C692-4A8D-B917-32514916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Ilustrações que ajudam a contar a sua história: capas, páginas internas, cartas e artes de ambientação.</a:t>
            </a:r>
          </a:p>
        </p:txBody>
      </p:sp>
      <p:sp>
        <p:nvSpPr>
          <p:cNvPr id="11" name="text-158">
            <a:extLst xmlns:a="http://schemas.openxmlformats.org/drawingml/2006/main">
              <a:ext uri="{FF2B5EF4-FFF2-40B4-BE49-F238E27FC236}">
                <a16:creationId xmlns:a16="http://schemas.microsoft.com/office/drawing/2014/main" id="{7435B402-6E34-437A-A125-31C1F0C5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Do briefing à arte final</a:t>
            </a:r>
          </a:p>
        </p:txBody>
      </p:sp>
      <p:sp>
        <p:nvSpPr>
          <p:cNvPr id="12" name="text-159">
            <a:extLst xmlns:a="http://schemas.openxmlformats.org/drawingml/2006/main">
              <a:ext uri="{FF2B5EF4-FFF2-40B4-BE49-F238E27FC236}">
                <a16:creationId xmlns:a16="http://schemas.microsoft.com/office/drawing/2014/main" id="{5864449F-D100-4E47-83E6-29D3200C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Personagens autorais, criaturas e reference sheets completos, com diferentes ângulos, expressões, paleta de cores, detalhes de vestuário e itens.</a:t>
            </a:r>
          </a:p>
        </p:txBody>
      </p:sp>
      <p:sp>
        <p:nvSpPr>
          <p:cNvPr id="13" name="text-160">
            <a:extLst xmlns:a="http://schemas.openxmlformats.org/drawingml/2006/main">
              <a:ext uri="{FF2B5EF4-FFF2-40B4-BE49-F238E27FC236}">
                <a16:creationId xmlns:a16="http://schemas.microsoft.com/office/drawing/2014/main" id="{D3A82C3B-1B2A-4469-8723-3830624D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81375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Reviews &amp; testes de produtos</a:t>
            </a:r>
          </a:p>
        </p:txBody>
      </p:sp>
      <p:sp>
        <p:nvSpPr>
          <p:cNvPr id="14" name="text-161">
            <a:extLst xmlns:a="http://schemas.openxmlformats.org/drawingml/2006/main">
              <a:ext uri="{FF2B5EF4-FFF2-40B4-BE49-F238E27FC236}">
                <a16:creationId xmlns:a16="http://schemas.microsoft.com/office/drawing/2014/main" id="{D198328B-7C78-4CC7-A6F8-E44A7B08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Avaliações de ferramentas e materiais para arte digital e tradicional, incluindo mesas digitalizadoras, tablets, canetas digitais, softwares, tintas, pincéis e outros recursos artísticos, explorando qualidade, desempenho e experiência de uso.</a:t>
            </a:r>
          </a:p>
        </p:txBody>
      </p:sp>
      <p:sp>
        <p:nvSpPr>
          <p:cNvPr id="15" name="text-162">
            <a:extLst xmlns:a="http://schemas.openxmlformats.org/drawingml/2006/main">
              <a:ext uri="{FF2B5EF4-FFF2-40B4-BE49-F238E27FC236}">
                <a16:creationId xmlns:a16="http://schemas.microsoft.com/office/drawing/2014/main" id="{B24B103D-28BF-43E0-A3E4-5F4C8444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3875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Conteúdo artístico &amp; demonstrações</a:t>
            </a:r>
          </a:p>
        </p:txBody>
      </p:sp>
      <p:sp>
        <p:nvSpPr>
          <p:cNvPr id="16" name="text-163">
            <a:extLst xmlns:a="http://schemas.openxmlformats.org/drawingml/2006/main">
              <a:ext uri="{FF2B5EF4-FFF2-40B4-BE49-F238E27FC236}">
                <a16:creationId xmlns:a16="http://schemas.microsoft.com/office/drawing/2014/main" id="{5E59186B-FC06-450A-8B41-33A3A19E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48325"/>
            <a:ext cx="523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Produção de ilustrações, tutoriais e demonstrações com produtos digitais e tradicionais, destacando suas aplicações criativas em conteúdos para divulgação.</a:t>
            </a:r>
          </a:p>
        </p:txBody>
      </p:sp>
    </p:spTree>
    <p:extLst>
      <p:ext uri="{BB962C8B-B14F-4D97-AF65-F5344CB8AC3E}">
        <p14:creationId xmlns:p14="http://schemas.microsoft.com/office/powerpoint/2010/main" val="6290988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64">
            <a:extLst xmlns:a="http://schemas.openxmlformats.org/drawingml/2006/main">
              <a:ext uri="{FF2B5EF4-FFF2-40B4-BE49-F238E27FC236}">
                <a16:creationId xmlns:a16="http://schemas.microsoft.com/office/drawing/2014/main" id="{709DC691-7EB5-4148-ADA5-D1339742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65">
            <a:extLst xmlns:a="http://schemas.openxmlformats.org/drawingml/2006/main">
              <a:ext uri="{FF2B5EF4-FFF2-40B4-BE49-F238E27FC236}">
                <a16:creationId xmlns:a16="http://schemas.microsoft.com/office/drawing/2014/main" id="{88CC9CF3-E13B-43D5-9B50-AF3BE0C5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66">
            <a:extLst xmlns:a="http://schemas.openxmlformats.org/drawingml/2006/main">
              <a:ext uri="{FF2B5EF4-FFF2-40B4-BE49-F238E27FC236}">
                <a16:creationId xmlns:a16="http://schemas.microsoft.com/office/drawing/2014/main" id="{4D6B2D48-AC17-4587-80DE-A321B81C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YATHRA</a:t>
            </a:r>
          </a:p>
        </p:txBody>
      </p:sp>
      <p:sp>
        <p:nvSpPr>
          <p:cNvPr id="4" name="text-167">
            <a:extLst xmlns:a="http://schemas.openxmlformats.org/drawingml/2006/main">
              <a:ext uri="{FF2B5EF4-FFF2-40B4-BE49-F238E27FC236}">
                <a16:creationId xmlns:a16="http://schemas.microsoft.com/office/drawing/2014/main" id="{9367B8D5-F299-47A2-B46D-72DE4E0A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4 / 10</a:t>
            </a:r>
          </a:p>
        </p:txBody>
      </p:sp>
      <p:sp>
        <p:nvSpPr>
          <p:cNvPr id="5" name="text-168">
            <a:extLst xmlns:a="http://schemas.openxmlformats.org/drawingml/2006/main">
              <a:ext uri="{FF2B5EF4-FFF2-40B4-BE49-F238E27FC236}">
                <a16:creationId xmlns:a16="http://schemas.microsoft.com/office/drawing/2014/main" id="{9D7BC7B1-E0C8-45E1-8BDE-3420E3214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7A1A"/>
                </a:solidFill>
                <a:latin typeface="Arial"/>
                <a:ea typeface="Arial"/>
                <a:cs typeface="Arial"/>
              </a:rPr>
              <a:t>Um universo original</a:t>
            </a:r>
          </a:p>
        </p:txBody>
      </p:sp>
      <p:sp>
        <p:nvSpPr>
          <p:cNvPr id="6" name="text-169">
            <a:extLst xmlns:a="http://schemas.openxmlformats.org/drawingml/2006/main">
              <a:ext uri="{FF2B5EF4-FFF2-40B4-BE49-F238E27FC236}">
                <a16:creationId xmlns:a16="http://schemas.microsoft.com/office/drawing/2014/main" id="{F0503216-C05A-413B-BF51-6216B90F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953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Projeto de lore e worldbuilding para RPG de mesa, em construção há três anos: um mundo draconiano de conflitos, relações LGBTQIAPN+ e artefatos fantásticos.</a:t>
            </a:r>
          </a:p>
        </p:txBody>
      </p:sp>
      <p:sp>
        <p:nvSpPr>
          <p:cNvPr id="7" name="text-170">
            <a:extLst xmlns:a="http://schemas.openxmlformats.org/drawingml/2006/main">
              <a:ext uri="{FF2B5EF4-FFF2-40B4-BE49-F238E27FC236}">
                <a16:creationId xmlns:a16="http://schemas.microsoft.com/office/drawing/2014/main" id="{93E1512C-DF0E-4A75-9E02-5B7F527C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4953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Apoiadores entram por tiers no Patreon, com itens físicos do universo e sketches originais dos seus próprios OCs.</a:t>
            </a:r>
          </a:p>
        </p:txBody>
      </p:sp>
      <p:sp>
        <p:nvSpPr>
          <p:cNvPr id="8" name="text-171">
            <a:extLst xmlns:a="http://schemas.openxmlformats.org/drawingml/2006/main">
              <a:ext uri="{FF2B5EF4-FFF2-40B4-BE49-F238E27FC236}">
                <a16:creationId xmlns:a16="http://schemas.microsoft.com/office/drawing/2014/main" id="{51BE238F-ABD2-40CB-95A2-67AAE1CDB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7A1A"/>
                </a:solidFill>
                <a:latin typeface="Arial"/>
                <a:ea typeface="Arial"/>
                <a:cs typeface="Arial"/>
                <a:hlinkClick xmlns:r="http://schemas.openxmlformats.org/officeDocument/2006/relationships" r:id="Rdc7cdd40b8864b06"/>
              </a:rPr>
              <a:t>patreon.com/giums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13F8FF-3B0F-4F3E-9EA6-76E869560A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10277bf284803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76950" y="1790700"/>
            <a:ext cx="1657350" cy="3171825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8E93FF-8605-4CAE-A5CA-14B7F8F6C4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517d2f03d246a6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72425" y="2333625"/>
            <a:ext cx="1657350" cy="3171825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31A8B3-F967-4535-AFBC-73B2580498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4dfe8da0d04698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67900" y="2009775"/>
            <a:ext cx="1657350" cy="3171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5499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72">
            <a:extLst xmlns:a="http://schemas.openxmlformats.org/drawingml/2006/main">
              <a:ext uri="{FF2B5EF4-FFF2-40B4-BE49-F238E27FC236}">
                <a16:creationId xmlns:a16="http://schemas.microsoft.com/office/drawing/2014/main" id="{F33305B4-40FE-40D0-B6D0-BD5D8517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73">
            <a:extLst xmlns:a="http://schemas.openxmlformats.org/drawingml/2006/main">
              <a:ext uri="{FF2B5EF4-FFF2-40B4-BE49-F238E27FC236}">
                <a16:creationId xmlns:a16="http://schemas.microsoft.com/office/drawing/2014/main" id="{785964EA-6D04-404F-A301-6CE85AF1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74">
            <a:extLst xmlns:a="http://schemas.openxmlformats.org/drawingml/2006/main">
              <a:ext uri="{FF2B5EF4-FFF2-40B4-BE49-F238E27FC236}">
                <a16:creationId xmlns:a16="http://schemas.microsoft.com/office/drawing/2014/main" id="{1080C4A6-43EC-4524-A3FA-DE5F2150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Audiência &amp; alcance</a:t>
            </a:r>
          </a:p>
        </p:txBody>
      </p:sp>
      <p:sp>
        <p:nvSpPr>
          <p:cNvPr id="4" name="text-175">
            <a:extLst xmlns:a="http://schemas.openxmlformats.org/drawingml/2006/main">
              <a:ext uri="{FF2B5EF4-FFF2-40B4-BE49-F238E27FC236}">
                <a16:creationId xmlns:a16="http://schemas.microsoft.com/office/drawing/2014/main" id="{7D01F4D3-803C-4346-B456-A3AB4053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5 / 10</a:t>
            </a:r>
          </a:p>
        </p:txBody>
      </p:sp>
      <p:sp>
        <p:nvSpPr>
          <p:cNvPr id="5" name="text-176">
            <a:extLst xmlns:a="http://schemas.openxmlformats.org/drawingml/2006/main">
              <a:ext uri="{FF2B5EF4-FFF2-40B4-BE49-F238E27FC236}">
                <a16:creationId xmlns:a16="http://schemas.microsoft.com/office/drawing/2014/main" id="{3F802ACC-333B-4F0D-B0CF-675422DD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Números de out/2026.</a:t>
            </a:r>
          </a:p>
        </p:txBody>
      </p:sp>
      <p:sp>
        <p:nvSpPr>
          <p:cNvPr id="6" name="text-177">
            <a:extLst xmlns:a="http://schemas.openxmlformats.org/drawingml/2006/main">
              <a:ext uri="{FF2B5EF4-FFF2-40B4-BE49-F238E27FC236}">
                <a16:creationId xmlns:a16="http://schemas.microsoft.com/office/drawing/2014/main" id="{EE25DBBE-0025-40BB-835E-795BA15F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Instagram</a:t>
            </a:r>
          </a:p>
        </p:txBody>
      </p:sp>
      <p:sp>
        <p:nvSpPr>
          <p:cNvPr id="7" name="text-178">
            <a:extLst xmlns:a="http://schemas.openxmlformats.org/drawingml/2006/main">
              <a:ext uri="{FF2B5EF4-FFF2-40B4-BE49-F238E27FC236}">
                <a16:creationId xmlns:a16="http://schemas.microsoft.com/office/drawing/2014/main" id="{DFA06B19-D748-4285-90C5-76BCCEA3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096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55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16.4K</a:t>
            </a:r>
          </a:p>
        </p:txBody>
      </p:sp>
      <p:sp>
        <p:nvSpPr>
          <p:cNvPr id="8" name="text-179">
            <a:extLst xmlns:a="http://schemas.openxmlformats.org/drawingml/2006/main">
              <a:ext uri="{FF2B5EF4-FFF2-40B4-BE49-F238E27FC236}">
                <a16:creationId xmlns:a16="http://schemas.microsoft.com/office/drawing/2014/main" id="{8A432B55-5F92-4F5A-AA03-71E83FA0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590925"/>
            <a:ext cx="609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seguidores</a:t>
            </a:r>
          </a:p>
        </p:txBody>
      </p:sp>
      <p:sp>
        <p:nvSpPr>
          <p:cNvPr id="9" name="text-180">
            <a:extLst xmlns:a="http://schemas.openxmlformats.org/drawingml/2006/main">
              <a:ext uri="{FF2B5EF4-FFF2-40B4-BE49-F238E27FC236}">
                <a16:creationId xmlns:a16="http://schemas.microsoft.com/office/drawing/2014/main" id="{F45F04F5-2953-4D0F-903B-A6578879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5.08%</a:t>
            </a:r>
          </a:p>
        </p:txBody>
      </p:sp>
      <p:sp>
        <p:nvSpPr>
          <p:cNvPr id="10" name="text-181">
            <a:extLst xmlns:a="http://schemas.openxmlformats.org/drawingml/2006/main">
              <a:ext uri="{FF2B5EF4-FFF2-40B4-BE49-F238E27FC236}">
                <a16:creationId xmlns:a16="http://schemas.microsoft.com/office/drawing/2014/main" id="{6FBDE79D-F80C-4689-A10B-96ED7840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taxa de engajamento média</a:t>
            </a:r>
          </a:p>
        </p:txBody>
      </p:sp>
      <p:sp>
        <p:nvSpPr>
          <p:cNvPr id="11" name="text-182">
            <a:extLst xmlns:a="http://schemas.openxmlformats.org/drawingml/2006/main">
              <a:ext uri="{FF2B5EF4-FFF2-40B4-BE49-F238E27FC236}">
                <a16:creationId xmlns:a16="http://schemas.microsoft.com/office/drawing/2014/main" id="{8D80DFCF-1CBB-439B-8345-25C365B6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835</a:t>
            </a:r>
          </a:p>
        </p:txBody>
      </p:sp>
      <p:sp>
        <p:nvSpPr>
          <p:cNvPr id="12" name="text-183">
            <a:extLst xmlns:a="http://schemas.openxmlformats.org/drawingml/2006/main">
              <a:ext uri="{FF2B5EF4-FFF2-40B4-BE49-F238E27FC236}">
                <a16:creationId xmlns:a16="http://schemas.microsoft.com/office/drawing/2014/main" id="{E439E6F8-7162-4703-9472-B8364DC2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média de curtidas por post</a:t>
            </a:r>
          </a:p>
        </p:txBody>
      </p:sp>
      <p:sp>
        <p:nvSpPr>
          <p:cNvPr id="13" name="text-184">
            <a:extLst xmlns:a="http://schemas.openxmlformats.org/drawingml/2006/main">
              <a:ext uri="{FF2B5EF4-FFF2-40B4-BE49-F238E27FC236}">
                <a16:creationId xmlns:a16="http://schemas.microsoft.com/office/drawing/2014/main" id="{9D1045C9-33E3-421E-BF00-3DA34C4D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31</a:t>
            </a:r>
          </a:p>
        </p:txBody>
      </p:sp>
      <p:sp>
        <p:nvSpPr>
          <p:cNvPr id="14" name="text-185">
            <a:extLst xmlns:a="http://schemas.openxmlformats.org/drawingml/2006/main">
              <a:ext uri="{FF2B5EF4-FFF2-40B4-BE49-F238E27FC236}">
                <a16:creationId xmlns:a16="http://schemas.microsoft.com/office/drawing/2014/main" id="{21101EE3-F330-4222-B890-D7E9730F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média de comentários por post</a:t>
            </a:r>
          </a:p>
        </p:txBody>
      </p:sp>
      <p:sp>
        <p:nvSpPr>
          <p:cNvPr id="15" name="text-186">
            <a:extLst xmlns:a="http://schemas.openxmlformats.org/drawingml/2006/main">
              <a:ext uri="{FF2B5EF4-FFF2-40B4-BE49-F238E27FC236}">
                <a16:creationId xmlns:a16="http://schemas.microsoft.com/office/drawing/2014/main" id="{8BBAFC08-4A87-4BCF-AF6E-0EBDF0BE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7645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Patreon</a:t>
            </a:r>
          </a:p>
        </p:txBody>
      </p:sp>
      <p:sp>
        <p:nvSpPr>
          <p:cNvPr id="16" name="text-187">
            <a:extLst xmlns:a="http://schemas.openxmlformats.org/drawingml/2006/main">
              <a:ext uri="{FF2B5EF4-FFF2-40B4-BE49-F238E27FC236}">
                <a16:creationId xmlns:a16="http://schemas.microsoft.com/office/drawing/2014/main" id="{D8EE0BDC-F537-4A0E-BAFB-B9397230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81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86 / 17</a:t>
            </a:r>
          </a:p>
        </p:txBody>
      </p:sp>
      <p:sp>
        <p:nvSpPr>
          <p:cNvPr id="17" name="text-188">
            <a:extLst xmlns:a="http://schemas.openxmlformats.org/drawingml/2006/main">
              <a:ext uri="{FF2B5EF4-FFF2-40B4-BE49-F238E27FC236}">
                <a16:creationId xmlns:a16="http://schemas.microsoft.com/office/drawing/2014/main" id="{4811672B-A5CD-4DDA-8861-32D2014A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86175"/>
            <a:ext cx="371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seguidores / assinantes pagos</a:t>
            </a:r>
          </a:p>
        </p:txBody>
      </p:sp>
      <p:sp>
        <p:nvSpPr>
          <p:cNvPr id="18" name="text-189">
            <a:extLst xmlns:a="http://schemas.openxmlformats.org/drawingml/2006/main">
              <a:ext uri="{FF2B5EF4-FFF2-40B4-BE49-F238E27FC236}">
                <a16:creationId xmlns:a16="http://schemas.microsoft.com/office/drawing/2014/main" id="{DA1D8791-C757-4BE8-84EA-B413418B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10100"/>
            <a:ext cx="3714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1 a cada 5 seguidores é assinante pago.</a:t>
            </a:r>
          </a:p>
        </p:txBody>
      </p:sp>
      <p:sp>
        <p:nvSpPr>
          <p:cNvPr id="19" name="text-190">
            <a:extLst xmlns:a="http://schemas.openxmlformats.org/drawingml/2006/main">
              <a:ext uri="{FF2B5EF4-FFF2-40B4-BE49-F238E27FC236}">
                <a16:creationId xmlns:a16="http://schemas.microsoft.com/office/drawing/2014/main" id="{C49DC413-FD0F-4C01-B5DA-81C8E172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audiência total · Instagram + Patreon: 16.5K</a:t>
            </a:r>
          </a:p>
        </p:txBody>
      </p:sp>
    </p:spTree>
    <p:extLst>
      <p:ext uri="{BB962C8B-B14F-4D97-AF65-F5344CB8AC3E}">
        <p14:creationId xmlns:p14="http://schemas.microsoft.com/office/powerpoint/2010/main" val="17767390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191">
            <a:extLst xmlns:a="http://schemas.openxmlformats.org/drawingml/2006/main">
              <a:ext uri="{FF2B5EF4-FFF2-40B4-BE49-F238E27FC236}">
                <a16:creationId xmlns:a16="http://schemas.microsoft.com/office/drawing/2014/main" id="{7A5FD643-FAC2-4052-A8DF-E8716344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92">
            <a:extLst xmlns:a="http://schemas.openxmlformats.org/drawingml/2006/main">
              <a:ext uri="{FF2B5EF4-FFF2-40B4-BE49-F238E27FC236}">
                <a16:creationId xmlns:a16="http://schemas.microsoft.com/office/drawing/2014/main" id="{96A9BA3A-1A12-4422-B902-05B33DEA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93">
            <a:extLst xmlns:a="http://schemas.openxmlformats.org/drawingml/2006/main">
              <a:ext uri="{FF2B5EF4-FFF2-40B4-BE49-F238E27FC236}">
                <a16:creationId xmlns:a16="http://schemas.microsoft.com/office/drawing/2014/main" id="{E40B2E25-34C2-4F54-AC72-52DFF236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Alcance e comunidade</a:t>
            </a:r>
          </a:p>
        </p:txBody>
      </p:sp>
      <p:sp>
        <p:nvSpPr>
          <p:cNvPr id="4" name="text-194">
            <a:extLst xmlns:a="http://schemas.openxmlformats.org/drawingml/2006/main">
              <a:ext uri="{FF2B5EF4-FFF2-40B4-BE49-F238E27FC236}">
                <a16:creationId xmlns:a16="http://schemas.microsoft.com/office/drawing/2014/main" id="{D215F35B-1D8A-4B1E-AA22-873CBE0E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6 / 10</a:t>
            </a:r>
          </a:p>
        </p:txBody>
      </p:sp>
      <p:sp>
        <p:nvSpPr>
          <p:cNvPr id="5" name="text-195">
            <a:extLst xmlns:a="http://schemas.openxmlformats.org/drawingml/2006/main">
              <a:ext uri="{FF2B5EF4-FFF2-40B4-BE49-F238E27FC236}">
                <a16:creationId xmlns:a16="http://schemas.microsoft.com/office/drawing/2014/main" id="{DD35E292-7507-4629-ACB4-92D4C1AC5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37.9K</a:t>
            </a:r>
          </a:p>
        </p:txBody>
      </p:sp>
      <p:sp>
        <p:nvSpPr>
          <p:cNvPr id="6" name="text-196">
            <a:extLst xmlns:a="http://schemas.openxmlformats.org/drawingml/2006/main">
              <a:ext uri="{FF2B5EF4-FFF2-40B4-BE49-F238E27FC236}">
                <a16:creationId xmlns:a16="http://schemas.microsoft.com/office/drawing/2014/main" id="{C954C253-E273-4E80-8126-5091B726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visualizações em 30 dias</a:t>
            </a:r>
          </a:p>
        </p:txBody>
      </p:sp>
      <p:sp>
        <p:nvSpPr>
          <p:cNvPr id="7" name="text-197">
            <a:extLst xmlns:a="http://schemas.openxmlformats.org/drawingml/2006/main">
              <a:ext uri="{FF2B5EF4-FFF2-40B4-BE49-F238E27FC236}">
                <a16:creationId xmlns:a16="http://schemas.microsoft.com/office/drawing/2014/main" id="{B8D7CDD7-58DC-40FB-AF58-A1F76ECE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9,090</a:t>
            </a:r>
          </a:p>
        </p:txBody>
      </p:sp>
      <p:sp>
        <p:nvSpPr>
          <p:cNvPr id="8" name="text-198">
            <a:extLst xmlns:a="http://schemas.openxmlformats.org/drawingml/2006/main">
              <a:ext uri="{FF2B5EF4-FFF2-40B4-BE49-F238E27FC236}">
                <a16:creationId xmlns:a16="http://schemas.microsoft.com/office/drawing/2014/main" id="{57D833DC-07D0-4FCD-B9E2-26FDFC84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contas que viram o conteúdo</a:t>
            </a:r>
          </a:p>
        </p:txBody>
      </p:sp>
      <p:sp>
        <p:nvSpPr>
          <p:cNvPr id="9" name="text-199">
            <a:extLst xmlns:a="http://schemas.openxmlformats.org/drawingml/2006/main">
              <a:ext uri="{FF2B5EF4-FFF2-40B4-BE49-F238E27FC236}">
                <a16:creationId xmlns:a16="http://schemas.microsoft.com/office/drawing/2014/main" id="{3EFB8624-8FD8-460F-9FF2-DB9B183E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+116</a:t>
            </a:r>
          </a:p>
        </p:txBody>
      </p:sp>
      <p:sp>
        <p:nvSpPr>
          <p:cNvPr id="10" name="text-200">
            <a:extLst xmlns:a="http://schemas.openxmlformats.org/drawingml/2006/main">
              <a:ext uri="{FF2B5EF4-FFF2-40B4-BE49-F238E27FC236}">
                <a16:creationId xmlns:a16="http://schemas.microsoft.com/office/drawing/2014/main" id="{AB6082E0-D63F-4A79-A1D6-2A41F9C0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seguidores líquidos em 30 dias</a:t>
            </a:r>
          </a:p>
        </p:txBody>
      </p:sp>
      <p:sp>
        <p:nvSpPr>
          <p:cNvPr id="11" name="text-201">
            <a:extLst xmlns:a="http://schemas.openxmlformats.org/drawingml/2006/main">
              <a:ext uri="{FF2B5EF4-FFF2-40B4-BE49-F238E27FC236}">
                <a16:creationId xmlns:a16="http://schemas.microsoft.com/office/drawing/2014/main" id="{7D6F0D70-3758-45F9-AE7B-A53EEAF2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Patreon</a:t>
            </a:r>
          </a:p>
        </p:txBody>
      </p:sp>
      <p:sp>
        <p:nvSpPr>
          <p:cNvPr id="12" name="text-202">
            <a:extLst xmlns:a="http://schemas.openxmlformats.org/drawingml/2006/main">
              <a:ext uri="{FF2B5EF4-FFF2-40B4-BE49-F238E27FC236}">
                <a16:creationId xmlns:a16="http://schemas.microsoft.com/office/drawing/2014/main" id="{CC9BB8EE-48CA-4BC0-B5CB-FEAD3F1D4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572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Apoiadores recebem wallpapers mensais, lore do mundo, sketches, adesivos e prints exclusivos, WIPs, GIFs, packs de brushes e acesso à comunidade no Discord.</a:t>
            </a:r>
          </a:p>
        </p:txBody>
      </p:sp>
      <p:sp>
        <p:nvSpPr>
          <p:cNvPr id="13" name="text-203">
            <a:extLst xmlns:a="http://schemas.openxmlformats.org/drawingml/2006/main">
              <a:ext uri="{FF2B5EF4-FFF2-40B4-BE49-F238E27FC236}">
                <a16:creationId xmlns:a16="http://schemas.microsoft.com/office/drawing/2014/main" id="{28D4E00B-BF49-47BF-8083-11BEBDA5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Números de out/2026.</a:t>
            </a:r>
          </a:p>
        </p:txBody>
      </p:sp>
    </p:spTree>
    <p:extLst>
      <p:ext uri="{BB962C8B-B14F-4D97-AF65-F5344CB8AC3E}">
        <p14:creationId xmlns:p14="http://schemas.microsoft.com/office/powerpoint/2010/main" val="225693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04">
            <a:extLst xmlns:a="http://schemas.openxmlformats.org/drawingml/2006/main">
              <a:ext uri="{FF2B5EF4-FFF2-40B4-BE49-F238E27FC236}">
                <a16:creationId xmlns:a16="http://schemas.microsoft.com/office/drawing/2014/main" id="{B7716FD4-F7C5-465D-9449-620DD20A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05">
            <a:extLst xmlns:a="http://schemas.openxmlformats.org/drawingml/2006/main">
              <a:ext uri="{FF2B5EF4-FFF2-40B4-BE49-F238E27FC236}">
                <a16:creationId xmlns:a16="http://schemas.microsoft.com/office/drawing/2014/main" id="{D0D2D711-652B-40C0-8023-0CD2898F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206">
            <a:extLst xmlns:a="http://schemas.openxmlformats.org/drawingml/2006/main">
              <a:ext uri="{FF2B5EF4-FFF2-40B4-BE49-F238E27FC236}">
                <a16:creationId xmlns:a16="http://schemas.microsoft.com/office/drawing/2014/main" id="{D22BEE82-3D61-4C8B-A9E2-2029063C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Perfil do público</a:t>
            </a:r>
          </a:p>
        </p:txBody>
      </p:sp>
      <p:sp>
        <p:nvSpPr>
          <p:cNvPr id="4" name="text-207">
            <a:extLst xmlns:a="http://schemas.openxmlformats.org/drawingml/2006/main">
              <a:ext uri="{FF2B5EF4-FFF2-40B4-BE49-F238E27FC236}">
                <a16:creationId xmlns:a16="http://schemas.microsoft.com/office/drawing/2014/main" id="{EF5ED1DB-3F5F-4202-BC27-30423383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5" name="text-208">
            <a:extLst xmlns:a="http://schemas.openxmlformats.org/drawingml/2006/main">
              <a:ext uri="{FF2B5EF4-FFF2-40B4-BE49-F238E27FC236}">
                <a16:creationId xmlns:a16="http://schemas.microsoft.com/office/drawing/2014/main" id="{5E0D11CE-F721-4BD7-AC2A-94880410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Faixa etária</a:t>
            </a:r>
          </a:p>
        </p:txBody>
      </p:sp>
      <p:sp>
        <p:nvSpPr>
          <p:cNvPr id="6" name="text-209">
            <a:extLst xmlns:a="http://schemas.openxmlformats.org/drawingml/2006/main">
              <a:ext uri="{FF2B5EF4-FFF2-40B4-BE49-F238E27FC236}">
                <a16:creationId xmlns:a16="http://schemas.microsoft.com/office/drawing/2014/main" id="{B337B7E1-DE11-4ECD-BAE5-CFC93E43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13–24</a:t>
            </a:r>
          </a:p>
        </p:txBody>
      </p:sp>
      <p:sp>
        <p:nvSpPr>
          <p:cNvPr id="7" name="text-210">
            <a:extLst xmlns:a="http://schemas.openxmlformats.org/drawingml/2006/main">
              <a:ext uri="{FF2B5EF4-FFF2-40B4-BE49-F238E27FC236}">
                <a16:creationId xmlns:a16="http://schemas.microsoft.com/office/drawing/2014/main" id="{98216CE3-3654-4015-80D0-14932DC0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669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23.6%</a:t>
            </a:r>
          </a:p>
        </p:txBody>
      </p:sp>
      <p:sp>
        <p:nvSpPr>
          <p:cNvPr id="8" name="text-211">
            <a:extLst xmlns:a="http://schemas.openxmlformats.org/drawingml/2006/main">
              <a:ext uri="{FF2B5EF4-FFF2-40B4-BE49-F238E27FC236}">
                <a16:creationId xmlns:a16="http://schemas.microsoft.com/office/drawing/2014/main" id="{1EEFCE6A-8501-4400-897B-E4B9B733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25–34</a:t>
            </a:r>
          </a:p>
        </p:txBody>
      </p:sp>
      <p:sp>
        <p:nvSpPr>
          <p:cNvPr id="9" name="text-212">
            <a:extLst xmlns:a="http://schemas.openxmlformats.org/drawingml/2006/main">
              <a:ext uri="{FF2B5EF4-FFF2-40B4-BE49-F238E27FC236}">
                <a16:creationId xmlns:a16="http://schemas.microsoft.com/office/drawing/2014/main" id="{B5758918-29F5-40E4-9F18-994C12E2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1051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55.4%</a:t>
            </a:r>
          </a:p>
        </p:txBody>
      </p:sp>
      <p:sp>
        <p:nvSpPr>
          <p:cNvPr id="10" name="text-213">
            <a:extLst xmlns:a="http://schemas.openxmlformats.org/drawingml/2006/main">
              <a:ext uri="{FF2B5EF4-FFF2-40B4-BE49-F238E27FC236}">
                <a16:creationId xmlns:a16="http://schemas.microsoft.com/office/drawing/2014/main" id="{FCD92282-8C57-44C0-A48A-D77343F8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35–44</a:t>
            </a:r>
          </a:p>
        </p:txBody>
      </p:sp>
      <p:sp>
        <p:nvSpPr>
          <p:cNvPr id="11" name="text-214">
            <a:extLst xmlns:a="http://schemas.openxmlformats.org/drawingml/2006/main">
              <a:ext uri="{FF2B5EF4-FFF2-40B4-BE49-F238E27FC236}">
                <a16:creationId xmlns:a16="http://schemas.microsoft.com/office/drawing/2014/main" id="{124C4529-22DE-4F01-8B9C-9A9DB442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74332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16.9%</a:t>
            </a:r>
          </a:p>
        </p:txBody>
      </p:sp>
      <p:sp>
        <p:nvSpPr>
          <p:cNvPr id="12" name="text-215">
            <a:extLst xmlns:a="http://schemas.openxmlformats.org/drawingml/2006/main">
              <a:ext uri="{FF2B5EF4-FFF2-40B4-BE49-F238E27FC236}">
                <a16:creationId xmlns:a16="http://schemas.microsoft.com/office/drawing/2014/main" id="{0DDC6F55-7A3F-4C9B-B1A9-41DD4E05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45+</a:t>
            </a:r>
          </a:p>
        </p:txBody>
      </p:sp>
      <p:sp>
        <p:nvSpPr>
          <p:cNvPr id="13" name="text-216">
            <a:extLst xmlns:a="http://schemas.openxmlformats.org/drawingml/2006/main">
              <a:ext uri="{FF2B5EF4-FFF2-40B4-BE49-F238E27FC236}">
                <a16:creationId xmlns:a16="http://schemas.microsoft.com/office/drawing/2014/main" id="{91EBA187-D9FC-41B2-860F-03C0DD6F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3815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4.2%</a:t>
            </a:r>
          </a:p>
        </p:txBody>
      </p:sp>
      <p:sp>
        <p:nvSpPr>
          <p:cNvPr id="14" name="text-217">
            <a:extLst xmlns:a="http://schemas.openxmlformats.org/drawingml/2006/main">
              <a:ext uri="{FF2B5EF4-FFF2-40B4-BE49-F238E27FC236}">
                <a16:creationId xmlns:a16="http://schemas.microsoft.com/office/drawing/2014/main" id="{49586D03-38D5-417F-B8D5-DE9BAC3C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78117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Gênero</a:t>
            </a:r>
          </a:p>
        </p:txBody>
      </p:sp>
      <p:sp>
        <p:nvSpPr>
          <p:cNvPr id="15" name="text-218">
            <a:extLst xmlns:a="http://schemas.openxmlformats.org/drawingml/2006/main">
              <a:ext uri="{FF2B5EF4-FFF2-40B4-BE49-F238E27FC236}">
                <a16:creationId xmlns:a16="http://schemas.microsoft.com/office/drawing/2014/main" id="{09D53653-B0BD-4474-916E-16F71899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66975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Mulheres</a:t>
            </a:r>
          </a:p>
        </p:txBody>
      </p:sp>
      <p:sp>
        <p:nvSpPr>
          <p:cNvPr id="16" name="text-219">
            <a:extLst xmlns:a="http://schemas.openxmlformats.org/drawingml/2006/main">
              <a:ext uri="{FF2B5EF4-FFF2-40B4-BE49-F238E27FC236}">
                <a16:creationId xmlns:a16="http://schemas.microsoft.com/office/drawing/2014/main" id="{FFAB701C-EE57-4BF9-BF32-83BE4D9A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66975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61.7%</a:t>
            </a:r>
          </a:p>
        </p:txBody>
      </p:sp>
      <p:sp>
        <p:nvSpPr>
          <p:cNvPr id="17" name="text-220">
            <a:extLst xmlns:a="http://schemas.openxmlformats.org/drawingml/2006/main">
              <a:ext uri="{FF2B5EF4-FFF2-40B4-BE49-F238E27FC236}">
                <a16:creationId xmlns:a16="http://schemas.microsoft.com/office/drawing/2014/main" id="{2BBEA905-7913-44DD-AB1D-9DE07DE1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0515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Homens</a:t>
            </a:r>
          </a:p>
        </p:txBody>
      </p:sp>
      <p:sp>
        <p:nvSpPr>
          <p:cNvPr id="18" name="text-221">
            <a:extLst xmlns:a="http://schemas.openxmlformats.org/drawingml/2006/main">
              <a:ext uri="{FF2B5EF4-FFF2-40B4-BE49-F238E27FC236}">
                <a16:creationId xmlns:a16="http://schemas.microsoft.com/office/drawing/2014/main" id="{84ABB5BA-E61E-484E-AE48-F0673413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05150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38.3%</a:t>
            </a:r>
          </a:p>
        </p:txBody>
      </p:sp>
      <p:sp>
        <p:nvSpPr>
          <p:cNvPr id="19" name="text-222">
            <a:extLst xmlns:a="http://schemas.openxmlformats.org/drawingml/2006/main">
              <a:ext uri="{FF2B5EF4-FFF2-40B4-BE49-F238E27FC236}">
                <a16:creationId xmlns:a16="http://schemas.microsoft.com/office/drawing/2014/main" id="{70BD3199-86A0-4654-9495-8AF04A531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Principais cidades</a:t>
            </a:r>
          </a:p>
        </p:txBody>
      </p:sp>
      <p:sp>
        <p:nvSpPr>
          <p:cNvPr id="20" name="text-223">
            <a:extLst xmlns:a="http://schemas.openxmlformats.org/drawingml/2006/main">
              <a:ext uri="{FF2B5EF4-FFF2-40B4-BE49-F238E27FC236}">
                <a16:creationId xmlns:a16="http://schemas.microsoft.com/office/drawing/2014/main" id="{D7F9FA21-3426-4C4B-9E75-DC3D1011E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4669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Fortaleza</a:t>
            </a:r>
          </a:p>
        </p:txBody>
      </p:sp>
      <p:sp>
        <p:nvSpPr>
          <p:cNvPr id="21" name="text-224">
            <a:extLst xmlns:a="http://schemas.openxmlformats.org/drawingml/2006/main">
              <a:ext uri="{FF2B5EF4-FFF2-40B4-BE49-F238E27FC236}">
                <a16:creationId xmlns:a16="http://schemas.microsoft.com/office/drawing/2014/main" id="{BD3F646F-923A-4444-8E67-CBA2713B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4669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3.1%</a:t>
            </a:r>
          </a:p>
        </p:txBody>
      </p:sp>
      <p:sp>
        <p:nvSpPr>
          <p:cNvPr id="22" name="text-225">
            <a:extLst xmlns:a="http://schemas.openxmlformats.org/drawingml/2006/main">
              <a:ext uri="{FF2B5EF4-FFF2-40B4-BE49-F238E27FC236}">
                <a16:creationId xmlns:a16="http://schemas.microsoft.com/office/drawing/2014/main" id="{437CFED1-B4B8-4C93-A357-252ADA1D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5752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São Paulo</a:t>
            </a:r>
          </a:p>
        </p:txBody>
      </p:sp>
      <p:sp>
        <p:nvSpPr>
          <p:cNvPr id="23" name="text-226">
            <a:extLst xmlns:a="http://schemas.openxmlformats.org/drawingml/2006/main">
              <a:ext uri="{FF2B5EF4-FFF2-40B4-BE49-F238E27FC236}">
                <a16:creationId xmlns:a16="http://schemas.microsoft.com/office/drawing/2014/main" id="{B0DBFC6D-09DA-4823-9CAE-3A165012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0575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2.7%</a:t>
            </a:r>
          </a:p>
        </p:txBody>
      </p:sp>
      <p:sp>
        <p:nvSpPr>
          <p:cNvPr id="24" name="text-227">
            <a:extLst xmlns:a="http://schemas.openxmlformats.org/drawingml/2006/main">
              <a:ext uri="{FF2B5EF4-FFF2-40B4-BE49-F238E27FC236}">
                <a16:creationId xmlns:a16="http://schemas.microsoft.com/office/drawing/2014/main" id="{BBABEDDD-8CF1-470A-AD1D-F1753FFF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6480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Recife</a:t>
            </a:r>
          </a:p>
        </p:txBody>
      </p:sp>
      <p:sp>
        <p:nvSpPr>
          <p:cNvPr id="25" name="text-228">
            <a:extLst xmlns:a="http://schemas.openxmlformats.org/drawingml/2006/main">
              <a:ext uri="{FF2B5EF4-FFF2-40B4-BE49-F238E27FC236}">
                <a16:creationId xmlns:a16="http://schemas.microsoft.com/office/drawing/2014/main" id="{CE017F74-A107-4C3B-B10E-0AAF6679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6480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2.3%</a:t>
            </a:r>
          </a:p>
        </p:txBody>
      </p:sp>
      <p:sp>
        <p:nvSpPr>
          <p:cNvPr id="26" name="text-229">
            <a:extLst xmlns:a="http://schemas.openxmlformats.org/drawingml/2006/main">
              <a:ext uri="{FF2B5EF4-FFF2-40B4-BE49-F238E27FC236}">
                <a16:creationId xmlns:a16="http://schemas.microsoft.com/office/drawing/2014/main" id="{928A6D9A-2D63-4B5B-9C82-BF1281C6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23862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João Pessoa</a:t>
            </a:r>
          </a:p>
        </p:txBody>
      </p:sp>
      <p:sp>
        <p:nvSpPr>
          <p:cNvPr id="27" name="text-230">
            <a:extLst xmlns:a="http://schemas.openxmlformats.org/drawingml/2006/main">
              <a:ext uri="{FF2B5EF4-FFF2-40B4-BE49-F238E27FC236}">
                <a16:creationId xmlns:a16="http://schemas.microsoft.com/office/drawing/2014/main" id="{1B9122A5-5961-410F-8D4D-A74D65C9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386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1.0%</a:t>
            </a:r>
          </a:p>
        </p:txBody>
      </p:sp>
      <p:sp>
        <p:nvSpPr>
          <p:cNvPr id="28" name="text-231">
            <a:extLst xmlns:a="http://schemas.openxmlformats.org/drawingml/2006/main">
              <a:ext uri="{FF2B5EF4-FFF2-40B4-BE49-F238E27FC236}">
                <a16:creationId xmlns:a16="http://schemas.microsoft.com/office/drawing/2014/main" id="{2DDDC82C-B4FF-4076-8605-EEFA6858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91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Rio de Janeiro</a:t>
            </a:r>
          </a:p>
        </p:txBody>
      </p:sp>
      <p:sp>
        <p:nvSpPr>
          <p:cNvPr id="29" name="text-232">
            <a:extLst xmlns:a="http://schemas.openxmlformats.org/drawingml/2006/main">
              <a:ext uri="{FF2B5EF4-FFF2-40B4-BE49-F238E27FC236}">
                <a16:creationId xmlns:a16="http://schemas.microsoft.com/office/drawing/2014/main" id="{2507065D-715E-4B00-AF27-5E3C2F17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8291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0.6%</a:t>
            </a:r>
          </a:p>
        </p:txBody>
      </p:sp>
      <p:sp>
        <p:nvSpPr>
          <p:cNvPr id="30" name="text-233">
            <a:extLst xmlns:a="http://schemas.openxmlformats.org/drawingml/2006/main">
              <a:ext uri="{FF2B5EF4-FFF2-40B4-BE49-F238E27FC236}">
                <a16:creationId xmlns:a16="http://schemas.microsoft.com/office/drawing/2014/main" id="{80F40E15-90EC-4B23-8D70-DFE547D0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Fonte: Instagram Insights · out/2026</a:t>
            </a:r>
          </a:p>
        </p:txBody>
      </p:sp>
    </p:spTree>
    <p:extLst>
      <p:ext uri="{BB962C8B-B14F-4D97-AF65-F5344CB8AC3E}">
        <p14:creationId xmlns:p14="http://schemas.microsoft.com/office/powerpoint/2010/main" val="11920174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34">
            <a:extLst xmlns:a="http://schemas.openxmlformats.org/drawingml/2006/main">
              <a:ext uri="{FF2B5EF4-FFF2-40B4-BE49-F238E27FC236}">
                <a16:creationId xmlns:a16="http://schemas.microsoft.com/office/drawing/2014/main" id="{4B0A30A2-97AD-47E8-AC5F-1DE8C759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35">
            <a:extLst xmlns:a="http://schemas.openxmlformats.org/drawingml/2006/main">
              <a:ext uri="{FF2B5EF4-FFF2-40B4-BE49-F238E27FC236}">
                <a16:creationId xmlns:a16="http://schemas.microsoft.com/office/drawing/2014/main" id="{F7E6CA34-57E3-472B-BE83-8A575A5A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236">
            <a:extLst xmlns:a="http://schemas.openxmlformats.org/drawingml/2006/main">
              <a:ext uri="{FF2B5EF4-FFF2-40B4-BE49-F238E27FC236}">
                <a16:creationId xmlns:a16="http://schemas.microsoft.com/office/drawing/2014/main" id="{E41A5E18-A3F7-4560-A81C-EE7A7BA8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Trabalhe com a Giums</a:t>
            </a:r>
          </a:p>
        </p:txBody>
      </p:sp>
      <p:sp>
        <p:nvSpPr>
          <p:cNvPr id="4" name="text-237">
            <a:extLst xmlns:a="http://schemas.openxmlformats.org/drawingml/2006/main">
              <a:ext uri="{FF2B5EF4-FFF2-40B4-BE49-F238E27FC236}">
                <a16:creationId xmlns:a16="http://schemas.microsoft.com/office/drawing/2014/main" id="{EF467634-87A5-415F-98B1-1CF9E862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8 / 10</a:t>
            </a:r>
          </a:p>
        </p:txBody>
      </p:sp>
      <p:sp>
        <p:nvSpPr>
          <p:cNvPr id="5" name="text-238">
            <a:extLst xmlns:a="http://schemas.openxmlformats.org/drawingml/2006/main">
              <a:ext uri="{FF2B5EF4-FFF2-40B4-BE49-F238E27FC236}">
                <a16:creationId xmlns:a16="http://schemas.microsoft.com/office/drawing/2014/main" id="{1B1BAB9E-B719-4022-886E-198AA2FA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Formatos</a:t>
            </a:r>
          </a:p>
        </p:txBody>
      </p:sp>
      <p:sp>
        <p:nvSpPr>
          <p:cNvPr id="6" name="text-239">
            <a:extLst xmlns:a="http://schemas.openxmlformats.org/drawingml/2006/main">
              <a:ext uri="{FF2B5EF4-FFF2-40B4-BE49-F238E27FC236}">
                <a16:creationId xmlns:a16="http://schemas.microsoft.com/office/drawing/2014/main" id="{63CB984A-C3A1-49B2-B2A4-2D44A071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Stories (Instagram)</a:t>
            </a:r>
          </a:p>
        </p:txBody>
      </p:sp>
      <p:sp>
        <p:nvSpPr>
          <p:cNvPr id="7" name="text-240">
            <a:extLst xmlns:a="http://schemas.openxmlformats.org/drawingml/2006/main">
              <a:ext uri="{FF2B5EF4-FFF2-40B4-BE49-F238E27FC236}">
                <a16:creationId xmlns:a16="http://schemas.microsoft.com/office/drawing/2014/main" id="{1515CF1D-B9B3-4124-980C-E6C9CCA6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Reels (Instagram)</a:t>
            </a:r>
          </a:p>
        </p:txBody>
      </p:sp>
      <p:sp>
        <p:nvSpPr>
          <p:cNvPr id="8" name="text-241">
            <a:extLst xmlns:a="http://schemas.openxmlformats.org/drawingml/2006/main">
              <a:ext uri="{FF2B5EF4-FFF2-40B4-BE49-F238E27FC236}">
                <a16:creationId xmlns:a16="http://schemas.microsoft.com/office/drawing/2014/main" id="{F37FDF29-353B-451F-924E-47918413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Carrossel (Instagram)</a:t>
            </a:r>
          </a:p>
        </p:txBody>
      </p:sp>
      <p:sp>
        <p:nvSpPr>
          <p:cNvPr id="9" name="text-242">
            <a:extLst xmlns:a="http://schemas.openxmlformats.org/drawingml/2006/main">
              <a:ext uri="{FF2B5EF4-FFF2-40B4-BE49-F238E27FC236}">
                <a16:creationId xmlns:a16="http://schemas.microsoft.com/office/drawing/2014/main" id="{3E940362-29F7-47C5-96CF-C8D789B1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Twitch ao vivo e VODs</a:t>
            </a:r>
          </a:p>
        </p:txBody>
      </p:sp>
      <p:sp>
        <p:nvSpPr>
          <p:cNvPr id="10" name="text-243">
            <a:extLst xmlns:a="http://schemas.openxmlformats.org/drawingml/2006/main">
              <a:ext uri="{FF2B5EF4-FFF2-40B4-BE49-F238E27FC236}">
                <a16:creationId xmlns:a16="http://schemas.microsoft.com/office/drawing/2014/main" id="{352B1F5C-BB58-440B-B9BF-F626C1A1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YouTube (vídeos de longa duração)</a:t>
            </a:r>
          </a:p>
        </p:txBody>
      </p:sp>
      <p:sp>
        <p:nvSpPr>
          <p:cNvPr id="11" name="text-244">
            <a:extLst xmlns:a="http://schemas.openxmlformats.org/drawingml/2006/main">
              <a:ext uri="{FF2B5EF4-FFF2-40B4-BE49-F238E27FC236}">
                <a16:creationId xmlns:a16="http://schemas.microsoft.com/office/drawing/2014/main" id="{4D1F66BA-19F6-4C42-84F5-09FDE734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Campanhas ilustradas</a:t>
            </a:r>
          </a:p>
        </p:txBody>
      </p:sp>
      <p:sp>
        <p:nvSpPr>
          <p:cNvPr id="12" name="text-245">
            <a:extLst xmlns:a="http://schemas.openxmlformats.org/drawingml/2006/main">
              <a:ext uri="{FF2B5EF4-FFF2-40B4-BE49-F238E27FC236}">
                <a16:creationId xmlns:a16="http://schemas.microsoft.com/office/drawing/2014/main" id="{CC10EFFF-4A36-4791-B6E5-1344DC04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3336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Ilustrações de teste para produtos, tradicionais ou digitais.</a:t>
            </a:r>
          </a:p>
        </p:txBody>
      </p:sp>
      <p:sp>
        <p:nvSpPr>
          <p:cNvPr id="13" name="text-246">
            <a:extLst xmlns:a="http://schemas.openxmlformats.org/drawingml/2006/main">
              <a:ext uri="{FF2B5EF4-FFF2-40B4-BE49-F238E27FC236}">
                <a16:creationId xmlns:a16="http://schemas.microsoft.com/office/drawing/2014/main" id="{D96AADAF-1470-40F8-B62F-3058F838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813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Resenhas &amp; sorteios</a:t>
            </a:r>
          </a:p>
        </p:txBody>
      </p:sp>
      <p:sp>
        <p:nvSpPr>
          <p:cNvPr id="14" name="text-247">
            <a:extLst xmlns:a="http://schemas.openxmlformats.org/drawingml/2006/main">
              <a:ext uri="{FF2B5EF4-FFF2-40B4-BE49-F238E27FC236}">
                <a16:creationId xmlns:a16="http://schemas.microsoft.com/office/drawing/2014/main" id="{DA92381C-A711-4122-8248-3DA8A664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052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Resenha de produto e sorteio para a comunidade, como na parceria com a XP-Pen.</a:t>
            </a:r>
          </a:p>
        </p:txBody>
      </p:sp>
      <p:sp>
        <p:nvSpPr>
          <p:cNvPr id="15" name="text-248">
            <a:extLst xmlns:a="http://schemas.openxmlformats.org/drawingml/2006/main">
              <a:ext uri="{FF2B5EF4-FFF2-40B4-BE49-F238E27FC236}">
                <a16:creationId xmlns:a16="http://schemas.microsoft.com/office/drawing/2014/main" id="{AF061005-DFDE-4FAB-9E95-4C486E1B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5529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Conteúdo de processo</a:t>
            </a:r>
          </a:p>
        </p:txBody>
      </p:sp>
      <p:sp>
        <p:nvSpPr>
          <p:cNvPr id="16" name="text-249">
            <a:extLst xmlns:a="http://schemas.openxmlformats.org/drawingml/2006/main">
              <a:ext uri="{FF2B5EF4-FFF2-40B4-BE49-F238E27FC236}">
                <a16:creationId xmlns:a16="http://schemas.microsoft.com/office/drawing/2014/main" id="{ADDE1968-1D13-4BF1-B7CB-6F4F1FF2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0768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Sketches, timelapses e making-of para Instagram e YouTube.</a:t>
            </a:r>
          </a:p>
        </p:txBody>
      </p:sp>
    </p:spTree>
    <p:extLst>
      <p:ext uri="{BB962C8B-B14F-4D97-AF65-F5344CB8AC3E}">
        <p14:creationId xmlns:p14="http://schemas.microsoft.com/office/powerpoint/2010/main" val="17646372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250">
            <a:extLst xmlns:a="http://schemas.openxmlformats.org/drawingml/2006/main">
              <a:ext uri="{FF2B5EF4-FFF2-40B4-BE49-F238E27FC236}">
                <a16:creationId xmlns:a16="http://schemas.microsoft.com/office/drawing/2014/main" id="{65903520-C085-4FF1-94F9-931E17CA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51">
            <a:extLst xmlns:a="http://schemas.openxmlformats.org/drawingml/2006/main">
              <a:ext uri="{FF2B5EF4-FFF2-40B4-BE49-F238E27FC236}">
                <a16:creationId xmlns:a16="http://schemas.microsoft.com/office/drawing/2014/main" id="{758D8E38-DC4B-4F63-9B29-90B5CEE1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252">
            <a:extLst xmlns:a="http://schemas.openxmlformats.org/drawingml/2006/main">
              <a:ext uri="{FF2B5EF4-FFF2-40B4-BE49-F238E27FC236}">
                <a16:creationId xmlns:a16="http://schemas.microsoft.com/office/drawing/2014/main" id="{98E40863-A1DC-48AA-9D80-D4A1C19E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XP-Pen · resenha da Deco 03 e sorteio</a:t>
            </a:r>
          </a:p>
        </p:txBody>
      </p:sp>
      <p:sp>
        <p:nvSpPr>
          <p:cNvPr id="4" name="text-253">
            <a:extLst xmlns:a="http://schemas.openxmlformats.org/drawingml/2006/main">
              <a:ext uri="{FF2B5EF4-FFF2-40B4-BE49-F238E27FC236}">
                <a16:creationId xmlns:a16="http://schemas.microsoft.com/office/drawing/2014/main" id="{BFBD02CC-0990-46D1-9465-0DBD71C4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9 / 10</a:t>
            </a:r>
          </a:p>
        </p:txBody>
      </p:sp>
      <p:sp>
        <p:nvSpPr>
          <p:cNvPr id="5" name="text-254">
            <a:extLst xmlns:a="http://schemas.openxmlformats.org/drawingml/2006/main">
              <a:ext uri="{FF2B5EF4-FFF2-40B4-BE49-F238E27FC236}">
                <a16:creationId xmlns:a16="http://schemas.microsoft.com/office/drawing/2014/main" id="{FAB37BC9-592C-4731-86E3-64D944A1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Junho – julho de 2021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87141B-D1E6-40FE-B8C2-5E86788851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1f119412d7406f"/>
          <a:stretch xmlns:a="http://schemas.openxmlformats.org/drawingml/2006/main"/>
        </p:blipFill>
        <p:spPr>
          <a:xfrm xmlns:a="http://schemas.openxmlformats.org/drawingml/2006/main">
            <a:off x="609600" y="2116998"/>
            <a:ext cx="4819650" cy="3243129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D95263-E009-4515-86A9-7FCB33A4B6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6ced4df1094276"/>
          <a:stretch xmlns:a="http://schemas.openxmlformats.org/drawingml/2006/main"/>
        </p:blipFill>
        <p:spPr>
          <a:xfrm xmlns:a="http://schemas.openxmlformats.org/drawingml/2006/main">
            <a:off x="3746183" y="4657725"/>
            <a:ext cx="1680210" cy="1200150"/>
          </a:xfrm>
          <a:prstGeom xmlns:a="http://schemas.openxmlformats.org/drawingml/2006/main" prst="rect">
            <a:avLst/>
          </a:prstGeom>
        </p:spPr>
      </p:pic>
      <p:sp>
        <p:nvSpPr>
          <p:cNvPr id="8" name="text-255">
            <a:extLst xmlns:a="http://schemas.openxmlformats.org/drawingml/2006/main">
              <a:ext uri="{FF2B5EF4-FFF2-40B4-BE49-F238E27FC236}">
                <a16:creationId xmlns:a16="http://schemas.microsoft.com/office/drawing/2014/main" id="{AA0195A4-BB74-4FCA-BB53-0ADAAAB8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Frame do vídeo no YouTube</a:t>
            </a:r>
          </a:p>
        </p:txBody>
      </p:sp>
      <p:sp>
        <p:nvSpPr>
          <p:cNvPr id="9" name="text-256">
            <a:extLst xmlns:a="http://schemas.openxmlformats.org/drawingml/2006/main">
              <a:ext uri="{FF2B5EF4-FFF2-40B4-BE49-F238E27FC236}">
                <a16:creationId xmlns:a16="http://schemas.microsoft.com/office/drawing/2014/main" id="{DB8EEFB1-B77D-41A7-A01D-74EAD1DA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809750"/>
            <a:ext cx="552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Testadora de produto, resenhista e criadora de conteúdo. A XP-Pen Brasil enviou o tablet e ela mandou suas considerações à marca.</a:t>
            </a:r>
          </a:p>
        </p:txBody>
      </p:sp>
      <p:sp>
        <p:nvSpPr>
          <p:cNvPr id="10" name="text-257">
            <a:extLst xmlns:a="http://schemas.openxmlformats.org/drawingml/2006/main">
              <a:ext uri="{FF2B5EF4-FFF2-40B4-BE49-F238E27FC236}">
                <a16:creationId xmlns:a16="http://schemas.microsoft.com/office/drawing/2014/main" id="{201995A6-B402-471F-BC32-A6C24928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05125"/>
            <a:ext cx="552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Entregas</a:t>
            </a:r>
          </a:p>
        </p:txBody>
      </p:sp>
      <p:sp>
        <p:nvSpPr>
          <p:cNvPr id="11" name="text-258">
            <a:extLst xmlns:a="http://schemas.openxmlformats.org/drawingml/2006/main">
              <a:ext uri="{FF2B5EF4-FFF2-40B4-BE49-F238E27FC236}">
                <a16:creationId xmlns:a16="http://schemas.microsoft.com/office/drawing/2014/main" id="{F2BFC51C-F9B7-4993-A3BF-D55CADBD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33750"/>
            <a:ext cx="552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Reel no Instagram anunciando a resenha e o sorteio; vídeo no YouTube (9:53) com a resenha da XP-Pen Deco 03 e um sketch de fanart da Yone; sorteio do tablet com artes exclusivas; cupom de desconto para a audiência.</a:t>
            </a:r>
          </a:p>
        </p:txBody>
      </p:sp>
      <p:sp>
        <p:nvSpPr>
          <p:cNvPr id="12" name="text-259">
            <a:extLst xmlns:a="http://schemas.openxmlformats.org/drawingml/2006/main">
              <a:ext uri="{FF2B5EF4-FFF2-40B4-BE49-F238E27FC236}">
                <a16:creationId xmlns:a16="http://schemas.microsoft.com/office/drawing/2014/main" id="{A2A90505-420F-4443-B733-99D0D08E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2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Resultados</a:t>
            </a:r>
          </a:p>
        </p:txBody>
      </p:sp>
      <p:sp>
        <p:nvSpPr>
          <p:cNvPr id="13" name="text-260">
            <a:extLst xmlns:a="http://schemas.openxmlformats.org/drawingml/2006/main">
              <a:ext uri="{FF2B5EF4-FFF2-40B4-BE49-F238E27FC236}">
                <a16:creationId xmlns:a16="http://schemas.microsoft.com/office/drawing/2014/main" id="{136251E1-67C8-4D6B-A53D-87BBC2BE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324475"/>
            <a:ext cx="552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YouTube: 3,2 mil visualizações, 161 curtidas. Reel no Instagram: 221 curtidas, 10 comentários (out/2026).</a:t>
            </a:r>
          </a:p>
        </p:txBody>
      </p:sp>
      <p:sp>
        <p:nvSpPr>
          <p:cNvPr id="14" name="text-261">
            <a:extLst xmlns:a="http://schemas.openxmlformats.org/drawingml/2006/main">
              <a:ext uri="{FF2B5EF4-FFF2-40B4-BE49-F238E27FC236}">
                <a16:creationId xmlns:a16="http://schemas.microsoft.com/office/drawing/2014/main" id="{068B198F-3E74-429E-821E-B144EEFD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2142F"/>
                </a:solidFill>
                <a:latin typeface="Arial"/>
                <a:ea typeface="Arial"/>
                <a:cs typeface="Arial"/>
                <a:hlinkClick xmlns:r="http://schemas.openxmlformats.org/officeDocument/2006/relationships" r:id="R1c6d1ae8f8d14447"/>
              </a:rPr>
              <a:t>YouTube</a:t>
            </a:r>
          </a:p>
        </p:txBody>
      </p:sp>
      <p:sp>
        <p:nvSpPr>
          <p:cNvPr id="15" name="text-262">
            <a:extLst xmlns:a="http://schemas.openxmlformats.org/drawingml/2006/main">
              <a:ext uri="{FF2B5EF4-FFF2-40B4-BE49-F238E27FC236}">
                <a16:creationId xmlns:a16="http://schemas.microsoft.com/office/drawing/2014/main" id="{7C915A1D-3DFF-432D-8362-4220BF93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6029325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2142F"/>
                </a:solidFill>
                <a:latin typeface="Arial"/>
                <a:ea typeface="Arial"/>
                <a:cs typeface="Arial"/>
                <a:hlinkClick xmlns:r="http://schemas.openxmlformats.org/officeDocument/2006/relationships" r:id="R924ab273b6174738"/>
              </a:rPr>
              <a:t>Instagram</a:t>
            </a:r>
          </a:p>
        </p:txBody>
      </p:sp>
    </p:spTree>
    <p:extLst>
      <p:ext uri="{BB962C8B-B14F-4D97-AF65-F5344CB8AC3E}">
        <p14:creationId xmlns:p14="http://schemas.microsoft.com/office/powerpoint/2010/main" val="6124160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63">
            <a:extLst xmlns:a="http://schemas.openxmlformats.org/drawingml/2006/main">
              <a:ext uri="{FF2B5EF4-FFF2-40B4-BE49-F238E27FC236}">
                <a16:creationId xmlns:a16="http://schemas.microsoft.com/office/drawing/2014/main" id="{3EE55CDC-C9AF-4492-B12A-BAC6E055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64">
            <a:extLst xmlns:a="http://schemas.openxmlformats.org/drawingml/2006/main">
              <a:ext uri="{FF2B5EF4-FFF2-40B4-BE49-F238E27FC236}">
                <a16:creationId xmlns:a16="http://schemas.microsoft.com/office/drawing/2014/main" id="{FDD23FC8-2614-4ED6-B922-DFD6E0E8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265">
            <a:extLst xmlns:a="http://schemas.openxmlformats.org/drawingml/2006/main">
              <a:ext uri="{FF2B5EF4-FFF2-40B4-BE49-F238E27FC236}">
                <a16:creationId xmlns:a16="http://schemas.microsoft.com/office/drawing/2014/main" id="{D16AD01E-6E1E-4CBD-92D4-B01EDD1F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Contato</a:t>
            </a:r>
          </a:p>
        </p:txBody>
      </p:sp>
      <p:sp>
        <p:nvSpPr>
          <p:cNvPr id="4" name="text-266">
            <a:extLst xmlns:a="http://schemas.openxmlformats.org/drawingml/2006/main">
              <a:ext uri="{FF2B5EF4-FFF2-40B4-BE49-F238E27FC236}">
                <a16:creationId xmlns:a16="http://schemas.microsoft.com/office/drawing/2014/main" id="{F408FF16-1E29-4E1B-8E56-2C117A48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10 / 10</a:t>
            </a:r>
          </a:p>
        </p:txBody>
      </p:sp>
      <p:sp>
        <p:nvSpPr>
          <p:cNvPr id="5" name="text-267">
            <a:extLst xmlns:a="http://schemas.openxmlformats.org/drawingml/2006/main">
              <a:ext uri="{FF2B5EF4-FFF2-40B4-BE49-F238E27FC236}">
                <a16:creationId xmlns:a16="http://schemas.microsoft.com/office/drawing/2014/main" id="{641D0D1A-3D34-4986-A563-B3328728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FF7A1A"/>
                </a:solidFill>
                <a:latin typeface="Georgia"/>
                <a:ea typeface="Georgia"/>
                <a:cs typeface="Georgia"/>
              </a:rPr>
              <a:t>Como começar</a:t>
            </a:r>
          </a:p>
        </p:txBody>
      </p:sp>
      <p:sp>
        <p:nvSpPr>
          <p:cNvPr id="6" name="text-268">
            <a:extLst xmlns:a="http://schemas.openxmlformats.org/drawingml/2006/main">
              <a:ext uri="{FF2B5EF4-FFF2-40B4-BE49-F238E27FC236}">
                <a16:creationId xmlns:a16="http://schemas.microsoft.com/office/drawing/2014/main" id="{A1DEBC3A-E7FC-4340-857C-143B6F57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286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Envie um briefing com objetivo, entregas, prazo e orçamento para o e-mail abaixo.</a:t>
            </a:r>
          </a:p>
        </p:txBody>
      </p:sp>
      <p:sp>
        <p:nvSpPr>
          <p:cNvPr id="7" name="text-269">
            <a:extLst xmlns:a="http://schemas.openxmlformats.org/drawingml/2006/main">
              <a:ext uri="{FF2B5EF4-FFF2-40B4-BE49-F238E27FC236}">
                <a16:creationId xmlns:a16="http://schemas.microsoft.com/office/drawing/2014/main" id="{3722A712-0846-4A71-8FC5-9122969C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FF7A1A"/>
                </a:solidFill>
                <a:latin typeface="Arial"/>
                <a:ea typeface="Arial"/>
                <a:cs typeface="Arial"/>
                <a:hlinkClick xmlns:r="http://schemas.openxmlformats.org/officeDocument/2006/relationships" r:id="Re653376e35eb4246"/>
              </a:rPr>
              <a:t>giumsart@gmail.com</a:t>
            </a:r>
          </a:p>
        </p:txBody>
      </p:sp>
      <p:sp>
        <p:nvSpPr>
          <p:cNvPr id="8" name="text-270">
            <a:extLst xmlns:a="http://schemas.openxmlformats.org/drawingml/2006/main">
              <a:ext uri="{FF2B5EF4-FFF2-40B4-BE49-F238E27FC236}">
                <a16:creationId xmlns:a16="http://schemas.microsoft.com/office/drawing/2014/main" id="{9B4257F7-0298-48C3-B3DF-C13F239E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612bf29f5c8647cf"/>
              </a:rPr>
              <a:t>giums.onrender.com</a:t>
            </a:r>
          </a:p>
        </p:txBody>
      </p:sp>
      <p:sp>
        <p:nvSpPr>
          <p:cNvPr id="9" name="text-271">
            <a:extLst xmlns:a="http://schemas.openxmlformats.org/drawingml/2006/main">
              <a:ext uri="{FF2B5EF4-FFF2-40B4-BE49-F238E27FC236}">
                <a16:creationId xmlns:a16="http://schemas.microsoft.com/office/drawing/2014/main" id="{587AEAAB-E296-41A3-A208-F19D9A55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767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48f1030851844846"/>
              </a:rPr>
              <a:t>@giums</a:t>
            </a:r>
          </a:p>
        </p:txBody>
      </p:sp>
      <p:sp>
        <p:nvSpPr>
          <p:cNvPr id="10" name="text-272">
            <a:extLst xmlns:a="http://schemas.openxmlformats.org/drawingml/2006/main">
              <a:ext uri="{FF2B5EF4-FFF2-40B4-BE49-F238E27FC236}">
                <a16:creationId xmlns:a16="http://schemas.microsoft.com/office/drawing/2014/main" id="{39F70490-8E34-4816-A3D3-957D8355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cb1bb9afccd44f83"/>
              </a:rPr>
              <a:t>@giums.bsky.social</a:t>
            </a:r>
          </a:p>
        </p:txBody>
      </p:sp>
      <p:sp>
        <p:nvSpPr>
          <p:cNvPr id="11" name="text-273">
            <a:extLst xmlns:a="http://schemas.openxmlformats.org/drawingml/2006/main">
              <a:ext uri="{FF2B5EF4-FFF2-40B4-BE49-F238E27FC236}">
                <a16:creationId xmlns:a16="http://schemas.microsoft.com/office/drawing/2014/main" id="{B6663FBB-EC61-4C35-AFFA-27C62BA7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9815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d4b95fc6880a41d3"/>
              </a:rPr>
              <a:t>@GIUMSyt</a:t>
            </a:r>
          </a:p>
        </p:txBody>
      </p:sp>
      <p:sp>
        <p:nvSpPr>
          <p:cNvPr id="12" name="text-274">
            <a:extLst xmlns:a="http://schemas.openxmlformats.org/drawingml/2006/main">
              <a:ext uri="{FF2B5EF4-FFF2-40B4-BE49-F238E27FC236}">
                <a16:creationId xmlns:a16="http://schemas.microsoft.com/office/drawing/2014/main" id="{9050B4E9-5522-47BF-B315-EBF919E8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195b8ca7e76c4f54"/>
              </a:rPr>
              <a:t>twitch.tv/giums</a:t>
            </a:r>
          </a:p>
        </p:txBody>
      </p:sp>
      <p:sp>
        <p:nvSpPr>
          <p:cNvPr id="13" name="text-275">
            <a:extLst xmlns:a="http://schemas.openxmlformats.org/drawingml/2006/main">
              <a:ext uri="{FF2B5EF4-FFF2-40B4-BE49-F238E27FC236}">
                <a16:creationId xmlns:a16="http://schemas.microsoft.com/office/drawing/2014/main" id="{E541CF1B-4AAB-449B-B1F2-424C4E99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4864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abf966cf9cad46ea"/>
              </a:rPr>
              <a:t>patreon.com/giums</a:t>
            </a:r>
          </a:p>
        </p:txBody>
      </p:sp>
      <p:sp>
        <p:nvSpPr>
          <p:cNvPr id="14" name="text-276">
            <a:extLst xmlns:a="http://schemas.openxmlformats.org/drawingml/2006/main">
              <a:ext uri="{FF2B5EF4-FFF2-40B4-BE49-F238E27FC236}">
                <a16:creationId xmlns:a16="http://schemas.microsoft.com/office/drawing/2014/main" id="{5BEAD4E1-1779-4BCC-A967-747E3313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752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FF7A1A"/>
                </a:solidFill>
                <a:latin typeface="Georgia"/>
                <a:ea typeface="Georgia"/>
                <a:cs typeface="Georgia"/>
              </a:rPr>
              <a:t>Direitos de uso</a:t>
            </a:r>
          </a:p>
        </p:txBody>
      </p:sp>
      <p:sp>
        <p:nvSpPr>
          <p:cNvPr id="15" name="text-277">
            <a:extLst xmlns:a="http://schemas.openxmlformats.org/drawingml/2006/main">
              <a:ext uri="{FF2B5EF4-FFF2-40B4-BE49-F238E27FC236}">
                <a16:creationId xmlns:a16="http://schemas.microsoft.com/office/drawing/2014/main" id="{C3017FF0-CF67-4C9D-BC90-A583768E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495550"/>
            <a:ext cx="342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Uso comercial e reupload exigem permissão da artista; os termos são combinados por projeto.</a:t>
            </a:r>
          </a:p>
        </p:txBody>
      </p:sp>
      <p:sp>
        <p:nvSpPr>
          <p:cNvPr id="16" name="text-278">
            <a:extLst xmlns:a="http://schemas.openxmlformats.org/drawingml/2006/main">
              <a:ext uri="{FF2B5EF4-FFF2-40B4-BE49-F238E27FC236}">
                <a16:creationId xmlns:a16="http://schemas.microsoft.com/office/drawing/2014/main" id="{43CA588E-4F7D-432D-821D-4BDF3A52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352925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Usar a arte — inclusive em OCs parecidos — não é permitido.</a:t>
            </a:r>
          </a:p>
        </p:txBody>
      </p:sp>
    </p:spTree>
    <p:extLst>
      <p:ext uri="{BB962C8B-B14F-4D97-AF65-F5344CB8AC3E}">
        <p14:creationId xmlns:p14="http://schemas.microsoft.com/office/powerpoint/2010/main" val="5464708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2026-10-16T23:18:12.4260000Z</dcterms:created>
  <dcterms:modified xsi:type="dcterms:W3CDTF">2026-10-16T23:18:12.4260000Z</dcterms:modified>
</coreProperties>
</file>