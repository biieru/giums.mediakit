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a042c4da744524" /><Relationship Type="http://schemas.openxmlformats.org/officeDocument/2006/relationships/extended-properties" Target="/docProps/app.xml" Id="R64cf3e79269d4549" /><Relationship Type="http://schemas.openxmlformats.org/officeDocument/2006/relationships/officeDocument" Target="/ppt/presentation.xml" Id="R1d4db98cb32944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1ecd4b9b534f45"/>
  </p:sldMasterIdLst>
  <p:notesMasterIdLst>
    <p:notesMasterId xmlns:r="http://schemas.openxmlformats.org/officeDocument/2006/relationships" r:id="Re143208b0a6e46da"/>
  </p:notesMasterIdLst>
  <p:sldIdLst>
    <p:sldId xmlns:r="http://schemas.openxmlformats.org/officeDocument/2006/relationships" id="256" r:id="Rb22e06caef744b7e"/>
    <p:sldId xmlns:r="http://schemas.openxmlformats.org/officeDocument/2006/relationships" id="257" r:id="Rc55e805ff2c542b6"/>
    <p:sldId xmlns:r="http://schemas.openxmlformats.org/officeDocument/2006/relationships" id="258" r:id="R3164e6eb10f14e1f"/>
    <p:sldId xmlns:r="http://schemas.openxmlformats.org/officeDocument/2006/relationships" id="259" r:id="Rde4282200c114c89"/>
    <p:sldId xmlns:r="http://schemas.openxmlformats.org/officeDocument/2006/relationships" id="260" r:id="R5adfa696adf64432"/>
    <p:sldId xmlns:r="http://schemas.openxmlformats.org/officeDocument/2006/relationships" id="261" r:id="R14416e874c194342"/>
    <p:sldId xmlns:r="http://schemas.openxmlformats.org/officeDocument/2006/relationships" id="262" r:id="R7f5efafc48004122"/>
    <p:sldId xmlns:r="http://schemas.openxmlformats.org/officeDocument/2006/relationships" id="263" r:id="Re6e23575bec74334"/>
    <p:sldId xmlns:r="http://schemas.openxmlformats.org/officeDocument/2006/relationships" id="264" r:id="R9c466139eee245d2"/>
    <p:sldId xmlns:r="http://schemas.openxmlformats.org/officeDocument/2006/relationships" id="265" r:id="R0cc34fc81ec143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951ec0e9db4c5d" /><Relationship Type="http://schemas.openxmlformats.org/officeDocument/2006/relationships/slideMaster" Target="/ppt/slideMasters/slideMaster1.xml" Id="Rca1ecd4b9b534f45" /><Relationship Type="http://schemas.openxmlformats.org/officeDocument/2006/relationships/notesMaster" Target="/ppt/notesMasters/notesMaster1.xml" Id="Re143208b0a6e46da" /><Relationship Type="http://schemas.openxmlformats.org/officeDocument/2006/relationships/presProps" Target="/ppt/presProps.xml" Id="Re2cf16e4f97041c8" /><Relationship Type="http://schemas.openxmlformats.org/officeDocument/2006/relationships/tableStyles" Target="/ppt/tableStyles.xml" Id="Ree88976a811246bb" /><Relationship Type="http://schemas.openxmlformats.org/officeDocument/2006/relationships/slide" Target="/ppt/slides/slide1.xml" Id="Rb22e06caef744b7e" /><Relationship Type="http://schemas.openxmlformats.org/officeDocument/2006/relationships/slide" Target="/ppt/slides/slide2.xml" Id="Rc55e805ff2c542b6" /><Relationship Type="http://schemas.openxmlformats.org/officeDocument/2006/relationships/slide" Target="/ppt/slides/slide3.xml" Id="R3164e6eb10f14e1f" /><Relationship Type="http://schemas.openxmlformats.org/officeDocument/2006/relationships/slide" Target="/ppt/slides/slide4.xml" Id="Rde4282200c114c89" /><Relationship Type="http://schemas.openxmlformats.org/officeDocument/2006/relationships/slide" Target="/ppt/slides/slide5.xml" Id="R5adfa696adf64432" /><Relationship Type="http://schemas.openxmlformats.org/officeDocument/2006/relationships/slide" Target="/ppt/slides/slide6.xml" Id="R14416e874c194342" /><Relationship Type="http://schemas.openxmlformats.org/officeDocument/2006/relationships/slide" Target="/ppt/slides/slide7.xml" Id="R7f5efafc48004122" /><Relationship Type="http://schemas.openxmlformats.org/officeDocument/2006/relationships/slide" Target="/ppt/slides/slide8.xml" Id="Re6e23575bec74334" /><Relationship Type="http://schemas.openxmlformats.org/officeDocument/2006/relationships/slide" Target="/ppt/slides/slide9.xml" Id="R9c466139eee245d2" /><Relationship Type="http://schemas.openxmlformats.org/officeDocument/2006/relationships/slide" Target="/ppt/slides/slide10.xml" Id="R0cc34fc81ec143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1a0b871e524d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c15e3a1aff4574" /><Relationship Type="http://schemas.openxmlformats.org/officeDocument/2006/relationships/notesMaster" Target="/ppt/notesMasters/notesMaster1.xml" Id="R38c5f480d24349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d9d10a6aba4a1b" /><Relationship Type="http://schemas.openxmlformats.org/officeDocument/2006/relationships/notesMaster" Target="/ppt/notesMasters/notesMaster1.xml" Id="R0a2e765d8fa6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783d25be134976" /><Relationship Type="http://schemas.openxmlformats.org/officeDocument/2006/relationships/notesMaster" Target="/ppt/notesMasters/notesMaster1.xml" Id="R57a1c01d4a9c4c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abf9debd804e7e" /><Relationship Type="http://schemas.openxmlformats.org/officeDocument/2006/relationships/notesMaster" Target="/ppt/notesMasters/notesMaster1.xml" Id="Rf844dc216c5c40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2c9c304bf14f3f" /><Relationship Type="http://schemas.openxmlformats.org/officeDocument/2006/relationships/notesMaster" Target="/ppt/notesMasters/notesMaster1.xml" Id="R1758f52b7a1f48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a33e92e4dc42f4" /><Relationship Type="http://schemas.openxmlformats.org/officeDocument/2006/relationships/notesMaster" Target="/ppt/notesMasters/notesMaster1.xml" Id="R9a2f976a211d4e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dc99aac18d4ca8" /><Relationship Type="http://schemas.openxmlformats.org/officeDocument/2006/relationships/notesMaster" Target="/ppt/notesMasters/notesMaster1.xml" Id="Rec437ab5f44743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77f35e29fd424e" /><Relationship Type="http://schemas.openxmlformats.org/officeDocument/2006/relationships/notesMaster" Target="/ppt/notesMasters/notesMaster1.xml" Id="R59a8d60237e745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e483d3ea374688" /><Relationship Type="http://schemas.openxmlformats.org/officeDocument/2006/relationships/notesMaster" Target="/ppt/notesMasters/notesMaster1.xml" Id="Rc53f245632d244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899900b1374641" /><Relationship Type="http://schemas.openxmlformats.org/officeDocument/2006/relationships/notesMaster" Target="/ppt/notesMasters/notesMaster1.xml" Id="Rd6790a29e5394f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2e254597fd47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c7e373718f4d2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93dd5ad4f4f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55dc3d980f4a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180d9aad8747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6159f8b4140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66546A-70C3-4521-8489-DA526169DE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DF3E0D6-43AB-456C-8BB9-E6A81B1ADAF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6F995C7-D858-48A7-814D-6692017AE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E9D8F1-45CF-44EA-9ED1-F5EFF0475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3EA71FD-13FD-4F34-B4C3-2239D23B62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27CB14-20AC-411E-BDE2-21033E44DD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BE7900-E4A8-4D77-9A9D-822693C18B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86537F2-E12F-4FB9-80FA-8A891E747B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BDBBA4-0081-434A-AA84-745844033F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85BF7E4-603B-438D-A462-4697CF9CE4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fe70d49d544f39" /><Relationship Type="http://schemas.openxmlformats.org/officeDocument/2006/relationships/slideLayout" Target="/ppt/slideLayouts/slideLayout1.xml" Id="R01129e62fecc49cc" /><Relationship Type="http://schemas.openxmlformats.org/officeDocument/2006/relationships/slideLayout" Target="/ppt/slideLayouts/slideLayout2.xml" Id="R8c7145ceb98c457f" /><Relationship Type="http://schemas.openxmlformats.org/officeDocument/2006/relationships/slideLayout" Target="/ppt/slideLayouts/slideLayout3.xml" Id="R363eeaa71e8c4eee" /><Relationship Type="http://schemas.openxmlformats.org/officeDocument/2006/relationships/slideLayout" Target="/ppt/slideLayouts/slideLayout4.xml" Id="R0cce1ee10eb744c6" /><Relationship Type="http://schemas.openxmlformats.org/officeDocument/2006/relationships/slideLayout" Target="/ppt/slideLayouts/slideLayout5.xml" Id="R6cfbf2ff1c054129" /><Relationship Type="http://schemas.openxmlformats.org/officeDocument/2006/relationships/slideLayout" Target="/ppt/slideLayouts/slideLayout6.xml" Id="R05839830857843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129e62fecc49cc"/>
    <p:sldLayoutId xmlns:r="http://schemas.openxmlformats.org/officeDocument/2006/relationships" id="2147483650" r:id="R8c7145ceb98c457f"/>
    <p:sldLayoutId xmlns:r="http://schemas.openxmlformats.org/officeDocument/2006/relationships" id="2147483651" r:id="R363eeaa71e8c4eee"/>
    <p:sldLayoutId xmlns:r="http://schemas.openxmlformats.org/officeDocument/2006/relationships" id="2147483652" r:id="R0cce1ee10eb744c6"/>
    <p:sldLayoutId xmlns:r="http://schemas.openxmlformats.org/officeDocument/2006/relationships" id="2147483653" r:id="R6cfbf2ff1c054129"/>
    <p:sldLayoutId xmlns:r="http://schemas.openxmlformats.org/officeDocument/2006/relationships" id="2147483654" r:id="R05839830857843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42aa1b985141a3" /><Relationship Type="http://schemas.openxmlformats.org/officeDocument/2006/relationships/image" Target="/ppt/media/image.png" Id="R336518bc4f2645cc" /><Relationship Type="http://schemas.openxmlformats.org/officeDocument/2006/relationships/notesSlide" Target="/ppt/notesSlides/notesSlide1.xml" Id="R2955c6d89b6e40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f2cea56e604325" /><Relationship Type="http://schemas.openxmlformats.org/officeDocument/2006/relationships/image" Target="/ppt/media/image2.png" Id="Rc7673e60aa654dd4" /><Relationship Type="http://schemas.openxmlformats.org/officeDocument/2006/relationships/notesSlide" Target="/ppt/notesSlides/notesSlide2.xml" Id="R1f7e49702adb4e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bb03fd21e40a5" /><Relationship Type="http://schemas.openxmlformats.org/officeDocument/2006/relationships/notesSlide" Target="/ppt/notesSlides/notesSlide3.xml" Id="Re3f569954b034a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1a813825364793" /><Relationship Type="http://schemas.openxmlformats.org/officeDocument/2006/relationships/hyperlink" Target="https://www.patreon.com/giums" TargetMode="External" Id="Rfe7f5d25d20c4b52" /><Relationship Type="http://schemas.openxmlformats.org/officeDocument/2006/relationships/image" Target="/ppt/media/image3.png" Id="R6e1e0870cde6495d" /><Relationship Type="http://schemas.openxmlformats.org/officeDocument/2006/relationships/image" Target="/ppt/media/image4.png" Id="Ra9e720560c974f8b" /><Relationship Type="http://schemas.openxmlformats.org/officeDocument/2006/relationships/image" Target="/ppt/media/image5.png" Id="Rb2fe0bb86fb3413a" /><Relationship Type="http://schemas.openxmlformats.org/officeDocument/2006/relationships/notesSlide" Target="/ppt/notesSlides/notesSlide4.xml" Id="R49b50c3b209743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326e6605554eeb" /><Relationship Type="http://schemas.openxmlformats.org/officeDocument/2006/relationships/notesSlide" Target="/ppt/notesSlides/notesSlide5.xml" Id="R9fe959b1bc3949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4a3777f9e4464c" /><Relationship Type="http://schemas.openxmlformats.org/officeDocument/2006/relationships/notesSlide" Target="/ppt/notesSlides/notesSlide6.xml" Id="R14357182e9fc42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f23c5c492b4055" /><Relationship Type="http://schemas.openxmlformats.org/officeDocument/2006/relationships/notesSlide" Target="/ppt/notesSlides/notesSlide7.xml" Id="R69041c467e1f41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057e090014ea9" /><Relationship Type="http://schemas.openxmlformats.org/officeDocument/2006/relationships/notesSlide" Target="/ppt/notesSlides/notesSlide8.xml" Id="R9acefa97231049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89d801fa7f4496" /><Relationship Type="http://schemas.openxmlformats.org/officeDocument/2006/relationships/image" Target="/ppt/media/image6.png" Id="R8008200189154e1f" /><Relationship Type="http://schemas.openxmlformats.org/officeDocument/2006/relationships/image" Target="/ppt/media/image7.png" Id="R7c86207a0e8347f9" /><Relationship Type="http://schemas.openxmlformats.org/officeDocument/2006/relationships/hyperlink" Target="https://youtu.be/1wZL_RG2Ma4" TargetMode="External" Id="Rce8702edc9cb4cf5" /><Relationship Type="http://schemas.openxmlformats.org/officeDocument/2006/relationships/hyperlink" Target="https://www.instagram.com/reels/CQjiu2mBFcf/" TargetMode="External" Id="R854576bf9d0b48c3" /><Relationship Type="http://schemas.openxmlformats.org/officeDocument/2006/relationships/notesSlide" Target="/ppt/notesSlides/notesSlide9.xml" Id="Rf4d6546bd39c47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d77e691ed34f70" /><Relationship Type="http://schemas.openxmlformats.org/officeDocument/2006/relationships/hyperlink" Target="mailto:giumsart@gmail.com" TargetMode="External" Id="R70b6bf5751774610" /><Relationship Type="http://schemas.openxmlformats.org/officeDocument/2006/relationships/hyperlink" Target="https://giums.onrender.com" TargetMode="External" Id="R172f494adee44596" /><Relationship Type="http://schemas.openxmlformats.org/officeDocument/2006/relationships/hyperlink" Target="https://www.instagram.com/giums/" TargetMode="External" Id="R214cb6d31a9a4f92" /><Relationship Type="http://schemas.openxmlformats.org/officeDocument/2006/relationships/hyperlink" Target="https://bsky.app/profile/giums.bsky.social" TargetMode="External" Id="R7e56ee0e7cf54640" /><Relationship Type="http://schemas.openxmlformats.org/officeDocument/2006/relationships/hyperlink" Target="https://www.youtube.com/@GIUMSyt" TargetMode="External" Id="Re6d9143730b34d24" /><Relationship Type="http://schemas.openxmlformats.org/officeDocument/2006/relationships/hyperlink" Target="https://www.twitch.tv/giums" TargetMode="External" Id="R1da840bbfef24ee3" /><Relationship Type="http://schemas.openxmlformats.org/officeDocument/2006/relationships/hyperlink" Target="https://www.patreon.com/giums" TargetMode="External" Id="R1353f15dc1bf4dc3" /><Relationship Type="http://schemas.openxmlformats.org/officeDocument/2006/relationships/notesSlide" Target="/ppt/notesSlides/notesSlide10.xml" Id="Rb8af7e71c69c40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A8D06227-EF6C-4A52-948A-6A28FFFC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49">
            <a:extLst xmlns:a="http://schemas.openxmlformats.org/drawingml/2006/main">
              <a:ext uri="{FF2B5EF4-FFF2-40B4-BE49-F238E27FC236}">
                <a16:creationId xmlns:a16="http://schemas.microsoft.com/office/drawing/2014/main" id="{CA4C2640-1FF5-4CEA-9E5F-10B851FD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50">
            <a:extLst xmlns:a="http://schemas.openxmlformats.org/drawingml/2006/main">
              <a:ext uri="{FF2B5EF4-FFF2-40B4-BE49-F238E27FC236}">
                <a16:creationId xmlns:a16="http://schemas.microsoft.com/office/drawing/2014/main" id="{A473F71D-FE1B-43BC-AFF9-7EB43C64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 / 10</a:t>
            </a:r>
          </a:p>
        </p:txBody>
      </p:sp>
      <p:sp>
        <p:nvSpPr>
          <p:cNvPr id="4" name="text-151">
            <a:extLst xmlns:a="http://schemas.openxmlformats.org/drawingml/2006/main">
              <a:ext uri="{FF2B5EF4-FFF2-40B4-BE49-F238E27FC236}">
                <a16:creationId xmlns:a16="http://schemas.microsoft.com/office/drawing/2014/main" id="{48B8C607-FAEA-4D6F-AAD6-B5B95C47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Media kit · Marcas e parcerias</a:t>
            </a:r>
          </a:p>
        </p:txBody>
      </p:sp>
      <p:sp>
        <p:nvSpPr>
          <p:cNvPr id="5" name="text-152">
            <a:extLst xmlns:a="http://schemas.openxmlformats.org/drawingml/2006/main">
              <a:ext uri="{FF2B5EF4-FFF2-40B4-BE49-F238E27FC236}">
                <a16:creationId xmlns:a16="http://schemas.microsoft.com/office/drawing/2014/main" id="{CB936B37-1A40-408B-B7E0-2653BCC3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714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8100" b="1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8100" b="1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6" name="text-153">
            <a:extLst xmlns:a="http://schemas.openxmlformats.org/drawingml/2006/main">
              <a:ext uri="{FF2B5EF4-FFF2-40B4-BE49-F238E27FC236}">
                <a16:creationId xmlns:a16="http://schemas.microsoft.com/office/drawing/2014/main" id="{FA3B5133-D0A2-4FC5-A26E-3906145B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27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Artista de Personagens &amp; Criaturas</a:t>
            </a:r>
          </a:p>
        </p:txBody>
      </p:sp>
      <p:sp>
        <p:nvSpPr>
          <p:cNvPr id="7" name="text-154">
            <a:extLst xmlns:a="http://schemas.openxmlformats.org/drawingml/2006/main">
              <a:ext uri="{FF2B5EF4-FFF2-40B4-BE49-F238E27FC236}">
                <a16:creationId xmlns:a16="http://schemas.microsoft.com/office/drawing/2014/main" id="{563D647C-BF04-4A80-B401-8F768A11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Arte de personagens e criaturas de fantasia sombria, e YATHRA, o universo draconiano original dela.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59A168-82FF-4F83-924E-C8C3A1AC15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518bc4f2645cc"/>
          <a:stretch xmlns:a="http://schemas.openxmlformats.org/drawingml/2006/main"/>
        </p:blipFill>
        <p:spPr>
          <a:xfrm xmlns:a="http://schemas.openxmlformats.org/drawingml/2006/main">
            <a:off x="7915275" y="1042866"/>
            <a:ext cx="3314700" cy="4715118"/>
          </a:xfrm>
          <a:prstGeom xmlns:a="http://schemas.openxmlformats.org/drawingml/2006/main" prst="rect">
            <a:avLst/>
          </a:prstGeom>
        </p:spPr>
      </p:pic>
      <p:sp>
        <p:nvSpPr>
          <p:cNvPr id="9" name="text-155">
            <a:extLst xmlns:a="http://schemas.openxmlformats.org/drawingml/2006/main">
              <a:ext uri="{FF2B5EF4-FFF2-40B4-BE49-F238E27FC236}">
                <a16:creationId xmlns:a16="http://schemas.microsoft.com/office/drawing/2014/main" id="{266FB425-AF81-4FA6-8145-4882DBDE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038850"/>
            <a:ext cx="3476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Arte de IGNAVRAK! A Respiração do Primeiro Sol!</a:t>
            </a:r>
          </a:p>
        </p:txBody>
      </p:sp>
    </p:spTree>
    <p:extLst>
      <p:ext uri="{BB962C8B-B14F-4D97-AF65-F5344CB8AC3E}">
        <p14:creationId xmlns:p14="http://schemas.microsoft.com/office/powerpoint/2010/main" val="16468004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56">
            <a:extLst xmlns:a="http://schemas.openxmlformats.org/drawingml/2006/main">
              <a:ext uri="{FF2B5EF4-FFF2-40B4-BE49-F238E27FC236}">
                <a16:creationId xmlns:a16="http://schemas.microsoft.com/office/drawing/2014/main" id="{43ED0EF7-A26A-49FA-A2AA-469500CC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57">
            <a:extLst xmlns:a="http://schemas.openxmlformats.org/drawingml/2006/main">
              <a:ext uri="{FF2B5EF4-FFF2-40B4-BE49-F238E27FC236}">
                <a16:creationId xmlns:a16="http://schemas.microsoft.com/office/drawing/2014/main" id="{6FCE6DE5-7382-44BD-B494-70DB6A6F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58">
            <a:extLst xmlns:a="http://schemas.openxmlformats.org/drawingml/2006/main">
              <a:ext uri="{FF2B5EF4-FFF2-40B4-BE49-F238E27FC236}">
                <a16:creationId xmlns:a16="http://schemas.microsoft.com/office/drawing/2014/main" id="{8E1A7022-4578-485F-9E71-BA4B0A1A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Quem é</a:t>
            </a:r>
          </a:p>
        </p:txBody>
      </p:sp>
      <p:sp>
        <p:nvSpPr>
          <p:cNvPr id="4" name="text-159">
            <a:extLst xmlns:a="http://schemas.openxmlformats.org/drawingml/2006/main">
              <a:ext uri="{FF2B5EF4-FFF2-40B4-BE49-F238E27FC236}">
                <a16:creationId xmlns:a16="http://schemas.microsoft.com/office/drawing/2014/main" id="{68ACF061-C2C6-4382-B279-9C498201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D50EF-33AE-4CA0-A05D-772EED0D1A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73e60aa654dd4"/>
          <a:srcRect xmlns:a="http://schemas.openxmlformats.org/drawingml/2006/main" l="0" t="4591" r="0" b="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800225"/>
            <a:ext cx="2619375" cy="4229100"/>
          </a:xfrm>
          <a:prstGeom xmlns:a="http://schemas.openxmlformats.org/drawingml/2006/main" prst="rect">
            <a:avLst/>
          </a:prstGeom>
        </p:spPr>
      </p:pic>
      <p:sp>
        <p:nvSpPr>
          <p:cNvPr id="6" name="text-160">
            <a:extLst xmlns:a="http://schemas.openxmlformats.org/drawingml/2006/main">
              <a:ext uri="{FF2B5EF4-FFF2-40B4-BE49-F238E27FC236}">
                <a16:creationId xmlns:a16="http://schemas.microsoft.com/office/drawing/2014/main" id="{081B8566-B8A1-4EEB-8F69-07AF5133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6212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7" name="text-161">
            <a:extLst xmlns:a="http://schemas.openxmlformats.org/drawingml/2006/main">
              <a:ext uri="{FF2B5EF4-FFF2-40B4-BE49-F238E27FC236}">
                <a16:creationId xmlns:a16="http://schemas.microsoft.com/office/drawing/2014/main" id="{C372B207-59FE-408C-A6B1-822C557A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600325"/>
            <a:ext cx="75819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Artista visual e ilustradora com foco em design de personagens há mais de 15 anos, tanto nacional quanto internacionalmente, tendo enorme influência da cultura geek, alta fantasia, TCG e principalmente RPG.</a:t>
            </a:r>
          </a:p>
        </p:txBody>
      </p:sp>
      <p:sp>
        <p:nvSpPr>
          <p:cNvPr id="8" name="text-162">
            <a:extLst xmlns:a="http://schemas.openxmlformats.org/drawingml/2006/main">
              <a:ext uri="{FF2B5EF4-FFF2-40B4-BE49-F238E27FC236}">
                <a16:creationId xmlns:a16="http://schemas.microsoft.com/office/drawing/2014/main" id="{02581F4B-FDF8-4D3F-ADCF-FD7BD8C1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2100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Atualmente vem trabalhando na plataforma Patreon com criação de comunidade e, ao mesmo tempo, desenvolvendo seu projeto autoral YATHRA, um concept artbook / livro cenário de RPG de alta fantasia capa-e-espada, com inclusão da cultura queer (LGBTQIAPN+) e dragões. Muitos dragões!</a:t>
            </a:r>
          </a:p>
        </p:txBody>
      </p:sp>
      <p:sp>
        <p:nvSpPr>
          <p:cNvPr id="9" name="text-163">
            <a:extLst xmlns:a="http://schemas.openxmlformats.org/drawingml/2006/main">
              <a:ext uri="{FF2B5EF4-FFF2-40B4-BE49-F238E27FC236}">
                <a16:creationId xmlns:a16="http://schemas.microsoft.com/office/drawing/2014/main" id="{A3B6F178-3018-425E-B4F8-0EFACB99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43600"/>
            <a:ext cx="758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Idiomas: Português · Inglês</a:t>
            </a:r>
          </a:p>
        </p:txBody>
      </p:sp>
    </p:spTree>
    <p:extLst>
      <p:ext uri="{BB962C8B-B14F-4D97-AF65-F5344CB8AC3E}">
        <p14:creationId xmlns:p14="http://schemas.microsoft.com/office/powerpoint/2010/main" val="20799755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64">
            <a:extLst xmlns:a="http://schemas.openxmlformats.org/drawingml/2006/main">
              <a:ext uri="{FF2B5EF4-FFF2-40B4-BE49-F238E27FC236}">
                <a16:creationId xmlns:a16="http://schemas.microsoft.com/office/drawing/2014/main" id="{3BC197E4-B686-4833-BF6D-0F17F99F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65">
            <a:extLst xmlns:a="http://schemas.openxmlformats.org/drawingml/2006/main">
              <a:ext uri="{FF2B5EF4-FFF2-40B4-BE49-F238E27FC236}">
                <a16:creationId xmlns:a16="http://schemas.microsoft.com/office/drawing/2014/main" id="{7BE58703-59FA-4A83-B5E2-7E230C42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66">
            <a:extLst xmlns:a="http://schemas.openxmlformats.org/drawingml/2006/main">
              <a:ext uri="{FF2B5EF4-FFF2-40B4-BE49-F238E27FC236}">
                <a16:creationId xmlns:a16="http://schemas.microsoft.com/office/drawing/2014/main" id="{36E5369C-B1BE-4717-BD54-BE467D17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Ideal para</a:t>
            </a:r>
          </a:p>
        </p:txBody>
      </p:sp>
      <p:sp>
        <p:nvSpPr>
          <p:cNvPr id="4" name="text-167">
            <a:extLst xmlns:a="http://schemas.openxmlformats.org/drawingml/2006/main">
              <a:ext uri="{FF2B5EF4-FFF2-40B4-BE49-F238E27FC236}">
                <a16:creationId xmlns:a16="http://schemas.microsoft.com/office/drawing/2014/main" id="{CE8AF7D4-9242-43B2-A6B0-C83CACFD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5" name="text-168">
            <a:extLst xmlns:a="http://schemas.openxmlformats.org/drawingml/2006/main">
              <a:ext uri="{FF2B5EF4-FFF2-40B4-BE49-F238E27FC236}">
                <a16:creationId xmlns:a16="http://schemas.microsoft.com/office/drawing/2014/main" id="{58EAD318-DDBC-43D9-8F61-F1BE1116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RPG de mesa &amp; jogos</a:t>
            </a:r>
          </a:p>
        </p:txBody>
      </p:sp>
      <p:sp>
        <p:nvSpPr>
          <p:cNvPr id="6" name="text-169">
            <a:extLst xmlns:a="http://schemas.openxmlformats.org/drawingml/2006/main">
              <a:ext uri="{FF2B5EF4-FFF2-40B4-BE49-F238E27FC236}">
                <a16:creationId xmlns:a16="http://schemas.microsoft.com/office/drawing/2014/main" id="{5783B863-1B70-44D7-B4D4-DA9F23AD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5238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Pensada para seu projeto: personagens, criaturas e cenários com consistência visual, prontos para publicar, atendendo a editoras, estúdios de jogos, criadores de TCG e projetos independentes da comunidade.</a:t>
            </a:r>
          </a:p>
        </p:txBody>
      </p:sp>
      <p:sp>
        <p:nvSpPr>
          <p:cNvPr id="7" name="text-170">
            <a:extLst xmlns:a="http://schemas.openxmlformats.org/drawingml/2006/main">
              <a:ext uri="{FF2B5EF4-FFF2-40B4-BE49-F238E27FC236}">
                <a16:creationId xmlns:a16="http://schemas.microsoft.com/office/drawing/2014/main" id="{FAF4574B-E12B-45AB-B5B6-BB92D4C8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Conteúdo para marcas</a:t>
            </a:r>
          </a:p>
        </p:txBody>
      </p:sp>
      <p:sp>
        <p:nvSpPr>
          <p:cNvPr id="8" name="text-171">
            <a:extLst xmlns:a="http://schemas.openxmlformats.org/drawingml/2006/main">
              <a:ext uri="{FF2B5EF4-FFF2-40B4-BE49-F238E27FC236}">
                <a16:creationId xmlns:a16="http://schemas.microsoft.com/office/drawing/2014/main" id="{A7AF8668-B40D-4575-8640-276C2044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193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Conteúdo especializado em produtos e ferramentas para artistas, conectando marcas ao público.</a:t>
            </a:r>
          </a:p>
        </p:txBody>
      </p:sp>
      <p:sp>
        <p:nvSpPr>
          <p:cNvPr id="9" name="text-172">
            <a:extLst xmlns:a="http://schemas.openxmlformats.org/drawingml/2006/main">
              <a:ext uri="{FF2B5EF4-FFF2-40B4-BE49-F238E27FC236}">
                <a16:creationId xmlns:a16="http://schemas.microsoft.com/office/drawing/2014/main" id="{EE8A4AE7-22C8-4B02-816A-99713E75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Artes para livros e jogos</a:t>
            </a:r>
          </a:p>
        </p:txBody>
      </p:sp>
      <p:sp>
        <p:nvSpPr>
          <p:cNvPr id="10" name="text-173">
            <a:extLst xmlns:a="http://schemas.openxmlformats.org/drawingml/2006/main">
              <a:ext uri="{FF2B5EF4-FFF2-40B4-BE49-F238E27FC236}">
                <a16:creationId xmlns:a16="http://schemas.microsoft.com/office/drawing/2014/main" id="{4519203B-C338-4076-B05D-E23EAA6B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Ilustrações que ajudam a contar a sua história: capas, páginas internas, cartas e artes de ambientação.</a:t>
            </a:r>
          </a:p>
        </p:txBody>
      </p:sp>
      <p:sp>
        <p:nvSpPr>
          <p:cNvPr id="11" name="text-174">
            <a:extLst xmlns:a="http://schemas.openxmlformats.org/drawingml/2006/main">
              <a:ext uri="{FF2B5EF4-FFF2-40B4-BE49-F238E27FC236}">
                <a16:creationId xmlns:a16="http://schemas.microsoft.com/office/drawing/2014/main" id="{547F9DEF-16C2-4E4B-A624-D009E8AB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Do briefing à arte final</a:t>
            </a:r>
          </a:p>
        </p:txBody>
      </p:sp>
      <p:sp>
        <p:nvSpPr>
          <p:cNvPr id="12" name="text-175">
            <a:extLst xmlns:a="http://schemas.openxmlformats.org/drawingml/2006/main">
              <a:ext uri="{FF2B5EF4-FFF2-40B4-BE49-F238E27FC236}">
                <a16:creationId xmlns:a16="http://schemas.microsoft.com/office/drawing/2014/main" id="{71B414D4-D880-49EB-9BD7-2749DFFA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Personagens autorais, criaturas e reference sheets completos, com diferentes ângulos, expressões, paleta de cores, detalhes de vestuário e itens.</a:t>
            </a:r>
          </a:p>
        </p:txBody>
      </p:sp>
      <p:sp>
        <p:nvSpPr>
          <p:cNvPr id="13" name="text-176">
            <a:extLst xmlns:a="http://schemas.openxmlformats.org/drawingml/2006/main">
              <a:ext uri="{FF2B5EF4-FFF2-40B4-BE49-F238E27FC236}">
                <a16:creationId xmlns:a16="http://schemas.microsoft.com/office/drawing/2014/main" id="{672EA417-F9EE-4590-9A25-D92505B4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Reviews &amp; testes de produtos</a:t>
            </a:r>
          </a:p>
        </p:txBody>
      </p:sp>
      <p:sp>
        <p:nvSpPr>
          <p:cNvPr id="14" name="text-177">
            <a:extLst xmlns:a="http://schemas.openxmlformats.org/drawingml/2006/main">
              <a:ext uri="{FF2B5EF4-FFF2-40B4-BE49-F238E27FC236}">
                <a16:creationId xmlns:a16="http://schemas.microsoft.com/office/drawing/2014/main" id="{3B3BDEA5-2668-4BEE-8BFA-5F70118F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Avaliações de ferramentas e materiais para arte digital e tradicional, incluindo mesas digitalizadoras, tablets, canetas digitais, softwares, tintas, pincéis e outros recursos artísticos, explorando qualidade, desempenho e experiência de uso.</a:t>
            </a:r>
          </a:p>
        </p:txBody>
      </p:sp>
      <p:sp>
        <p:nvSpPr>
          <p:cNvPr id="15" name="text-178">
            <a:extLst xmlns:a="http://schemas.openxmlformats.org/drawingml/2006/main">
              <a:ext uri="{FF2B5EF4-FFF2-40B4-BE49-F238E27FC236}">
                <a16:creationId xmlns:a16="http://schemas.microsoft.com/office/drawing/2014/main" id="{7476C456-6510-4081-B6FD-26373737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387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Conteúdo artístico &amp; demonstrações</a:t>
            </a:r>
          </a:p>
        </p:txBody>
      </p:sp>
      <p:sp>
        <p:nvSpPr>
          <p:cNvPr id="16" name="text-179">
            <a:extLst xmlns:a="http://schemas.openxmlformats.org/drawingml/2006/main">
              <a:ext uri="{FF2B5EF4-FFF2-40B4-BE49-F238E27FC236}">
                <a16:creationId xmlns:a16="http://schemas.microsoft.com/office/drawing/2014/main" id="{AAA84EC7-5478-4FA5-9EFE-AFC5C202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483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Produção de ilustrações, tutoriais e demonstrações com produtos digitais e tradicionais, destacando suas aplicações criativas em conteúdos para divulgação.</a:t>
            </a:r>
          </a:p>
        </p:txBody>
      </p:sp>
    </p:spTree>
    <p:extLst>
      <p:ext uri="{BB962C8B-B14F-4D97-AF65-F5344CB8AC3E}">
        <p14:creationId xmlns:p14="http://schemas.microsoft.com/office/powerpoint/2010/main" val="12073258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80">
            <a:extLst xmlns:a="http://schemas.openxmlformats.org/drawingml/2006/main">
              <a:ext uri="{FF2B5EF4-FFF2-40B4-BE49-F238E27FC236}">
                <a16:creationId xmlns:a16="http://schemas.microsoft.com/office/drawing/2014/main" id="{0FB70F18-D630-4E86-AA8C-F2C7C7D1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81">
            <a:extLst xmlns:a="http://schemas.openxmlformats.org/drawingml/2006/main">
              <a:ext uri="{FF2B5EF4-FFF2-40B4-BE49-F238E27FC236}">
                <a16:creationId xmlns:a16="http://schemas.microsoft.com/office/drawing/2014/main" id="{C1608E0C-DDAA-402C-9A23-80B06F3D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82">
            <a:extLst xmlns:a="http://schemas.openxmlformats.org/drawingml/2006/main">
              <a:ext uri="{FF2B5EF4-FFF2-40B4-BE49-F238E27FC236}">
                <a16:creationId xmlns:a16="http://schemas.microsoft.com/office/drawing/2014/main" id="{2EA68082-B030-42B1-9CA9-F9251A97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4" name="text-183">
            <a:extLst xmlns:a="http://schemas.openxmlformats.org/drawingml/2006/main">
              <a:ext uri="{FF2B5EF4-FFF2-40B4-BE49-F238E27FC236}">
                <a16:creationId xmlns:a16="http://schemas.microsoft.com/office/drawing/2014/main" id="{F8D2AC16-BC3F-4959-B32C-6677C085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5" name="text-184">
            <a:extLst xmlns:a="http://schemas.openxmlformats.org/drawingml/2006/main">
              <a:ext uri="{FF2B5EF4-FFF2-40B4-BE49-F238E27FC236}">
                <a16:creationId xmlns:a16="http://schemas.microsoft.com/office/drawing/2014/main" id="{94EF4D20-514B-41C3-98D4-23BB564F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Um universo original</a:t>
            </a:r>
          </a:p>
        </p:txBody>
      </p:sp>
      <p:sp>
        <p:nvSpPr>
          <p:cNvPr id="6" name="text-185">
            <a:extLst xmlns:a="http://schemas.openxmlformats.org/drawingml/2006/main">
              <a:ext uri="{FF2B5EF4-FFF2-40B4-BE49-F238E27FC236}">
                <a16:creationId xmlns:a16="http://schemas.microsoft.com/office/drawing/2014/main" id="{A9D60B4C-41D8-4A81-B042-99FC5FE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953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Projeto de lore e worldbuilding para RPG de mesa, em construção há três anos: um mundo draconiano de conflitos, relações LGBTQIAPN+ e artefatos fantásticos.</a:t>
            </a:r>
          </a:p>
        </p:txBody>
      </p:sp>
      <p:sp>
        <p:nvSpPr>
          <p:cNvPr id="7" name="text-186">
            <a:extLst xmlns:a="http://schemas.openxmlformats.org/drawingml/2006/main">
              <a:ext uri="{FF2B5EF4-FFF2-40B4-BE49-F238E27FC236}">
                <a16:creationId xmlns:a16="http://schemas.microsoft.com/office/drawing/2014/main" id="{7400003E-2E91-46A5-9FD9-BE08E569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Apoiadores entram por tiers no Patreon, com itens físicos do universo e sketches originais dos seus próprios OCs.</a:t>
            </a:r>
          </a:p>
        </p:txBody>
      </p:sp>
      <p:sp>
        <p:nvSpPr>
          <p:cNvPr id="8" name="text-187">
            <a:extLst xmlns:a="http://schemas.openxmlformats.org/drawingml/2006/main">
              <a:ext uri="{FF2B5EF4-FFF2-40B4-BE49-F238E27FC236}">
                <a16:creationId xmlns:a16="http://schemas.microsoft.com/office/drawing/2014/main" id="{99119944-A14B-4ADB-A08D-BB8C8259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fe7f5d25d20c4b52"/>
              </a:rPr>
              <a:t>patreon.com/giums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F86E8-944D-4DCB-B2B3-C165C0854C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e0870cde6495d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1790700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A05E7C-7929-485F-AD3E-37C2594799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720560c974f8b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333625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DF029-7EAD-4EB1-A701-76C4AA3067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e0bb86fb3413a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67900" y="2009775"/>
            <a:ext cx="1657350" cy="317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3815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88">
            <a:extLst xmlns:a="http://schemas.openxmlformats.org/drawingml/2006/main">
              <a:ext uri="{FF2B5EF4-FFF2-40B4-BE49-F238E27FC236}">
                <a16:creationId xmlns:a16="http://schemas.microsoft.com/office/drawing/2014/main" id="{CC1BC6B1-8FF2-47E4-9764-1F30BF7C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89">
            <a:extLst xmlns:a="http://schemas.openxmlformats.org/drawingml/2006/main">
              <a:ext uri="{FF2B5EF4-FFF2-40B4-BE49-F238E27FC236}">
                <a16:creationId xmlns:a16="http://schemas.microsoft.com/office/drawing/2014/main" id="{FE19C832-4957-4B67-B02D-16FD2343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90">
            <a:extLst xmlns:a="http://schemas.openxmlformats.org/drawingml/2006/main">
              <a:ext uri="{FF2B5EF4-FFF2-40B4-BE49-F238E27FC236}">
                <a16:creationId xmlns:a16="http://schemas.microsoft.com/office/drawing/2014/main" id="{D1DCAEA2-62EE-4A10-B52B-14611D70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Audiência &amp; alcance</a:t>
            </a:r>
          </a:p>
        </p:txBody>
      </p:sp>
      <p:sp>
        <p:nvSpPr>
          <p:cNvPr id="4" name="text-191">
            <a:extLst xmlns:a="http://schemas.openxmlformats.org/drawingml/2006/main">
              <a:ext uri="{FF2B5EF4-FFF2-40B4-BE49-F238E27FC236}">
                <a16:creationId xmlns:a16="http://schemas.microsoft.com/office/drawing/2014/main" id="{1B1688D2-2A86-40F1-9E3C-3006A412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5" name="text-192">
            <a:extLst xmlns:a="http://schemas.openxmlformats.org/drawingml/2006/main">
              <a:ext uri="{FF2B5EF4-FFF2-40B4-BE49-F238E27FC236}">
                <a16:creationId xmlns:a16="http://schemas.microsoft.com/office/drawing/2014/main" id="{D4579333-6C96-46CE-86BF-C8116D0E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Números de out/2026.</a:t>
            </a:r>
          </a:p>
        </p:txBody>
      </p:sp>
      <p:sp>
        <p:nvSpPr>
          <p:cNvPr id="6" name="text-193">
            <a:extLst xmlns:a="http://schemas.openxmlformats.org/drawingml/2006/main">
              <a:ext uri="{FF2B5EF4-FFF2-40B4-BE49-F238E27FC236}">
                <a16:creationId xmlns:a16="http://schemas.microsoft.com/office/drawing/2014/main" id="{84986AA0-1FB2-4193-9CF4-90F5E8F0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Instagram</a:t>
            </a:r>
          </a:p>
        </p:txBody>
      </p:sp>
      <p:sp>
        <p:nvSpPr>
          <p:cNvPr id="7" name="text-194">
            <a:extLst xmlns:a="http://schemas.openxmlformats.org/drawingml/2006/main">
              <a:ext uri="{FF2B5EF4-FFF2-40B4-BE49-F238E27FC236}">
                <a16:creationId xmlns:a16="http://schemas.microsoft.com/office/drawing/2014/main" id="{8D040B92-FC06-4C12-8B1F-473EF4CC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09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8" name="text-195">
            <a:extLst xmlns:a="http://schemas.openxmlformats.org/drawingml/2006/main">
              <a:ext uri="{FF2B5EF4-FFF2-40B4-BE49-F238E27FC236}">
                <a16:creationId xmlns:a16="http://schemas.microsoft.com/office/drawing/2014/main" id="{677CB8E2-ABAC-4BBA-9DCA-C14D478E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90925"/>
            <a:ext cx="609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seguidores</a:t>
            </a:r>
          </a:p>
        </p:txBody>
      </p:sp>
      <p:sp>
        <p:nvSpPr>
          <p:cNvPr id="9" name="text-196">
            <a:extLst xmlns:a="http://schemas.openxmlformats.org/drawingml/2006/main">
              <a:ext uri="{FF2B5EF4-FFF2-40B4-BE49-F238E27FC236}">
                <a16:creationId xmlns:a16="http://schemas.microsoft.com/office/drawing/2014/main" id="{EB40F7B9-450C-4E13-8FC8-A2FDA9D2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0" name="text-197">
            <a:extLst xmlns:a="http://schemas.openxmlformats.org/drawingml/2006/main">
              <a:ext uri="{FF2B5EF4-FFF2-40B4-BE49-F238E27FC236}">
                <a16:creationId xmlns:a16="http://schemas.microsoft.com/office/drawing/2014/main" id="{4786F278-E66B-45D7-800E-2E59D44C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taxa de engajamento média</a:t>
            </a:r>
          </a:p>
        </p:txBody>
      </p:sp>
      <p:sp>
        <p:nvSpPr>
          <p:cNvPr id="11" name="text-198">
            <a:extLst xmlns:a="http://schemas.openxmlformats.org/drawingml/2006/main">
              <a:ext uri="{FF2B5EF4-FFF2-40B4-BE49-F238E27FC236}">
                <a16:creationId xmlns:a16="http://schemas.microsoft.com/office/drawing/2014/main" id="{C84BF1DA-BAC5-4549-BC29-0AAAD3E3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2" name="text-199">
            <a:extLst xmlns:a="http://schemas.openxmlformats.org/drawingml/2006/main">
              <a:ext uri="{FF2B5EF4-FFF2-40B4-BE49-F238E27FC236}">
                <a16:creationId xmlns:a16="http://schemas.microsoft.com/office/drawing/2014/main" id="{AB4A18B1-81F8-44EF-8AA2-756F1A8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média de curtidas por post</a:t>
            </a:r>
          </a:p>
        </p:txBody>
      </p:sp>
      <p:sp>
        <p:nvSpPr>
          <p:cNvPr id="13" name="text-200">
            <a:extLst xmlns:a="http://schemas.openxmlformats.org/drawingml/2006/main">
              <a:ext uri="{FF2B5EF4-FFF2-40B4-BE49-F238E27FC236}">
                <a16:creationId xmlns:a16="http://schemas.microsoft.com/office/drawing/2014/main" id="{F1C9C9E7-6DE4-4E2C-8FAB-B851355F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4" name="text-201">
            <a:extLst xmlns:a="http://schemas.openxmlformats.org/drawingml/2006/main">
              <a:ext uri="{FF2B5EF4-FFF2-40B4-BE49-F238E27FC236}">
                <a16:creationId xmlns:a16="http://schemas.microsoft.com/office/drawing/2014/main" id="{6B518B29-B467-4FBC-B872-93FD34FA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média de comentários por post</a:t>
            </a:r>
          </a:p>
        </p:txBody>
      </p:sp>
      <p:sp>
        <p:nvSpPr>
          <p:cNvPr id="15" name="text-202">
            <a:extLst xmlns:a="http://schemas.openxmlformats.org/drawingml/2006/main">
              <a:ext uri="{FF2B5EF4-FFF2-40B4-BE49-F238E27FC236}">
                <a16:creationId xmlns:a16="http://schemas.microsoft.com/office/drawing/2014/main" id="{3DCE30A3-C283-4100-887C-59C051A1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6" name="text-203">
            <a:extLst xmlns:a="http://schemas.openxmlformats.org/drawingml/2006/main">
              <a:ext uri="{FF2B5EF4-FFF2-40B4-BE49-F238E27FC236}">
                <a16:creationId xmlns:a16="http://schemas.microsoft.com/office/drawing/2014/main" id="{3B47B033-C168-4BB4-A2B8-9AE3FDEB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81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86 / 17</a:t>
            </a:r>
          </a:p>
        </p:txBody>
      </p:sp>
      <p:sp>
        <p:nvSpPr>
          <p:cNvPr id="17" name="text-204">
            <a:extLst xmlns:a="http://schemas.openxmlformats.org/drawingml/2006/main">
              <a:ext uri="{FF2B5EF4-FFF2-40B4-BE49-F238E27FC236}">
                <a16:creationId xmlns:a16="http://schemas.microsoft.com/office/drawing/2014/main" id="{8C9148F3-1B6A-46F1-BCC3-17131290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86175"/>
            <a:ext cx="371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seguidores / assinantes pagos</a:t>
            </a:r>
          </a:p>
        </p:txBody>
      </p:sp>
      <p:sp>
        <p:nvSpPr>
          <p:cNvPr id="18" name="text-205">
            <a:extLst xmlns:a="http://schemas.openxmlformats.org/drawingml/2006/main">
              <a:ext uri="{FF2B5EF4-FFF2-40B4-BE49-F238E27FC236}">
                <a16:creationId xmlns:a16="http://schemas.microsoft.com/office/drawing/2014/main" id="{3C0F705D-8E6D-4610-A233-E612431D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0100"/>
            <a:ext cx="371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 a cada 5 seguidores é assinante pago.</a:t>
            </a:r>
          </a:p>
        </p:txBody>
      </p:sp>
      <p:sp>
        <p:nvSpPr>
          <p:cNvPr id="19" name="text-206">
            <a:extLst xmlns:a="http://schemas.openxmlformats.org/drawingml/2006/main">
              <a:ext uri="{FF2B5EF4-FFF2-40B4-BE49-F238E27FC236}">
                <a16:creationId xmlns:a16="http://schemas.microsoft.com/office/drawing/2014/main" id="{6E33A738-B751-49B5-BD9C-2EB26D58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audiência total · Instagram + Patreon: 16.5K</a:t>
            </a:r>
          </a:p>
        </p:txBody>
      </p:sp>
    </p:spTree>
    <p:extLst>
      <p:ext uri="{BB962C8B-B14F-4D97-AF65-F5344CB8AC3E}">
        <p14:creationId xmlns:p14="http://schemas.microsoft.com/office/powerpoint/2010/main" val="19438595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07">
            <a:extLst xmlns:a="http://schemas.openxmlformats.org/drawingml/2006/main">
              <a:ext uri="{FF2B5EF4-FFF2-40B4-BE49-F238E27FC236}">
                <a16:creationId xmlns:a16="http://schemas.microsoft.com/office/drawing/2014/main" id="{ED1108B7-1BE4-46C8-A5E6-BFBFBE0D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08">
            <a:extLst xmlns:a="http://schemas.openxmlformats.org/drawingml/2006/main">
              <a:ext uri="{FF2B5EF4-FFF2-40B4-BE49-F238E27FC236}">
                <a16:creationId xmlns:a16="http://schemas.microsoft.com/office/drawing/2014/main" id="{3EF56713-B07B-4C8A-8B65-0433CB1C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09">
            <a:extLst xmlns:a="http://schemas.openxmlformats.org/drawingml/2006/main">
              <a:ext uri="{FF2B5EF4-FFF2-40B4-BE49-F238E27FC236}">
                <a16:creationId xmlns:a16="http://schemas.microsoft.com/office/drawing/2014/main" id="{665286EC-DA17-4898-AB42-BD4F7635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Alcance e comunidade</a:t>
            </a:r>
          </a:p>
        </p:txBody>
      </p:sp>
      <p:sp>
        <p:nvSpPr>
          <p:cNvPr id="4" name="text-210">
            <a:extLst xmlns:a="http://schemas.openxmlformats.org/drawingml/2006/main">
              <a:ext uri="{FF2B5EF4-FFF2-40B4-BE49-F238E27FC236}">
                <a16:creationId xmlns:a16="http://schemas.microsoft.com/office/drawing/2014/main" id="{F975E4ED-028F-45E1-9718-4D77D3D0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5" name="text-211">
            <a:extLst xmlns:a="http://schemas.openxmlformats.org/drawingml/2006/main">
              <a:ext uri="{FF2B5EF4-FFF2-40B4-BE49-F238E27FC236}">
                <a16:creationId xmlns:a16="http://schemas.microsoft.com/office/drawing/2014/main" id="{43497016-B173-4F36-B447-E5033C28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6" name="text-212">
            <a:extLst xmlns:a="http://schemas.openxmlformats.org/drawingml/2006/main">
              <a:ext uri="{FF2B5EF4-FFF2-40B4-BE49-F238E27FC236}">
                <a16:creationId xmlns:a16="http://schemas.microsoft.com/office/drawing/2014/main" id="{884DB4B4-9AAE-47C8-AA86-8A343C4D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visualizações em 30 dias</a:t>
            </a:r>
          </a:p>
        </p:txBody>
      </p:sp>
      <p:sp>
        <p:nvSpPr>
          <p:cNvPr id="7" name="text-213">
            <a:extLst xmlns:a="http://schemas.openxmlformats.org/drawingml/2006/main">
              <a:ext uri="{FF2B5EF4-FFF2-40B4-BE49-F238E27FC236}">
                <a16:creationId xmlns:a16="http://schemas.microsoft.com/office/drawing/2014/main" id="{4B6C2606-10A6-4F8C-BD26-C0C6DA30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8" name="text-214">
            <a:extLst xmlns:a="http://schemas.openxmlformats.org/drawingml/2006/main">
              <a:ext uri="{FF2B5EF4-FFF2-40B4-BE49-F238E27FC236}">
                <a16:creationId xmlns:a16="http://schemas.microsoft.com/office/drawing/2014/main" id="{BB784A49-C46B-4CA7-B07C-EA052908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contas que viram o conteúdo</a:t>
            </a:r>
          </a:p>
        </p:txBody>
      </p:sp>
      <p:sp>
        <p:nvSpPr>
          <p:cNvPr id="9" name="text-215">
            <a:extLst xmlns:a="http://schemas.openxmlformats.org/drawingml/2006/main">
              <a:ext uri="{FF2B5EF4-FFF2-40B4-BE49-F238E27FC236}">
                <a16:creationId xmlns:a16="http://schemas.microsoft.com/office/drawing/2014/main" id="{4FB2E831-BBB1-4014-B3B7-2955E23C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+116</a:t>
            </a:r>
          </a:p>
        </p:txBody>
      </p:sp>
      <p:sp>
        <p:nvSpPr>
          <p:cNvPr id="10" name="text-216">
            <a:extLst xmlns:a="http://schemas.openxmlformats.org/drawingml/2006/main">
              <a:ext uri="{FF2B5EF4-FFF2-40B4-BE49-F238E27FC236}">
                <a16:creationId xmlns:a16="http://schemas.microsoft.com/office/drawing/2014/main" id="{DA78C2D1-D21F-48DF-BD95-D8C6DB54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seguidores líquidos em 30 dias</a:t>
            </a:r>
          </a:p>
        </p:txBody>
      </p:sp>
      <p:sp>
        <p:nvSpPr>
          <p:cNvPr id="11" name="text-217">
            <a:extLst xmlns:a="http://schemas.openxmlformats.org/drawingml/2006/main">
              <a:ext uri="{FF2B5EF4-FFF2-40B4-BE49-F238E27FC236}">
                <a16:creationId xmlns:a16="http://schemas.microsoft.com/office/drawing/2014/main" id="{9992555C-9AAB-407C-9A95-0D055AAC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2" name="text-218">
            <a:extLst xmlns:a="http://schemas.openxmlformats.org/drawingml/2006/main">
              <a:ext uri="{FF2B5EF4-FFF2-40B4-BE49-F238E27FC236}">
                <a16:creationId xmlns:a16="http://schemas.microsoft.com/office/drawing/2014/main" id="{64B71366-540C-4CF0-83B7-BA6AF581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Apoiadores recebem wallpapers mensais, lore do mundo, sketches, adesivos e prints exclusivos, WIPs, GIFs, packs de brushes e acesso à comunidade no Discord.</a:t>
            </a:r>
          </a:p>
        </p:txBody>
      </p:sp>
      <p:sp>
        <p:nvSpPr>
          <p:cNvPr id="13" name="text-219">
            <a:extLst xmlns:a="http://schemas.openxmlformats.org/drawingml/2006/main">
              <a:ext uri="{FF2B5EF4-FFF2-40B4-BE49-F238E27FC236}">
                <a16:creationId xmlns:a16="http://schemas.microsoft.com/office/drawing/2014/main" id="{7A4DB0CC-10E4-4364-876D-1F1D10FD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Números de out/2026.</a:t>
            </a:r>
          </a:p>
        </p:txBody>
      </p:sp>
    </p:spTree>
    <p:extLst>
      <p:ext uri="{BB962C8B-B14F-4D97-AF65-F5344CB8AC3E}">
        <p14:creationId xmlns:p14="http://schemas.microsoft.com/office/powerpoint/2010/main" val="11180103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20">
            <a:extLst xmlns:a="http://schemas.openxmlformats.org/drawingml/2006/main">
              <a:ext uri="{FF2B5EF4-FFF2-40B4-BE49-F238E27FC236}">
                <a16:creationId xmlns:a16="http://schemas.microsoft.com/office/drawing/2014/main" id="{5E7EE6D7-ECD9-4D66-AF0D-71B3AF73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21">
            <a:extLst xmlns:a="http://schemas.openxmlformats.org/drawingml/2006/main">
              <a:ext uri="{FF2B5EF4-FFF2-40B4-BE49-F238E27FC236}">
                <a16:creationId xmlns:a16="http://schemas.microsoft.com/office/drawing/2014/main" id="{E21C363A-C498-4FF4-AEA7-0BDA70CD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22">
            <a:extLst xmlns:a="http://schemas.openxmlformats.org/drawingml/2006/main">
              <a:ext uri="{FF2B5EF4-FFF2-40B4-BE49-F238E27FC236}">
                <a16:creationId xmlns:a16="http://schemas.microsoft.com/office/drawing/2014/main" id="{F8CE35DC-E12D-43B0-8F8B-7B556D29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Perfil do público</a:t>
            </a:r>
          </a:p>
        </p:txBody>
      </p:sp>
      <p:sp>
        <p:nvSpPr>
          <p:cNvPr id="4" name="text-223">
            <a:extLst xmlns:a="http://schemas.openxmlformats.org/drawingml/2006/main">
              <a:ext uri="{FF2B5EF4-FFF2-40B4-BE49-F238E27FC236}">
                <a16:creationId xmlns:a16="http://schemas.microsoft.com/office/drawing/2014/main" id="{84270AA3-332A-4A62-818A-8E8FDB41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5" name="text-224">
            <a:extLst xmlns:a="http://schemas.openxmlformats.org/drawingml/2006/main">
              <a:ext uri="{FF2B5EF4-FFF2-40B4-BE49-F238E27FC236}">
                <a16:creationId xmlns:a16="http://schemas.microsoft.com/office/drawing/2014/main" id="{27671CD2-9BD7-41E7-9B15-2399ED2B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Faixa etária</a:t>
            </a:r>
          </a:p>
        </p:txBody>
      </p:sp>
      <p:sp>
        <p:nvSpPr>
          <p:cNvPr id="6" name="text-225">
            <a:extLst xmlns:a="http://schemas.openxmlformats.org/drawingml/2006/main">
              <a:ext uri="{FF2B5EF4-FFF2-40B4-BE49-F238E27FC236}">
                <a16:creationId xmlns:a16="http://schemas.microsoft.com/office/drawing/2014/main" id="{84A67975-5BD7-418A-BA99-03E1D713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7" name="text-226">
            <a:extLst xmlns:a="http://schemas.openxmlformats.org/drawingml/2006/main">
              <a:ext uri="{FF2B5EF4-FFF2-40B4-BE49-F238E27FC236}">
                <a16:creationId xmlns:a16="http://schemas.microsoft.com/office/drawing/2014/main" id="{E54E9EE2-7663-442B-9457-D57CA8E6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23.6%</a:t>
            </a:r>
          </a:p>
        </p:txBody>
      </p:sp>
      <p:sp>
        <p:nvSpPr>
          <p:cNvPr id="8" name="text-227">
            <a:extLst xmlns:a="http://schemas.openxmlformats.org/drawingml/2006/main">
              <a:ext uri="{FF2B5EF4-FFF2-40B4-BE49-F238E27FC236}">
                <a16:creationId xmlns:a16="http://schemas.microsoft.com/office/drawing/2014/main" id="{25AFBDDC-9394-43D8-A293-40C5E105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9" name="text-228">
            <a:extLst xmlns:a="http://schemas.openxmlformats.org/drawingml/2006/main">
              <a:ext uri="{FF2B5EF4-FFF2-40B4-BE49-F238E27FC236}">
                <a16:creationId xmlns:a16="http://schemas.microsoft.com/office/drawing/2014/main" id="{ED9B3097-B4FC-4A9A-8C04-BA9CB936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55.4%</a:t>
            </a:r>
          </a:p>
        </p:txBody>
      </p:sp>
      <p:sp>
        <p:nvSpPr>
          <p:cNvPr id="10" name="text-229">
            <a:extLst xmlns:a="http://schemas.openxmlformats.org/drawingml/2006/main">
              <a:ext uri="{FF2B5EF4-FFF2-40B4-BE49-F238E27FC236}">
                <a16:creationId xmlns:a16="http://schemas.microsoft.com/office/drawing/2014/main" id="{8A1395B6-B215-4AA5-A167-30911D9F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11" name="text-230">
            <a:extLst xmlns:a="http://schemas.openxmlformats.org/drawingml/2006/main">
              <a:ext uri="{FF2B5EF4-FFF2-40B4-BE49-F238E27FC236}">
                <a16:creationId xmlns:a16="http://schemas.microsoft.com/office/drawing/2014/main" id="{F97B28CC-05E8-49A8-8AA8-15775482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16.9%</a:t>
            </a:r>
          </a:p>
        </p:txBody>
      </p:sp>
      <p:sp>
        <p:nvSpPr>
          <p:cNvPr id="12" name="text-231">
            <a:extLst xmlns:a="http://schemas.openxmlformats.org/drawingml/2006/main">
              <a:ext uri="{FF2B5EF4-FFF2-40B4-BE49-F238E27FC236}">
                <a16:creationId xmlns:a16="http://schemas.microsoft.com/office/drawing/2014/main" id="{90A10896-A2BB-4DF4-8751-6E3DA9D4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13" name="text-232">
            <a:extLst xmlns:a="http://schemas.openxmlformats.org/drawingml/2006/main">
              <a:ext uri="{FF2B5EF4-FFF2-40B4-BE49-F238E27FC236}">
                <a16:creationId xmlns:a16="http://schemas.microsoft.com/office/drawing/2014/main" id="{640D0E54-44EA-4251-9985-ABD56641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4.2%</a:t>
            </a:r>
          </a:p>
        </p:txBody>
      </p:sp>
      <p:sp>
        <p:nvSpPr>
          <p:cNvPr id="14" name="text-233">
            <a:extLst xmlns:a="http://schemas.openxmlformats.org/drawingml/2006/main">
              <a:ext uri="{FF2B5EF4-FFF2-40B4-BE49-F238E27FC236}">
                <a16:creationId xmlns:a16="http://schemas.microsoft.com/office/drawing/2014/main" id="{36EF6F65-8F55-4E79-AB87-3F49CB70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811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Gênero</a:t>
            </a:r>
          </a:p>
        </p:txBody>
      </p:sp>
      <p:sp>
        <p:nvSpPr>
          <p:cNvPr id="15" name="text-234">
            <a:extLst xmlns:a="http://schemas.openxmlformats.org/drawingml/2006/main">
              <a:ext uri="{FF2B5EF4-FFF2-40B4-BE49-F238E27FC236}">
                <a16:creationId xmlns:a16="http://schemas.microsoft.com/office/drawing/2014/main" id="{12BAE9A7-DAE0-478D-86CD-985E72CF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6697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Mulheres</a:t>
            </a:r>
          </a:p>
        </p:txBody>
      </p:sp>
      <p:sp>
        <p:nvSpPr>
          <p:cNvPr id="16" name="text-235">
            <a:extLst xmlns:a="http://schemas.openxmlformats.org/drawingml/2006/main">
              <a:ext uri="{FF2B5EF4-FFF2-40B4-BE49-F238E27FC236}">
                <a16:creationId xmlns:a16="http://schemas.microsoft.com/office/drawing/2014/main" id="{83774455-BCB9-46EE-B575-62A478A6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669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61.7%</a:t>
            </a:r>
          </a:p>
        </p:txBody>
      </p:sp>
      <p:sp>
        <p:nvSpPr>
          <p:cNvPr id="17" name="text-236">
            <a:extLst xmlns:a="http://schemas.openxmlformats.org/drawingml/2006/main">
              <a:ext uri="{FF2B5EF4-FFF2-40B4-BE49-F238E27FC236}">
                <a16:creationId xmlns:a16="http://schemas.microsoft.com/office/drawing/2014/main" id="{4AAE91EB-1515-4653-8B9B-145B9E58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Homens</a:t>
            </a:r>
          </a:p>
        </p:txBody>
      </p:sp>
      <p:sp>
        <p:nvSpPr>
          <p:cNvPr id="18" name="text-237">
            <a:extLst xmlns:a="http://schemas.openxmlformats.org/drawingml/2006/main">
              <a:ext uri="{FF2B5EF4-FFF2-40B4-BE49-F238E27FC236}">
                <a16:creationId xmlns:a16="http://schemas.microsoft.com/office/drawing/2014/main" id="{28777A29-8E37-4201-80E5-FBBF7881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38.3%</a:t>
            </a:r>
          </a:p>
        </p:txBody>
      </p:sp>
      <p:sp>
        <p:nvSpPr>
          <p:cNvPr id="19" name="text-238">
            <a:extLst xmlns:a="http://schemas.openxmlformats.org/drawingml/2006/main">
              <a:ext uri="{FF2B5EF4-FFF2-40B4-BE49-F238E27FC236}">
                <a16:creationId xmlns:a16="http://schemas.microsoft.com/office/drawing/2014/main" id="{2DC61B66-B285-4AF6-9E98-BC64863B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Principais cidades</a:t>
            </a:r>
          </a:p>
        </p:txBody>
      </p:sp>
      <p:sp>
        <p:nvSpPr>
          <p:cNvPr id="20" name="text-239">
            <a:extLst xmlns:a="http://schemas.openxmlformats.org/drawingml/2006/main">
              <a:ext uri="{FF2B5EF4-FFF2-40B4-BE49-F238E27FC236}">
                <a16:creationId xmlns:a16="http://schemas.microsoft.com/office/drawing/2014/main" id="{002D4A0A-7A2F-4270-A6FF-3A730598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669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Fortaleza</a:t>
            </a:r>
          </a:p>
        </p:txBody>
      </p:sp>
      <p:sp>
        <p:nvSpPr>
          <p:cNvPr id="21" name="text-240">
            <a:extLst xmlns:a="http://schemas.openxmlformats.org/drawingml/2006/main">
              <a:ext uri="{FF2B5EF4-FFF2-40B4-BE49-F238E27FC236}">
                <a16:creationId xmlns:a16="http://schemas.microsoft.com/office/drawing/2014/main" id="{512F417F-FF0A-4ACE-9736-65D5EF6F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669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3.1%</a:t>
            </a:r>
          </a:p>
        </p:txBody>
      </p:sp>
      <p:sp>
        <p:nvSpPr>
          <p:cNvPr id="22" name="text-241">
            <a:extLst xmlns:a="http://schemas.openxmlformats.org/drawingml/2006/main">
              <a:ext uri="{FF2B5EF4-FFF2-40B4-BE49-F238E27FC236}">
                <a16:creationId xmlns:a16="http://schemas.microsoft.com/office/drawing/2014/main" id="{2FD99745-F0F2-4C89-B2A1-7B65D9C8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575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São Paulo</a:t>
            </a:r>
          </a:p>
        </p:txBody>
      </p:sp>
      <p:sp>
        <p:nvSpPr>
          <p:cNvPr id="23" name="text-242">
            <a:extLst xmlns:a="http://schemas.openxmlformats.org/drawingml/2006/main">
              <a:ext uri="{FF2B5EF4-FFF2-40B4-BE49-F238E27FC236}">
                <a16:creationId xmlns:a16="http://schemas.microsoft.com/office/drawing/2014/main" id="{D71050FE-93FF-418C-90AD-2AFE10FB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575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2.7%</a:t>
            </a:r>
          </a:p>
        </p:txBody>
      </p:sp>
      <p:sp>
        <p:nvSpPr>
          <p:cNvPr id="24" name="text-243">
            <a:extLst xmlns:a="http://schemas.openxmlformats.org/drawingml/2006/main">
              <a:ext uri="{FF2B5EF4-FFF2-40B4-BE49-F238E27FC236}">
                <a16:creationId xmlns:a16="http://schemas.microsoft.com/office/drawing/2014/main" id="{B1595291-6F6A-4E36-8BF3-35F47CC2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6480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Recife</a:t>
            </a:r>
          </a:p>
        </p:txBody>
      </p:sp>
      <p:sp>
        <p:nvSpPr>
          <p:cNvPr id="25" name="text-244">
            <a:extLst xmlns:a="http://schemas.openxmlformats.org/drawingml/2006/main">
              <a:ext uri="{FF2B5EF4-FFF2-40B4-BE49-F238E27FC236}">
                <a16:creationId xmlns:a16="http://schemas.microsoft.com/office/drawing/2014/main" id="{5623C41B-F55D-48EE-85D2-AD1E123B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480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2.3%</a:t>
            </a:r>
          </a:p>
        </p:txBody>
      </p:sp>
      <p:sp>
        <p:nvSpPr>
          <p:cNvPr id="26" name="text-245">
            <a:extLst xmlns:a="http://schemas.openxmlformats.org/drawingml/2006/main">
              <a:ext uri="{FF2B5EF4-FFF2-40B4-BE49-F238E27FC236}">
                <a16:creationId xmlns:a16="http://schemas.microsoft.com/office/drawing/2014/main" id="{314884F0-4B7C-4D47-884A-D690E82A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2386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João Pessoa</a:t>
            </a:r>
          </a:p>
        </p:txBody>
      </p:sp>
      <p:sp>
        <p:nvSpPr>
          <p:cNvPr id="27" name="text-246">
            <a:extLst xmlns:a="http://schemas.openxmlformats.org/drawingml/2006/main">
              <a:ext uri="{FF2B5EF4-FFF2-40B4-BE49-F238E27FC236}">
                <a16:creationId xmlns:a16="http://schemas.microsoft.com/office/drawing/2014/main" id="{06542BDD-6F42-4A1B-BD24-538F14CD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86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1.0%</a:t>
            </a:r>
          </a:p>
        </p:txBody>
      </p:sp>
      <p:sp>
        <p:nvSpPr>
          <p:cNvPr id="28" name="text-247">
            <a:extLst xmlns:a="http://schemas.openxmlformats.org/drawingml/2006/main">
              <a:ext uri="{FF2B5EF4-FFF2-40B4-BE49-F238E27FC236}">
                <a16:creationId xmlns:a16="http://schemas.microsoft.com/office/drawing/2014/main" id="{5B68C9E9-984E-4EB1-806A-9DC7209E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91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Rio de Janeiro</a:t>
            </a:r>
          </a:p>
        </p:txBody>
      </p:sp>
      <p:sp>
        <p:nvSpPr>
          <p:cNvPr id="29" name="text-248">
            <a:extLst xmlns:a="http://schemas.openxmlformats.org/drawingml/2006/main">
              <a:ext uri="{FF2B5EF4-FFF2-40B4-BE49-F238E27FC236}">
                <a16:creationId xmlns:a16="http://schemas.microsoft.com/office/drawing/2014/main" id="{420B5E7A-2246-4711-B4CD-346C08C2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829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0.6%</a:t>
            </a:r>
          </a:p>
        </p:txBody>
      </p:sp>
      <p:sp>
        <p:nvSpPr>
          <p:cNvPr id="30" name="text-249">
            <a:extLst xmlns:a="http://schemas.openxmlformats.org/drawingml/2006/main">
              <a:ext uri="{FF2B5EF4-FFF2-40B4-BE49-F238E27FC236}">
                <a16:creationId xmlns:a16="http://schemas.microsoft.com/office/drawing/2014/main" id="{A6DF7121-B424-4BB4-838A-A42407F2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Fonte: Instagram Insights · out/2026</a:t>
            </a:r>
          </a:p>
        </p:txBody>
      </p:sp>
    </p:spTree>
    <p:extLst>
      <p:ext uri="{BB962C8B-B14F-4D97-AF65-F5344CB8AC3E}">
        <p14:creationId xmlns:p14="http://schemas.microsoft.com/office/powerpoint/2010/main" val="10149533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50">
            <a:extLst xmlns:a="http://schemas.openxmlformats.org/drawingml/2006/main">
              <a:ext uri="{FF2B5EF4-FFF2-40B4-BE49-F238E27FC236}">
                <a16:creationId xmlns:a16="http://schemas.microsoft.com/office/drawing/2014/main" id="{6BFFA2E4-8034-4AB9-93CA-7FB2222B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51">
            <a:extLst xmlns:a="http://schemas.openxmlformats.org/drawingml/2006/main">
              <a:ext uri="{FF2B5EF4-FFF2-40B4-BE49-F238E27FC236}">
                <a16:creationId xmlns:a16="http://schemas.microsoft.com/office/drawing/2014/main" id="{216E2DE5-3314-419B-BC2B-628F2775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52">
            <a:extLst xmlns:a="http://schemas.openxmlformats.org/drawingml/2006/main">
              <a:ext uri="{FF2B5EF4-FFF2-40B4-BE49-F238E27FC236}">
                <a16:creationId xmlns:a16="http://schemas.microsoft.com/office/drawing/2014/main" id="{057D898D-CA7D-4716-A7FB-744FA96D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Trabalhe com a Giums</a:t>
            </a:r>
          </a:p>
        </p:txBody>
      </p:sp>
      <p:sp>
        <p:nvSpPr>
          <p:cNvPr id="4" name="text-253">
            <a:extLst xmlns:a="http://schemas.openxmlformats.org/drawingml/2006/main">
              <a:ext uri="{FF2B5EF4-FFF2-40B4-BE49-F238E27FC236}">
                <a16:creationId xmlns:a16="http://schemas.microsoft.com/office/drawing/2014/main" id="{9349083E-7731-4274-9B05-ACA25596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5" name="text-254">
            <a:extLst xmlns:a="http://schemas.openxmlformats.org/drawingml/2006/main">
              <a:ext uri="{FF2B5EF4-FFF2-40B4-BE49-F238E27FC236}">
                <a16:creationId xmlns:a16="http://schemas.microsoft.com/office/drawing/2014/main" id="{0B3F11BA-2373-42F2-AFE0-BE804EF5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Formatos</a:t>
            </a:r>
          </a:p>
        </p:txBody>
      </p:sp>
      <p:sp>
        <p:nvSpPr>
          <p:cNvPr id="6" name="text-255">
            <a:extLst xmlns:a="http://schemas.openxmlformats.org/drawingml/2006/main">
              <a:ext uri="{FF2B5EF4-FFF2-40B4-BE49-F238E27FC236}">
                <a16:creationId xmlns:a16="http://schemas.microsoft.com/office/drawing/2014/main" id="{BBD5BB6B-3439-452A-ADF5-ADEA3053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Stories (Instagram)</a:t>
            </a:r>
          </a:p>
        </p:txBody>
      </p:sp>
      <p:sp>
        <p:nvSpPr>
          <p:cNvPr id="7" name="text-256">
            <a:extLst xmlns:a="http://schemas.openxmlformats.org/drawingml/2006/main">
              <a:ext uri="{FF2B5EF4-FFF2-40B4-BE49-F238E27FC236}">
                <a16:creationId xmlns:a16="http://schemas.microsoft.com/office/drawing/2014/main" id="{F5A840E7-7356-4E3A-AE31-74D54B59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Reels (Instagram)</a:t>
            </a:r>
          </a:p>
        </p:txBody>
      </p:sp>
      <p:sp>
        <p:nvSpPr>
          <p:cNvPr id="8" name="text-257">
            <a:extLst xmlns:a="http://schemas.openxmlformats.org/drawingml/2006/main">
              <a:ext uri="{FF2B5EF4-FFF2-40B4-BE49-F238E27FC236}">
                <a16:creationId xmlns:a16="http://schemas.microsoft.com/office/drawing/2014/main" id="{D4E1C8EE-EFB7-46B7-B0D8-15004171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Carrossel (Instagram)</a:t>
            </a:r>
          </a:p>
        </p:txBody>
      </p:sp>
      <p:sp>
        <p:nvSpPr>
          <p:cNvPr id="9" name="text-258">
            <a:extLst xmlns:a="http://schemas.openxmlformats.org/drawingml/2006/main">
              <a:ext uri="{FF2B5EF4-FFF2-40B4-BE49-F238E27FC236}">
                <a16:creationId xmlns:a16="http://schemas.microsoft.com/office/drawing/2014/main" id="{3251C3C8-DBD8-490D-BFB4-75EDE722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Twitch ao vivo e VODs</a:t>
            </a:r>
          </a:p>
        </p:txBody>
      </p:sp>
      <p:sp>
        <p:nvSpPr>
          <p:cNvPr id="10" name="text-259">
            <a:extLst xmlns:a="http://schemas.openxmlformats.org/drawingml/2006/main">
              <a:ext uri="{FF2B5EF4-FFF2-40B4-BE49-F238E27FC236}">
                <a16:creationId xmlns:a16="http://schemas.microsoft.com/office/drawing/2014/main" id="{D5EF9A82-A1B1-4C98-B6B6-282726B2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 (vídeos de longa duração)</a:t>
            </a:r>
          </a:p>
        </p:txBody>
      </p:sp>
      <p:sp>
        <p:nvSpPr>
          <p:cNvPr id="11" name="text-260">
            <a:extLst xmlns:a="http://schemas.openxmlformats.org/drawingml/2006/main">
              <a:ext uri="{FF2B5EF4-FFF2-40B4-BE49-F238E27FC236}">
                <a16:creationId xmlns:a16="http://schemas.microsoft.com/office/drawing/2014/main" id="{55FFD5E1-1E42-4742-BC76-D0CD9B86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Campanhas ilustradas</a:t>
            </a:r>
          </a:p>
        </p:txBody>
      </p:sp>
      <p:sp>
        <p:nvSpPr>
          <p:cNvPr id="12" name="text-261">
            <a:extLst xmlns:a="http://schemas.openxmlformats.org/drawingml/2006/main">
              <a:ext uri="{FF2B5EF4-FFF2-40B4-BE49-F238E27FC236}">
                <a16:creationId xmlns:a16="http://schemas.microsoft.com/office/drawing/2014/main" id="{5A947A43-313F-4375-AC2B-C03D821F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336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Ilustrações de teste para produtos, tradicionais ou digitais.</a:t>
            </a:r>
          </a:p>
        </p:txBody>
      </p:sp>
      <p:sp>
        <p:nvSpPr>
          <p:cNvPr id="13" name="text-262">
            <a:extLst xmlns:a="http://schemas.openxmlformats.org/drawingml/2006/main">
              <a:ext uri="{FF2B5EF4-FFF2-40B4-BE49-F238E27FC236}">
                <a16:creationId xmlns:a16="http://schemas.microsoft.com/office/drawing/2014/main" id="{B0D1140B-7F77-4213-B88B-D4DB50BD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813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Resenhas &amp; sorteios</a:t>
            </a:r>
          </a:p>
        </p:txBody>
      </p:sp>
      <p:sp>
        <p:nvSpPr>
          <p:cNvPr id="14" name="text-263">
            <a:extLst xmlns:a="http://schemas.openxmlformats.org/drawingml/2006/main">
              <a:ext uri="{FF2B5EF4-FFF2-40B4-BE49-F238E27FC236}">
                <a16:creationId xmlns:a16="http://schemas.microsoft.com/office/drawing/2014/main" id="{F94C5ECF-E1F5-4A2F-A03B-1A93E0B7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052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Resenha de produto e sorteio para a comunidade, como na parceria com a XP-Pen.</a:t>
            </a:r>
          </a:p>
        </p:txBody>
      </p:sp>
      <p:sp>
        <p:nvSpPr>
          <p:cNvPr id="15" name="text-264">
            <a:extLst xmlns:a="http://schemas.openxmlformats.org/drawingml/2006/main">
              <a:ext uri="{FF2B5EF4-FFF2-40B4-BE49-F238E27FC236}">
                <a16:creationId xmlns:a16="http://schemas.microsoft.com/office/drawing/2014/main" id="{BB0D2E7C-ADDC-4AFE-9E07-C48C4675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529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Conteúdo de processo</a:t>
            </a:r>
          </a:p>
        </p:txBody>
      </p:sp>
      <p:sp>
        <p:nvSpPr>
          <p:cNvPr id="16" name="text-265">
            <a:extLst xmlns:a="http://schemas.openxmlformats.org/drawingml/2006/main">
              <a:ext uri="{FF2B5EF4-FFF2-40B4-BE49-F238E27FC236}">
                <a16:creationId xmlns:a16="http://schemas.microsoft.com/office/drawing/2014/main" id="{2E7EFAE7-9650-4D92-9586-D0E215A6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Sketches, timelapses e making-of para Instagram e YouTube.</a:t>
            </a:r>
          </a:p>
        </p:txBody>
      </p:sp>
    </p:spTree>
    <p:extLst>
      <p:ext uri="{BB962C8B-B14F-4D97-AF65-F5344CB8AC3E}">
        <p14:creationId xmlns:p14="http://schemas.microsoft.com/office/powerpoint/2010/main" val="12793890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266">
            <a:extLst xmlns:a="http://schemas.openxmlformats.org/drawingml/2006/main">
              <a:ext uri="{FF2B5EF4-FFF2-40B4-BE49-F238E27FC236}">
                <a16:creationId xmlns:a16="http://schemas.microsoft.com/office/drawing/2014/main" id="{3D0A3DD5-77E0-4304-8AFE-39A8B0FC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67">
            <a:extLst xmlns:a="http://schemas.openxmlformats.org/drawingml/2006/main">
              <a:ext uri="{FF2B5EF4-FFF2-40B4-BE49-F238E27FC236}">
                <a16:creationId xmlns:a16="http://schemas.microsoft.com/office/drawing/2014/main" id="{1574211E-5DAB-4310-90AA-EEEB28F9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68">
            <a:extLst xmlns:a="http://schemas.openxmlformats.org/drawingml/2006/main">
              <a:ext uri="{FF2B5EF4-FFF2-40B4-BE49-F238E27FC236}">
                <a16:creationId xmlns:a16="http://schemas.microsoft.com/office/drawing/2014/main" id="{71A95D1C-557A-4DC9-A88E-F0689C25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XP-Pen · resenha da Deco 03 e sorteio</a:t>
            </a:r>
          </a:p>
        </p:txBody>
      </p:sp>
      <p:sp>
        <p:nvSpPr>
          <p:cNvPr id="4" name="text-269">
            <a:extLst xmlns:a="http://schemas.openxmlformats.org/drawingml/2006/main">
              <a:ext uri="{FF2B5EF4-FFF2-40B4-BE49-F238E27FC236}">
                <a16:creationId xmlns:a16="http://schemas.microsoft.com/office/drawing/2014/main" id="{4E3CB057-0045-42F2-981F-23A9E4E5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5" name="text-270">
            <a:extLst xmlns:a="http://schemas.openxmlformats.org/drawingml/2006/main">
              <a:ext uri="{FF2B5EF4-FFF2-40B4-BE49-F238E27FC236}">
                <a16:creationId xmlns:a16="http://schemas.microsoft.com/office/drawing/2014/main" id="{805BA14A-8EC3-454B-803E-8D0B806E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Junho – julho de 2021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25E62-948A-4AAD-B1D6-A5A6765481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8200189154e1f"/>
          <a:stretch xmlns:a="http://schemas.openxmlformats.org/drawingml/2006/main"/>
        </p:blipFill>
        <p:spPr>
          <a:xfrm xmlns:a="http://schemas.openxmlformats.org/drawingml/2006/main">
            <a:off x="609600" y="2116998"/>
            <a:ext cx="4819650" cy="3243129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D6DC6-82A6-478C-BEFE-D45FC96D76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6207a0e8347f9"/>
          <a:stretch xmlns:a="http://schemas.openxmlformats.org/drawingml/2006/main"/>
        </p:blipFill>
        <p:spPr>
          <a:xfrm xmlns:a="http://schemas.openxmlformats.org/drawingml/2006/main">
            <a:off x="3746183" y="4657725"/>
            <a:ext cx="1680210" cy="1200150"/>
          </a:xfrm>
          <a:prstGeom xmlns:a="http://schemas.openxmlformats.org/drawingml/2006/main" prst="rect">
            <a:avLst/>
          </a:prstGeom>
        </p:spPr>
      </p:pic>
      <p:sp>
        <p:nvSpPr>
          <p:cNvPr id="8" name="text-271">
            <a:extLst xmlns:a="http://schemas.openxmlformats.org/drawingml/2006/main">
              <a:ext uri="{FF2B5EF4-FFF2-40B4-BE49-F238E27FC236}">
                <a16:creationId xmlns:a16="http://schemas.microsoft.com/office/drawing/2014/main" id="{35C4BAD0-6259-4581-B14E-DF06AA90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Frame do vídeo no YouTube</a:t>
            </a:r>
          </a:p>
        </p:txBody>
      </p:sp>
      <p:sp>
        <p:nvSpPr>
          <p:cNvPr id="9" name="text-272">
            <a:extLst xmlns:a="http://schemas.openxmlformats.org/drawingml/2006/main">
              <a:ext uri="{FF2B5EF4-FFF2-40B4-BE49-F238E27FC236}">
                <a16:creationId xmlns:a16="http://schemas.microsoft.com/office/drawing/2014/main" id="{11074733-7A59-44ED-89C5-4D6E40EF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097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Testadora de produto, resenhista e criadora de conteúdo. A XP-Pen Brasil enviou o tablet e ela mandou suas considerações à marca.</a:t>
            </a:r>
          </a:p>
        </p:txBody>
      </p:sp>
      <p:sp>
        <p:nvSpPr>
          <p:cNvPr id="10" name="text-273">
            <a:extLst xmlns:a="http://schemas.openxmlformats.org/drawingml/2006/main">
              <a:ext uri="{FF2B5EF4-FFF2-40B4-BE49-F238E27FC236}">
                <a16:creationId xmlns:a16="http://schemas.microsoft.com/office/drawing/2014/main" id="{47639D25-D887-4313-AE95-432D9174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Entregas</a:t>
            </a:r>
          </a:p>
        </p:txBody>
      </p:sp>
      <p:sp>
        <p:nvSpPr>
          <p:cNvPr id="11" name="text-274">
            <a:extLst xmlns:a="http://schemas.openxmlformats.org/drawingml/2006/main">
              <a:ext uri="{FF2B5EF4-FFF2-40B4-BE49-F238E27FC236}">
                <a16:creationId xmlns:a16="http://schemas.microsoft.com/office/drawing/2014/main" id="{A5C78ADD-213B-4234-8008-F2902E4B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Reel no Instagram anunciando a resenha e o sorteio; vídeo no YouTube (9:53) com a resenha da XP-Pen Deco 03 e um sketch de fanart da Yone; sorteio do tablet com artes exclusivas; cupom de desconto para a audiência.</a:t>
            </a:r>
          </a:p>
        </p:txBody>
      </p:sp>
      <p:sp>
        <p:nvSpPr>
          <p:cNvPr id="12" name="text-275">
            <a:extLst xmlns:a="http://schemas.openxmlformats.org/drawingml/2006/main">
              <a:ext uri="{FF2B5EF4-FFF2-40B4-BE49-F238E27FC236}">
                <a16:creationId xmlns:a16="http://schemas.microsoft.com/office/drawing/2014/main" id="{F5F89834-AD12-4E1C-ABDF-33895DCB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Resultados</a:t>
            </a:r>
          </a:p>
        </p:txBody>
      </p:sp>
      <p:sp>
        <p:nvSpPr>
          <p:cNvPr id="13" name="text-276">
            <a:extLst xmlns:a="http://schemas.openxmlformats.org/drawingml/2006/main">
              <a:ext uri="{FF2B5EF4-FFF2-40B4-BE49-F238E27FC236}">
                <a16:creationId xmlns:a16="http://schemas.microsoft.com/office/drawing/2014/main" id="{EA256EF9-2BA5-45DB-80CE-58C54A3D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24475"/>
            <a:ext cx="552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YouTube: 3,2 mil visualizações, 161 curtidas. Reel no Instagram: 221 curtidas, 10 comentários (out/2026).</a:t>
            </a:r>
          </a:p>
        </p:txBody>
      </p:sp>
      <p:sp>
        <p:nvSpPr>
          <p:cNvPr id="14" name="text-277">
            <a:extLst xmlns:a="http://schemas.openxmlformats.org/drawingml/2006/main">
              <a:ext uri="{FF2B5EF4-FFF2-40B4-BE49-F238E27FC236}">
                <a16:creationId xmlns:a16="http://schemas.microsoft.com/office/drawing/2014/main" id="{BB04B0D3-E7D0-40F9-9FD3-4AB3BAAF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ce8702edc9cb4cf5"/>
              </a:rPr>
              <a:t>YouTube</a:t>
            </a:r>
          </a:p>
        </p:txBody>
      </p:sp>
      <p:sp>
        <p:nvSpPr>
          <p:cNvPr id="15" name="text-278">
            <a:extLst xmlns:a="http://schemas.openxmlformats.org/drawingml/2006/main">
              <a:ext uri="{FF2B5EF4-FFF2-40B4-BE49-F238E27FC236}">
                <a16:creationId xmlns:a16="http://schemas.microsoft.com/office/drawing/2014/main" id="{D123B3D7-3C79-4E23-812F-C11756BB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854576bf9d0b48c3"/>
              </a:rPr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15934231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79">
            <a:extLst xmlns:a="http://schemas.openxmlformats.org/drawingml/2006/main">
              <a:ext uri="{FF2B5EF4-FFF2-40B4-BE49-F238E27FC236}">
                <a16:creationId xmlns:a16="http://schemas.microsoft.com/office/drawing/2014/main" id="{AC55240C-CE66-4432-A074-9BF36119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80">
            <a:extLst xmlns:a="http://schemas.openxmlformats.org/drawingml/2006/main">
              <a:ext uri="{FF2B5EF4-FFF2-40B4-BE49-F238E27FC236}">
                <a16:creationId xmlns:a16="http://schemas.microsoft.com/office/drawing/2014/main" id="{2F010400-A016-4C24-AC2A-AF76AF97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81">
            <a:extLst xmlns:a="http://schemas.openxmlformats.org/drawingml/2006/main">
              <a:ext uri="{FF2B5EF4-FFF2-40B4-BE49-F238E27FC236}">
                <a16:creationId xmlns:a16="http://schemas.microsoft.com/office/drawing/2014/main" id="{8429D50D-D2E1-46DE-991B-D9649F48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Contato</a:t>
            </a:r>
          </a:p>
        </p:txBody>
      </p:sp>
      <p:sp>
        <p:nvSpPr>
          <p:cNvPr id="4" name="text-282">
            <a:extLst xmlns:a="http://schemas.openxmlformats.org/drawingml/2006/main">
              <a:ext uri="{FF2B5EF4-FFF2-40B4-BE49-F238E27FC236}">
                <a16:creationId xmlns:a16="http://schemas.microsoft.com/office/drawing/2014/main" id="{83CA72E9-4976-45C3-B931-A962796C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5" name="text-283">
            <a:extLst xmlns:a="http://schemas.openxmlformats.org/drawingml/2006/main">
              <a:ext uri="{FF2B5EF4-FFF2-40B4-BE49-F238E27FC236}">
                <a16:creationId xmlns:a16="http://schemas.microsoft.com/office/drawing/2014/main" id="{5B1BE7E0-6B24-4712-A67B-06C112A6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Como começar</a:t>
            </a:r>
          </a:p>
        </p:txBody>
      </p:sp>
      <p:sp>
        <p:nvSpPr>
          <p:cNvPr id="6" name="text-284">
            <a:extLst xmlns:a="http://schemas.openxmlformats.org/drawingml/2006/main">
              <a:ext uri="{FF2B5EF4-FFF2-40B4-BE49-F238E27FC236}">
                <a16:creationId xmlns:a16="http://schemas.microsoft.com/office/drawing/2014/main" id="{4350DE42-62AA-4CBA-BE83-E37CAD73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286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Envie um briefing com objetivo, entregas, prazo e orçamento para o e-mail abaixo.</a:t>
            </a:r>
          </a:p>
        </p:txBody>
      </p:sp>
      <p:sp>
        <p:nvSpPr>
          <p:cNvPr id="7" name="text-285">
            <a:extLst xmlns:a="http://schemas.openxmlformats.org/drawingml/2006/main">
              <a:ext uri="{FF2B5EF4-FFF2-40B4-BE49-F238E27FC236}">
                <a16:creationId xmlns:a16="http://schemas.microsoft.com/office/drawing/2014/main" id="{86E038FC-E634-4D22-9A65-A48BCF11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70b6bf5751774610"/>
              </a:rPr>
              <a:t>giumsart@gmail.com</a:t>
            </a:r>
          </a:p>
        </p:txBody>
      </p:sp>
      <p:sp>
        <p:nvSpPr>
          <p:cNvPr id="8" name="text-286">
            <a:extLst xmlns:a="http://schemas.openxmlformats.org/drawingml/2006/main">
              <a:ext uri="{FF2B5EF4-FFF2-40B4-BE49-F238E27FC236}">
                <a16:creationId xmlns:a16="http://schemas.microsoft.com/office/drawing/2014/main" id="{F2F6DE63-E814-4D53-BB87-558E9657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172f494adee44596"/>
              </a:rPr>
              <a:t>giums.onrender.com</a:t>
            </a:r>
          </a:p>
        </p:txBody>
      </p:sp>
      <p:sp>
        <p:nvSpPr>
          <p:cNvPr id="9" name="text-287">
            <a:extLst xmlns:a="http://schemas.openxmlformats.org/drawingml/2006/main">
              <a:ext uri="{FF2B5EF4-FFF2-40B4-BE49-F238E27FC236}">
                <a16:creationId xmlns:a16="http://schemas.microsoft.com/office/drawing/2014/main" id="{ABA9D47D-A0C5-496D-B11B-5110B6AA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214cb6d31a9a4f92"/>
              </a:rPr>
              <a:t>@giums</a:t>
            </a:r>
          </a:p>
        </p:txBody>
      </p:sp>
      <p:sp>
        <p:nvSpPr>
          <p:cNvPr id="10" name="text-288">
            <a:extLst xmlns:a="http://schemas.openxmlformats.org/drawingml/2006/main">
              <a:ext uri="{FF2B5EF4-FFF2-40B4-BE49-F238E27FC236}">
                <a16:creationId xmlns:a16="http://schemas.microsoft.com/office/drawing/2014/main" id="{6745C46A-EB34-44B6-8797-876D963F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7e56ee0e7cf54640"/>
              </a:rPr>
              <a:t>@giums.bsky.social</a:t>
            </a:r>
          </a:p>
        </p:txBody>
      </p:sp>
      <p:sp>
        <p:nvSpPr>
          <p:cNvPr id="11" name="text-289">
            <a:extLst xmlns:a="http://schemas.openxmlformats.org/drawingml/2006/main">
              <a:ext uri="{FF2B5EF4-FFF2-40B4-BE49-F238E27FC236}">
                <a16:creationId xmlns:a16="http://schemas.microsoft.com/office/drawing/2014/main" id="{C12C8E54-52FD-4C24-BEE5-FA8CDCE7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e6d9143730b34d24"/>
              </a:rPr>
              <a:t>@GIUMSyt</a:t>
            </a:r>
          </a:p>
        </p:txBody>
      </p:sp>
      <p:sp>
        <p:nvSpPr>
          <p:cNvPr id="12" name="text-290">
            <a:extLst xmlns:a="http://schemas.openxmlformats.org/drawingml/2006/main">
              <a:ext uri="{FF2B5EF4-FFF2-40B4-BE49-F238E27FC236}">
                <a16:creationId xmlns:a16="http://schemas.microsoft.com/office/drawing/2014/main" id="{B5B185D8-A34B-4579-9CBB-8B0E365C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1da840bbfef24ee3"/>
              </a:rPr>
              <a:t>twitch.tv/giums</a:t>
            </a:r>
          </a:p>
        </p:txBody>
      </p:sp>
      <p:sp>
        <p:nvSpPr>
          <p:cNvPr id="13" name="text-291">
            <a:extLst xmlns:a="http://schemas.openxmlformats.org/drawingml/2006/main">
              <a:ext uri="{FF2B5EF4-FFF2-40B4-BE49-F238E27FC236}">
                <a16:creationId xmlns:a16="http://schemas.microsoft.com/office/drawing/2014/main" id="{E94DC996-1DB4-47E8-8853-27CC09EC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1353f15dc1bf4dc3"/>
              </a:rPr>
              <a:t>patreon.com/giums</a:t>
            </a:r>
          </a:p>
        </p:txBody>
      </p:sp>
      <p:sp>
        <p:nvSpPr>
          <p:cNvPr id="14" name="text-292">
            <a:extLst xmlns:a="http://schemas.openxmlformats.org/drawingml/2006/main">
              <a:ext uri="{FF2B5EF4-FFF2-40B4-BE49-F238E27FC236}">
                <a16:creationId xmlns:a16="http://schemas.microsoft.com/office/drawing/2014/main" id="{A42922F2-765D-4C1B-A177-608BB3E6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52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Direitos de uso</a:t>
            </a:r>
          </a:p>
        </p:txBody>
      </p:sp>
      <p:sp>
        <p:nvSpPr>
          <p:cNvPr id="15" name="text-293">
            <a:extLst xmlns:a="http://schemas.openxmlformats.org/drawingml/2006/main">
              <a:ext uri="{FF2B5EF4-FFF2-40B4-BE49-F238E27FC236}">
                <a16:creationId xmlns:a16="http://schemas.microsoft.com/office/drawing/2014/main" id="{29E3FE9B-8627-4FA5-B094-C6551AF0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95550"/>
            <a:ext cx="342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Uso comercial e reupload exigem permissão da artista; os termos são combinados por projeto.</a:t>
            </a:r>
          </a:p>
        </p:txBody>
      </p:sp>
      <p:sp>
        <p:nvSpPr>
          <p:cNvPr id="16" name="text-294">
            <a:extLst xmlns:a="http://schemas.openxmlformats.org/drawingml/2006/main">
              <a:ext uri="{FF2B5EF4-FFF2-40B4-BE49-F238E27FC236}">
                <a16:creationId xmlns:a16="http://schemas.microsoft.com/office/drawing/2014/main" id="{6A1EB08F-555F-413A-A619-43A52AC5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35292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Usar a arte — inclusive em OCs parecidos — não é permitido.</a:t>
            </a:r>
          </a:p>
        </p:txBody>
      </p:sp>
    </p:spTree>
    <p:extLst>
      <p:ext uri="{BB962C8B-B14F-4D97-AF65-F5344CB8AC3E}">
        <p14:creationId xmlns:p14="http://schemas.microsoft.com/office/powerpoint/2010/main" val="2550060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2026-10-16T23:01:50.6020000Z</dcterms:created>
  <dcterms:modified xsi:type="dcterms:W3CDTF">2026-10-16T23:01:50.6020000Z</dcterms:modified>
</coreProperties>
</file>